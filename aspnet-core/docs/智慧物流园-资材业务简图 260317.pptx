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9a3697fa1d8f473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1726327158" r:id="rId3"/>
    <p:sldId id="1726327164" r:id="rId4"/>
    <p:sldId id="1726327153" r:id="rId5"/>
    <p:sldId id="1726327156" r:id="rId6"/>
    <p:sldId id="1726327157" r:id="rId7"/>
    <p:sldId id="1726327167" r:id="rId8"/>
    <p:sldId id="1726327155" r:id="rId9"/>
    <p:sldId id="1726327138" r:id="rId10"/>
    <p:sldId id="1726327165" r:id="rId11"/>
    <p:sldId id="267" r:id="rId12"/>
    <p:sldId id="1726327168" r:id="rId13"/>
    <p:sldId id="16141184" r:id="rId14"/>
    <p:sldId id="16141187" r:id="rId15"/>
    <p:sldId id="2033" r:id="rId16"/>
    <p:sldId id="16141190" r:id="rId17"/>
    <p:sldId id="16141191" r:id="rId18"/>
    <p:sldId id="16141192" r:id="rId19"/>
    <p:sldId id="2038" r:id="rId20"/>
    <p:sldId id="1726327172" r:id="rId21"/>
    <p:sldId id="1726327173" r:id="rId22"/>
    <p:sldId id="1726327174" r:id="rId23"/>
    <p:sldId id="2042" r:id="rId24"/>
    <p:sldId id="16141193" r:id="rId25"/>
    <p:sldId id="1726327169" r:id="rId26"/>
    <p:sldId id="1726327170" r:id="rId27"/>
    <p:sldId id="1726327171" r:id="rId28"/>
    <p:sldId id="16141195" r:id="rId29"/>
    <p:sldId id="3755" r:id="rId30"/>
    <p:sldId id="1726327176" r:id="rId31"/>
    <p:sldId id="16141185" r:id="rId32"/>
    <p:sldId id="1614118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1538B-D9DF-485A-949E-187ADC90FA7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FD0C1-48B2-409D-9797-C534F944DD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52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2FA4-03F0-7C85-3484-043A2426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5899A-648F-308B-96B1-83E4D4A2F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29CDF-6377-C46D-04C4-66A9A5B7D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A12DC-043C-EBF0-B9E5-70D15611B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7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EB36C-9152-23FC-01CE-444B822B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413BC-BA15-2D89-5AAF-0E1717D37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AD6AA-D643-49B7-E3B3-92ED760CA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9D870-C782-6053-1A75-46EC18635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5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E429-4C1B-FE5B-E825-86DE4CAF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4989B-6BBD-FCB4-B65C-D5381F1B3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07D25-866E-372E-31A0-56C77A6EE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FDCA9-AC72-11A3-94F8-1E7A682B2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42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2331-3875-7F37-2CB8-19C776ED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3F5E4-C315-196A-B205-7DFD3B8F6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8ACCA-511A-5242-B704-53387D105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66F58-6C6C-DB1D-C092-97A1E600A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5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A700-3B62-5464-1D35-7B952125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1BD4F-05B2-6FF9-70D9-6D625F2CD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5C1F3-3B33-A5A8-BFF0-031BCEF46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34BE9-CB52-C1BE-CDAC-252DF82E6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99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A3CA-F0EE-6553-CD53-A63FCD37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EAD08-2262-7429-A097-4348CB7E7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DE47B-A561-6885-678D-D167115D8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E34F-A648-14CF-ABCE-D482A20EA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96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5277-7780-5802-AFA5-456FB5FD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E22B6-4209-C117-6DC8-E78B6F6E2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45199-2BA7-C304-2751-C0CFCA7BA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59A6E-9E5F-C9C8-475C-1F206D0A0D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0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3CCD-BA02-C6A5-A327-231108CE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A8C57-6BC1-D1CB-74D9-AD0876E4C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DB596-AF77-8625-5D59-1C9ED568E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8671-FE21-E63E-6A1E-2948D88D9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50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7E8A-9D6A-64EF-2BBF-F6ABA21B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B5911-80DE-0556-7A1B-40399B5DF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63E0-CE73-37B8-B469-416814A95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B8AE1-F342-8A57-9621-6F56B3523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57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E6437-6CB7-4256-81CB-1C34D8D97E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13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BB89-7C7E-CB76-ABA0-803E83DF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96FE-1CED-EBD1-BA06-9CFD9370C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88B8-7B24-3527-DC6D-B6CB7539E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A566-184C-51F3-0181-F71346ED2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4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BB19-A1DC-079E-49E3-1C833E3B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FAE9B-3761-EA30-FDBD-93BA76AB1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3D8E8-D33E-70B5-31A5-3DA443AF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5E0E8-5602-EFA6-E88F-FCD13C81D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58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3B25-A09D-D7F7-5659-B9225BFD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EC55A-3216-8CCE-4113-8556C3366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8D7DB-7564-83ED-1770-E169DD803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DAF13-28AA-8EB4-01BF-A579C4544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18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F5A7-F22C-3A04-99F6-1236ED6D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9CC1A-2502-B160-EF97-500E65019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34AAB-4B01-4E50-82D5-04D818F5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84588-549A-2128-599E-EE8CE0A43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4C0BF-94F4-14E1-953C-1889C9B9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C5DCE-4FE7-D757-2558-F5571727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88D8C-3969-DC19-CF90-A26E1C7AC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E53A0-5792-3B26-3040-4265CE9064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54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92EF-4067-2509-53EF-CDED31EC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DE853-924B-6F91-E093-A405A14D2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38C0A-8C4F-008C-DCF1-25CC72E6A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4ECE9-4145-DF6B-DEFE-9D63377EE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5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EB980-C943-5C0C-569B-8BAB5C641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FB8DF8-DA75-A61B-2A62-5504DE151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9BBF5-78B4-D70B-D50C-6AF0A608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4051A-6E82-C0F6-79EF-6A1DA667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42EC8-3460-8437-3353-29870292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87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7F2E6-3DFE-1BBD-22A3-C02783A6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4B399-3552-20F3-ABB5-4F945118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96FC6-D40C-65AE-2D2F-FC99562A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7F2CE5-A58B-FD8D-A5E8-AD2DD4B5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9C2AD-4CA3-8215-0FEA-54312F5C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05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64FE2-3A29-439D-1048-6B7AD22B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340C46-4D0B-D15E-1F75-6282D0B00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0CB94-3BA3-7C77-9793-2283D48E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9777B-102C-0F4E-6181-D07C2193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79A2A-59E8-9F92-EE85-4E3047B3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4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F5F84-E8F6-7409-4B54-AA9D4119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1091A-2E8F-4A2B-B76E-F36120E16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8EFF0D-2309-DBB6-556F-E185135F1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53E20-E351-1B22-0586-96130F78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9C248D-109D-81D9-6F30-DBE1A962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1B972-113D-9974-0D9C-C7AED68D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77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F4BC7-E90C-F766-6535-CCAFBE02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EA8A79-1683-F321-9B2E-BCCEE72C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5ED6D5-C328-9757-CA67-8D9A6D353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F896F6-BDCC-3AEE-B760-5E13B062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0A37C8-E427-9923-BD3A-C11D3AFB0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E2D69B-4021-D18B-4D0C-8A7179C5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BEFC3D-4203-A8D2-8492-A950F41E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5FCE2B-4C17-4F65-590E-E45A9C4E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28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07131-4C2D-0762-678F-F128CC45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E57145-51A7-3CBA-884A-F365C74B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D455B6-23C1-E5D3-34FF-DC778106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C7A355-BABC-3D66-6DC3-CD39D75F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FA22A0-EB46-FE38-A45C-1033DFF8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BC2EC7-5C12-2D2F-864E-23F6D354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A519B-51D9-7484-2B5C-7C988238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4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1BAD8-F721-3601-D638-A1BE124A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37A73-8B30-5941-16DD-38465AA0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5BD6D4-1BD0-5A55-976C-B125CD150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F89E0-73FC-8999-BE00-C8C69A54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76469-3508-1646-B6CA-930EEF94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C81FA-5E27-1D93-D662-C07C695F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8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3BB91-E00E-A3ED-DB1E-15E61F48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7E9B41-C7AA-2F2F-CEFC-8BA9B829B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3A123-46DF-F118-0DE0-7096A0E6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B92889-A323-141B-EDF5-77D05564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5BB50-0A1F-5D79-28F3-F116674A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2C0281-3268-8E89-BDBB-72950ADB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63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62353-3D1D-06E8-7CC4-A475BFC6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567DBF-15F2-E776-3041-957B91079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986BBD-1929-5A41-B8C2-99480465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700DF-625A-281F-F0A9-50F886C1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5C22B-1B26-47BC-4FA7-A08F431B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92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003EBC-FA4A-D5FE-6838-873D26E28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4A8BB5-EE80-FEC6-03EF-4111612CE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71150-99F2-1A27-9BA4-599E9D83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EA9BA-40B0-8150-EFD1-454F52F0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D6206-4A73-25A6-3883-16BFBBFD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349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4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CBBA2F-C67A-9C13-E4E7-D4EF32A5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DE890D-39BC-EE57-27DB-AD79DC4D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97B23A-8606-507C-80A2-441BF0DA9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3DB97-144B-41C5-B2FC-50290EE5EB3D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894FD-597A-6B55-0245-017C27CA3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59C5A-81AA-921A-C6BD-BED65F5DA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3CDCC-B02D-4680-B62E-2041E900E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3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2340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050" y="4334512"/>
            <a:ext cx="2476500" cy="889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049" y="5325112"/>
            <a:ext cx="241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4E51D0-8112-1AC6-7783-D0709BF73C85}"/>
              </a:ext>
            </a:extLst>
          </p:cNvPr>
          <p:cNvSpPr/>
          <p:nvPr/>
        </p:nvSpPr>
        <p:spPr>
          <a:xfrm>
            <a:off x="3941135" y="679499"/>
            <a:ext cx="7045843" cy="704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一、智慧物流园覆盖业务与功能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C98685-5CDD-4338-0854-242DAE499863}"/>
              </a:ext>
            </a:extLst>
          </p:cNvPr>
          <p:cNvSpPr/>
          <p:nvPr/>
        </p:nvSpPr>
        <p:spPr>
          <a:xfrm>
            <a:off x="3941135" y="1350263"/>
            <a:ext cx="7045843" cy="704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二、智慧物流园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资材业务与功能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9E88B7-EEB8-69EE-FB4E-E78065ABD8C6}"/>
              </a:ext>
            </a:extLst>
          </p:cNvPr>
          <p:cNvSpPr/>
          <p:nvPr/>
        </p:nvSpPr>
        <p:spPr>
          <a:xfrm>
            <a:off x="3941135" y="5379975"/>
            <a:ext cx="7045843" cy="704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三、智慧物流园资材业务进度规划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614186F-FFB8-BA83-CA23-CBE456104C79}"/>
              </a:ext>
            </a:extLst>
          </p:cNvPr>
          <p:cNvSpPr/>
          <p:nvPr/>
        </p:nvSpPr>
        <p:spPr>
          <a:xfrm>
            <a:off x="5005915" y="2055114"/>
            <a:ext cx="6480000" cy="32699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厂内缴库业务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无人值守场景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智能柜运用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让售、固危废、委外加工物资发货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协同外部联动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1260-7211-891C-D878-68E97C9B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4E3A258-45AB-E605-ABDF-74382AF8C2A7}"/>
              </a:ext>
            </a:extLst>
          </p:cNvPr>
          <p:cNvSpPr/>
          <p:nvPr/>
        </p:nvSpPr>
        <p:spPr>
          <a:xfrm>
            <a:off x="1017381" y="2202947"/>
            <a:ext cx="10157237" cy="1380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一、智慧物流园覆盖业务与功能</a:t>
            </a:r>
          </a:p>
        </p:txBody>
      </p:sp>
    </p:spTree>
    <p:extLst>
      <p:ext uri="{BB962C8B-B14F-4D97-AF65-F5344CB8AC3E}">
        <p14:creationId xmlns:p14="http://schemas.microsoft.com/office/powerpoint/2010/main" val="95632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17B6B-AB86-58D9-7BFE-BAC06B5D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0F0A1EF-598F-3613-E9D5-CE2562FFBE92}"/>
              </a:ext>
            </a:extLst>
          </p:cNvPr>
          <p:cNvSpPr/>
          <p:nvPr/>
        </p:nvSpPr>
        <p:spPr>
          <a:xfrm>
            <a:off x="0" y="14841"/>
            <a:ext cx="6748131" cy="967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2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黑灯工厂下的智慧物流园</a:t>
            </a:r>
          </a:p>
        </p:txBody>
      </p:sp>
      <p:sp>
        <p:nvSpPr>
          <p:cNvPr id="3" name="梯形 2">
            <a:extLst>
              <a:ext uri="{FF2B5EF4-FFF2-40B4-BE49-F238E27FC236}">
                <a16:creationId xmlns:a16="http://schemas.microsoft.com/office/drawing/2014/main" id="{03599FB9-DED9-0F2D-86C1-75F507FA25D9}"/>
              </a:ext>
            </a:extLst>
          </p:cNvPr>
          <p:cNvSpPr/>
          <p:nvPr/>
        </p:nvSpPr>
        <p:spPr>
          <a:xfrm>
            <a:off x="2004843" y="5317332"/>
            <a:ext cx="9600000" cy="14400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智慧物流园基座</a:t>
            </a:r>
          </a:p>
        </p:txBody>
      </p:sp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5D1B2856-3919-CEA7-A16C-FA3544967CC1}"/>
              </a:ext>
            </a:extLst>
          </p:cNvPr>
          <p:cNvSpPr/>
          <p:nvPr/>
        </p:nvSpPr>
        <p:spPr>
          <a:xfrm>
            <a:off x="2523464" y="3825961"/>
            <a:ext cx="4080000" cy="14400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智能中心</a:t>
            </a:r>
          </a:p>
        </p:txBody>
      </p:sp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68C4BB4C-D858-C338-3D43-5909F3140A32}"/>
              </a:ext>
            </a:extLst>
          </p:cNvPr>
          <p:cNvSpPr/>
          <p:nvPr/>
        </p:nvSpPr>
        <p:spPr>
          <a:xfrm>
            <a:off x="7017480" y="3818155"/>
            <a:ext cx="4080000" cy="14400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自动化联动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312ED70-E35A-0892-0E7C-57DF8745AABD}"/>
              </a:ext>
            </a:extLst>
          </p:cNvPr>
          <p:cNvSpPr/>
          <p:nvPr/>
        </p:nvSpPr>
        <p:spPr>
          <a:xfrm>
            <a:off x="2523464" y="2312633"/>
            <a:ext cx="8640000" cy="14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高效作业运营</a:t>
            </a:r>
            <a:endParaRPr lang="en-US" altLang="zh-CN" sz="373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智能计划、智能调度、智能监控</a:t>
            </a:r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3E936DDD-2432-C1E5-12C8-8A15DC920069}"/>
              </a:ext>
            </a:extLst>
          </p:cNvPr>
          <p:cNvSpPr/>
          <p:nvPr/>
        </p:nvSpPr>
        <p:spPr>
          <a:xfrm>
            <a:off x="1502712" y="903884"/>
            <a:ext cx="10656000" cy="12960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黑灯物流园</a:t>
            </a:r>
          </a:p>
        </p:txBody>
      </p:sp>
    </p:spTree>
    <p:extLst>
      <p:ext uri="{BB962C8B-B14F-4D97-AF65-F5344CB8AC3E}">
        <p14:creationId xmlns:p14="http://schemas.microsoft.com/office/powerpoint/2010/main" val="256450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93D3-5878-E418-0242-0C74E736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A50659B-7D15-2A2B-2BA8-BA3F8F0D9E79}"/>
              </a:ext>
            </a:extLst>
          </p:cNvPr>
          <p:cNvSpPr/>
          <p:nvPr/>
        </p:nvSpPr>
        <p:spPr>
          <a:xfrm>
            <a:off x="270346" y="118623"/>
            <a:ext cx="11651309" cy="1380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业务闭环设计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20E5CB4-89AE-78B2-97B7-1991F8043646}"/>
              </a:ext>
            </a:extLst>
          </p:cNvPr>
          <p:cNvSpPr/>
          <p:nvPr/>
        </p:nvSpPr>
        <p:spPr>
          <a:xfrm>
            <a:off x="7077321" y="1658112"/>
            <a:ext cx="4368000" cy="168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规划仓储</a:t>
            </a:r>
            <a:endParaRPr lang="en-US" altLang="zh-CN" sz="42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2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C16FF3B-8E28-7E2D-685F-225B3EA9AA84}"/>
              </a:ext>
            </a:extLst>
          </p:cNvPr>
          <p:cNvSpPr/>
          <p:nvPr/>
        </p:nvSpPr>
        <p:spPr>
          <a:xfrm>
            <a:off x="764032" y="1658112"/>
            <a:ext cx="4368000" cy="168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触发仓储需求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76BA71C-E849-7624-8AEC-5A75062510FE}"/>
              </a:ext>
            </a:extLst>
          </p:cNvPr>
          <p:cNvSpPr/>
          <p:nvPr/>
        </p:nvSpPr>
        <p:spPr>
          <a:xfrm>
            <a:off x="7077321" y="4848868"/>
            <a:ext cx="4368000" cy="168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执行仓储任务</a:t>
            </a:r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&amp;5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大管理功能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C227976-E5DF-FA83-CEC1-A7F70F375BFF}"/>
              </a:ext>
            </a:extLst>
          </p:cNvPr>
          <p:cNvSpPr/>
          <p:nvPr/>
        </p:nvSpPr>
        <p:spPr>
          <a:xfrm>
            <a:off x="764032" y="4848868"/>
            <a:ext cx="4368000" cy="168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42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差异分析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56E84E35-29E7-2180-E509-44E46BCDE195}"/>
              </a:ext>
            </a:extLst>
          </p:cNvPr>
          <p:cNvSpPr/>
          <p:nvPr/>
        </p:nvSpPr>
        <p:spPr>
          <a:xfrm>
            <a:off x="5339633" y="2138112"/>
            <a:ext cx="1440000" cy="72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输入</a:t>
            </a: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8D7AE5FC-8403-1E8E-632B-AFE64E048F9B}"/>
              </a:ext>
            </a:extLst>
          </p:cNvPr>
          <p:cNvSpPr/>
          <p:nvPr/>
        </p:nvSpPr>
        <p:spPr>
          <a:xfrm>
            <a:off x="8901321" y="3587648"/>
            <a:ext cx="720000" cy="960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输入</a:t>
            </a:r>
          </a:p>
        </p:txBody>
      </p:sp>
      <p:sp>
        <p:nvSpPr>
          <p:cNvPr id="22" name="箭头: 上 21">
            <a:extLst>
              <a:ext uri="{FF2B5EF4-FFF2-40B4-BE49-F238E27FC236}">
                <a16:creationId xmlns:a16="http://schemas.microsoft.com/office/drawing/2014/main" id="{A825F94E-C917-1A1E-13BD-EC6CF78A38E8}"/>
              </a:ext>
            </a:extLst>
          </p:cNvPr>
          <p:cNvSpPr/>
          <p:nvPr/>
        </p:nvSpPr>
        <p:spPr>
          <a:xfrm>
            <a:off x="2588032" y="3587648"/>
            <a:ext cx="720000" cy="960000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反馈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3AF7CF31-B5F0-DBCF-5DE2-A49108BA8CB5}"/>
              </a:ext>
            </a:extLst>
          </p:cNvPr>
          <p:cNvSpPr/>
          <p:nvPr/>
        </p:nvSpPr>
        <p:spPr>
          <a:xfrm rot="20142465">
            <a:off x="5027633" y="3707648"/>
            <a:ext cx="2064000" cy="72000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反馈</a:t>
            </a:r>
          </a:p>
        </p:txBody>
      </p:sp>
      <p:sp>
        <p:nvSpPr>
          <p:cNvPr id="24" name="箭头: 左 23">
            <a:extLst>
              <a:ext uri="{FF2B5EF4-FFF2-40B4-BE49-F238E27FC236}">
                <a16:creationId xmlns:a16="http://schemas.microsoft.com/office/drawing/2014/main" id="{DE785FD3-DC75-21CE-C8EC-D366B10F3805}"/>
              </a:ext>
            </a:extLst>
          </p:cNvPr>
          <p:cNvSpPr/>
          <p:nvPr/>
        </p:nvSpPr>
        <p:spPr>
          <a:xfrm>
            <a:off x="5339633" y="5328868"/>
            <a:ext cx="1440000" cy="7200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输入</a:t>
            </a:r>
          </a:p>
        </p:txBody>
      </p:sp>
    </p:spTree>
    <p:extLst>
      <p:ext uri="{BB962C8B-B14F-4D97-AF65-F5344CB8AC3E}">
        <p14:creationId xmlns:p14="http://schemas.microsoft.com/office/powerpoint/2010/main" val="140804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23C4-7F66-166C-582C-38CCBC75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ADFF44-86EE-A627-4E67-ABAF4A402E12}"/>
              </a:ext>
            </a:extLst>
          </p:cNvPr>
          <p:cNvSpPr/>
          <p:nvPr/>
        </p:nvSpPr>
        <p:spPr>
          <a:xfrm>
            <a:off x="171103" y="47737"/>
            <a:ext cx="11921655" cy="1541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从作业管起   作业从计划规划开始</a:t>
            </a:r>
            <a:endParaRPr lang="en-US" altLang="zh-CN" sz="3733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改善亮点 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733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 由 </a:t>
            </a:r>
            <a:r>
              <a:rPr lang="en-US" altLang="zh-CN" sz="3733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733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智能中心触发  精准全面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EBE643F-253F-C8DA-A911-886B9AC12D51}"/>
              </a:ext>
            </a:extLst>
          </p:cNvPr>
          <p:cNvSpPr/>
          <p:nvPr/>
        </p:nvSpPr>
        <p:spPr>
          <a:xfrm>
            <a:off x="355563" y="2821052"/>
            <a:ext cx="2790832" cy="1219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规划仓储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02520D-478E-54CD-916B-21D8F90FFFF4}"/>
              </a:ext>
            </a:extLst>
          </p:cNvPr>
          <p:cNvSpPr/>
          <p:nvPr/>
        </p:nvSpPr>
        <p:spPr>
          <a:xfrm>
            <a:off x="3962397" y="1746585"/>
            <a:ext cx="2640000" cy="153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小时仓储计划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74702CD-E454-B0F2-DEA8-0310547AA352}"/>
              </a:ext>
            </a:extLst>
          </p:cNvPr>
          <p:cNvSpPr/>
          <p:nvPr/>
        </p:nvSpPr>
        <p:spPr>
          <a:xfrm>
            <a:off x="7865169" y="1539321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销售发货作业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1FBCCE-8FB8-0DFB-2960-5935601ADA0F}"/>
              </a:ext>
            </a:extLst>
          </p:cNvPr>
          <p:cNvSpPr/>
          <p:nvPr/>
        </p:nvSpPr>
        <p:spPr>
          <a:xfrm>
            <a:off x="7865169" y="2211321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码头短驳作业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A9B993-2205-CA16-798A-8F9C1F082A71}"/>
              </a:ext>
            </a:extLst>
          </p:cNvPr>
          <p:cNvSpPr/>
          <p:nvPr/>
        </p:nvSpPr>
        <p:spPr>
          <a:xfrm>
            <a:off x="3962397" y="4433885"/>
            <a:ext cx="2640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成品整并库计划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571326-33C0-ABD7-B5C0-BB3BC1841A68}"/>
              </a:ext>
            </a:extLst>
          </p:cNvPr>
          <p:cNvSpPr/>
          <p:nvPr/>
        </p:nvSpPr>
        <p:spPr>
          <a:xfrm>
            <a:off x="3962397" y="5260068"/>
            <a:ext cx="2640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资材配送计划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75DC37-AC28-737A-9FC7-938FCF261256}"/>
              </a:ext>
            </a:extLst>
          </p:cNvPr>
          <p:cNvSpPr/>
          <p:nvPr/>
        </p:nvSpPr>
        <p:spPr>
          <a:xfrm>
            <a:off x="3962397" y="3615072"/>
            <a:ext cx="2640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成品备货计划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69D58E-5C07-B731-C433-B3DA901ABE21}"/>
              </a:ext>
            </a:extLst>
          </p:cNvPr>
          <p:cNvSpPr/>
          <p:nvPr/>
        </p:nvSpPr>
        <p:spPr>
          <a:xfrm>
            <a:off x="3962397" y="6090859"/>
            <a:ext cx="2640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资材缴库计划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969C8F7-A4BF-777F-EADD-071B656B19EB}"/>
              </a:ext>
            </a:extLst>
          </p:cNvPr>
          <p:cNvSpPr/>
          <p:nvPr/>
        </p:nvSpPr>
        <p:spPr>
          <a:xfrm>
            <a:off x="7865169" y="4433885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成品当班整并库作业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2E591FA-FD06-F08A-3ADF-CD9168941C91}"/>
              </a:ext>
            </a:extLst>
          </p:cNvPr>
          <p:cNvSpPr/>
          <p:nvPr/>
        </p:nvSpPr>
        <p:spPr>
          <a:xfrm>
            <a:off x="7865169" y="5260068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资材当班配送作业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53EBFA4-9F28-DCDE-B276-0539FF16213C}"/>
              </a:ext>
            </a:extLst>
          </p:cNvPr>
          <p:cNvSpPr/>
          <p:nvPr/>
        </p:nvSpPr>
        <p:spPr>
          <a:xfrm>
            <a:off x="7865169" y="3615072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成品当班备货作业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C2E943E-DF44-870C-3FF9-D5045A082C9A}"/>
              </a:ext>
            </a:extLst>
          </p:cNvPr>
          <p:cNvSpPr/>
          <p:nvPr/>
        </p:nvSpPr>
        <p:spPr>
          <a:xfrm>
            <a:off x="7865169" y="6090859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资材当班缴库作业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84309400-F83D-30C6-EA10-752F4632756F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3146395" y="2514585"/>
            <a:ext cx="816003" cy="91606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C482ABC5-A25E-9399-9F6A-34D0A4EE446E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3146395" y="3430653"/>
            <a:ext cx="816003" cy="129123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E6836868-F369-A83D-0AAD-6EFAD6FD65F4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>
            <a:off x="3146395" y="3430653"/>
            <a:ext cx="816003" cy="294820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235B5D33-EA33-419F-F783-A2AE46BE82EA}"/>
              </a:ext>
            </a:extLst>
          </p:cNvPr>
          <p:cNvCxnSpPr>
            <a:cxnSpLocks/>
            <a:stCxn id="2" idx="3"/>
            <a:endCxn id="16" idx="1"/>
          </p:cNvCxnSpPr>
          <p:nvPr/>
        </p:nvCxnSpPr>
        <p:spPr>
          <a:xfrm>
            <a:off x="3146395" y="3430652"/>
            <a:ext cx="816003" cy="211741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C3E3DCD1-B144-58CC-4675-04A34924D6B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602398" y="1827321"/>
            <a:ext cx="1262772" cy="68726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F7D72FA5-4106-24D9-DBA8-6D5496A2B250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146395" y="3430653"/>
            <a:ext cx="816003" cy="47242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369812D-88E6-71B0-EC46-31B4C55CA0F4}"/>
              </a:ext>
            </a:extLst>
          </p:cNvPr>
          <p:cNvCxnSpPr>
            <a:stCxn id="17" idx="3"/>
            <a:endCxn id="21" idx="1"/>
          </p:cNvCxnSpPr>
          <p:nvPr/>
        </p:nvCxnSpPr>
        <p:spPr>
          <a:xfrm>
            <a:off x="6602398" y="3903072"/>
            <a:ext cx="12627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D4BF7D7-B37F-661C-7647-9135A76B34D0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6602398" y="4721885"/>
            <a:ext cx="12627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F0ABD1-E7CB-678C-9CE2-1723779F66CA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6602398" y="5548068"/>
            <a:ext cx="126277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B4BBAE21-C8F8-0A9B-65D9-7294992A9548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6602398" y="2499321"/>
            <a:ext cx="1262772" cy="1526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88D62BC-E779-1C85-C7EE-492044C85141}"/>
              </a:ext>
            </a:extLst>
          </p:cNvPr>
          <p:cNvSpPr/>
          <p:nvPr/>
        </p:nvSpPr>
        <p:spPr>
          <a:xfrm>
            <a:off x="7865169" y="2890711"/>
            <a:ext cx="412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让售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委外加工发货作业</a:t>
            </a: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455BBC8C-FBA6-778A-FB8C-5E24BC4CFFC9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6602398" y="2514586"/>
            <a:ext cx="1262772" cy="66412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16232B1-7D4F-9F39-3A1A-B3FFC99605E4}"/>
              </a:ext>
            </a:extLst>
          </p:cNvPr>
          <p:cNvSpPr/>
          <p:nvPr/>
        </p:nvSpPr>
        <p:spPr>
          <a:xfrm>
            <a:off x="3753293" y="1592486"/>
            <a:ext cx="3136605" cy="5148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9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A0B1E-F92C-6BC9-6484-DF2097F5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DF47C83-3418-09E6-B518-5214E6B5D20E}"/>
              </a:ext>
            </a:extLst>
          </p:cNvPr>
          <p:cNvSpPr/>
          <p:nvPr/>
        </p:nvSpPr>
        <p:spPr>
          <a:xfrm>
            <a:off x="171103" y="22926"/>
            <a:ext cx="11921655" cy="1391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 计划准确度   从 源头 管控开始</a:t>
            </a:r>
            <a:endParaRPr lang="en-US" altLang="zh-CN" sz="3733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改善亮点 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733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源头 由 智慧物流园管控 精准最佳化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80FAE55-0FE7-E72C-9CD1-0A83F7AC9A97}"/>
              </a:ext>
            </a:extLst>
          </p:cNvPr>
          <p:cNvSpPr/>
          <p:nvPr/>
        </p:nvSpPr>
        <p:spPr>
          <a:xfrm>
            <a:off x="292063" y="2919772"/>
            <a:ext cx="1440000" cy="1219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触发仓储需求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2A2AB8-7F88-0B92-D1E3-B15A0C4B3BC3}"/>
              </a:ext>
            </a:extLst>
          </p:cNvPr>
          <p:cNvSpPr/>
          <p:nvPr/>
        </p:nvSpPr>
        <p:spPr>
          <a:xfrm>
            <a:off x="2537908" y="1751458"/>
            <a:ext cx="1440000" cy="120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外部预约触发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48B364D-A4DE-87CD-131D-1389639B9F33}"/>
              </a:ext>
            </a:extLst>
          </p:cNvPr>
          <p:cNvSpPr/>
          <p:nvPr/>
        </p:nvSpPr>
        <p:spPr>
          <a:xfrm>
            <a:off x="8840467" y="1638042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成品销售发货计划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E12704C-27C1-7A48-52AF-58947311A298}"/>
              </a:ext>
            </a:extLst>
          </p:cNvPr>
          <p:cNvSpPr/>
          <p:nvPr/>
        </p:nvSpPr>
        <p:spPr>
          <a:xfrm>
            <a:off x="8840467" y="2310042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资材采购收货计划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997AF1E-2CC4-4385-CA19-8322FB6D2446}"/>
              </a:ext>
            </a:extLst>
          </p:cNvPr>
          <p:cNvSpPr/>
          <p:nvPr/>
        </p:nvSpPr>
        <p:spPr>
          <a:xfrm>
            <a:off x="2537908" y="5318344"/>
            <a:ext cx="1440000" cy="120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内部需求触发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A5262294-4180-33AA-49CF-25FE4CD4236D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1732063" y="2351458"/>
            <a:ext cx="805845" cy="117791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7EE619A5-DAD9-1FBE-FDE1-2D3D62BC6319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1732063" y="3529373"/>
            <a:ext cx="805845" cy="238897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EBFF285-AD68-8AFE-A81D-644DDF3D6D1E}"/>
              </a:ext>
            </a:extLst>
          </p:cNvPr>
          <p:cNvSpPr/>
          <p:nvPr/>
        </p:nvSpPr>
        <p:spPr>
          <a:xfrm>
            <a:off x="8840467" y="2975520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资材码头短驳计划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52E352A-23C4-29E7-6C58-84654173886C}"/>
              </a:ext>
            </a:extLst>
          </p:cNvPr>
          <p:cNvSpPr/>
          <p:nvPr/>
        </p:nvSpPr>
        <p:spPr>
          <a:xfrm>
            <a:off x="8840467" y="3641691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资材让售发货计划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826E77E-FF69-642B-60B8-7498E7F0F925}"/>
              </a:ext>
            </a:extLst>
          </p:cNvPr>
          <p:cNvSpPr/>
          <p:nvPr/>
        </p:nvSpPr>
        <p:spPr>
          <a:xfrm>
            <a:off x="8840467" y="5306074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资材当班配送计划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1807552-7539-8BF5-DEE0-C561454C71BF}"/>
              </a:ext>
            </a:extLst>
          </p:cNvPr>
          <p:cNvSpPr/>
          <p:nvPr/>
        </p:nvSpPr>
        <p:spPr>
          <a:xfrm>
            <a:off x="8840467" y="5971552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资材当班缴库计划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EE842F4-AFA9-D9CD-7E36-5E841124A9DC}"/>
              </a:ext>
            </a:extLst>
          </p:cNvPr>
          <p:cNvSpPr/>
          <p:nvPr/>
        </p:nvSpPr>
        <p:spPr>
          <a:xfrm>
            <a:off x="4994337" y="1638042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规划运输车队进厂时间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EB2376B-8671-F7D8-A354-19B9BF6E7CC7}"/>
              </a:ext>
            </a:extLst>
          </p:cNvPr>
          <p:cNvSpPr/>
          <p:nvPr/>
        </p:nvSpPr>
        <p:spPr>
          <a:xfrm>
            <a:off x="4994337" y="2310042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规划供应商送货时间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8064FFE-B926-CCF1-9F91-866E3ECB1EDB}"/>
              </a:ext>
            </a:extLst>
          </p:cNvPr>
          <p:cNvSpPr/>
          <p:nvPr/>
        </p:nvSpPr>
        <p:spPr>
          <a:xfrm>
            <a:off x="4994337" y="2975520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规划码头短驳进厂时间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230C240-3107-1EBB-ACAE-FA1BCDA68965}"/>
              </a:ext>
            </a:extLst>
          </p:cNvPr>
          <p:cNvSpPr/>
          <p:nvPr/>
        </p:nvSpPr>
        <p:spPr>
          <a:xfrm>
            <a:off x="4994337" y="3641691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33D34C-AD57-5832-40CE-504B168F7DCF}"/>
              </a:ext>
            </a:extLst>
          </p:cNvPr>
          <p:cNvSpPr/>
          <p:nvPr/>
        </p:nvSpPr>
        <p:spPr>
          <a:xfrm>
            <a:off x="4994337" y="5306074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优化现场配送时点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CE4924-CABF-2D58-106C-863D58EABB03}"/>
              </a:ext>
            </a:extLst>
          </p:cNvPr>
          <p:cNvSpPr/>
          <p:nvPr/>
        </p:nvSpPr>
        <p:spPr>
          <a:xfrm>
            <a:off x="4994337" y="5971552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优化现场缴库时点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7C483DA-1047-4B90-7F16-97DAA1311CCC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8450337" y="1926042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E5BB211-3D9D-1505-92E2-259D6B563B1B}"/>
              </a:ext>
            </a:extLst>
          </p:cNvPr>
          <p:cNvCxnSpPr>
            <a:cxnSpLocks/>
            <a:stCxn id="9" idx="3"/>
            <a:endCxn id="55" idx="1"/>
          </p:cNvCxnSpPr>
          <p:nvPr/>
        </p:nvCxnSpPr>
        <p:spPr>
          <a:xfrm>
            <a:off x="8450337" y="3929691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9C8600C-80B1-7A86-B87A-9FC5120559E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8450337" y="2598042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4CDC2E4-0E40-AF9B-BF57-73A2478C8426}"/>
              </a:ext>
            </a:extLst>
          </p:cNvPr>
          <p:cNvCxnSpPr>
            <a:cxnSpLocks/>
            <a:stCxn id="8" idx="3"/>
            <a:endCxn id="54" idx="1"/>
          </p:cNvCxnSpPr>
          <p:nvPr/>
        </p:nvCxnSpPr>
        <p:spPr>
          <a:xfrm>
            <a:off x="8450337" y="3263520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CE579D8-4434-700D-9459-BA20B01CB966}"/>
              </a:ext>
            </a:extLst>
          </p:cNvPr>
          <p:cNvCxnSpPr>
            <a:cxnSpLocks/>
            <a:stCxn id="11" idx="3"/>
            <a:endCxn id="57" idx="1"/>
          </p:cNvCxnSpPr>
          <p:nvPr/>
        </p:nvCxnSpPr>
        <p:spPr>
          <a:xfrm>
            <a:off x="8450337" y="6259552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B4425F4-3F09-E1E6-5335-961813D4FF8E}"/>
              </a:ext>
            </a:extLst>
          </p:cNvPr>
          <p:cNvCxnSpPr>
            <a:cxnSpLocks/>
            <a:stCxn id="10" idx="3"/>
            <a:endCxn id="56" idx="1"/>
          </p:cNvCxnSpPr>
          <p:nvPr/>
        </p:nvCxnSpPr>
        <p:spPr>
          <a:xfrm>
            <a:off x="8450337" y="5594074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431F7482-9742-AC53-755D-4E7D507FB796}"/>
              </a:ext>
            </a:extLst>
          </p:cNvPr>
          <p:cNvCxnSpPr>
            <a:stCxn id="5" idx="3"/>
            <a:endCxn id="3" idx="1"/>
          </p:cNvCxnSpPr>
          <p:nvPr/>
        </p:nvCxnSpPr>
        <p:spPr>
          <a:xfrm flipV="1">
            <a:off x="3977908" y="1926042"/>
            <a:ext cx="1016429" cy="42541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90416CD2-C251-D5DC-0DB2-54180132AE0B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977908" y="2351458"/>
            <a:ext cx="1016429" cy="24658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7ECD077F-89AF-6BF1-C410-8A31980CA883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977908" y="2351458"/>
            <a:ext cx="1016429" cy="91206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922B2A60-0652-FF37-39C3-8E2BA782EE86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 flipV="1">
            <a:off x="3977908" y="5594074"/>
            <a:ext cx="1016429" cy="32427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BB26FCDC-7A70-1F05-7592-49ED7C696A9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977908" y="2351458"/>
            <a:ext cx="1016429" cy="157823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77613F00-6524-204D-5257-4687A65F5E2C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3977908" y="5918344"/>
            <a:ext cx="1016429" cy="34120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3F27CA-552D-C6D4-034C-571E9A6FD708}"/>
              </a:ext>
            </a:extLst>
          </p:cNvPr>
          <p:cNvSpPr/>
          <p:nvPr/>
        </p:nvSpPr>
        <p:spPr>
          <a:xfrm>
            <a:off x="8840467" y="4320379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资材固废发货计划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8FD1B87-99B1-3F4B-892A-9717350FBC68}"/>
              </a:ext>
            </a:extLst>
          </p:cNvPr>
          <p:cNvSpPr/>
          <p:nvPr/>
        </p:nvSpPr>
        <p:spPr>
          <a:xfrm>
            <a:off x="4994337" y="4320379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28640DD-52ED-F7FB-74A5-C09A81B2BD02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8450337" y="4608379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331BDAE8-8D6E-BC65-CCA6-F92ECAA830A5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3977908" y="2351458"/>
            <a:ext cx="1016429" cy="22569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3DA9566E-E181-5E0C-4585-D3C768CC3845}"/>
              </a:ext>
            </a:extLst>
          </p:cNvPr>
          <p:cNvSpPr/>
          <p:nvPr/>
        </p:nvSpPr>
        <p:spPr>
          <a:xfrm>
            <a:off x="4781993" y="1542041"/>
            <a:ext cx="3780000" cy="510994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99647D3-F41C-928C-0031-DADD74280FBF}"/>
              </a:ext>
            </a:extLst>
          </p:cNvPr>
          <p:cNvSpPr/>
          <p:nvPr/>
        </p:nvSpPr>
        <p:spPr>
          <a:xfrm>
            <a:off x="5006207" y="4785309"/>
            <a:ext cx="2844000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</a:t>
            </a:r>
          </a:p>
        </p:txBody>
      </p:sp>
    </p:spTree>
    <p:extLst>
      <p:ext uri="{BB962C8B-B14F-4D97-AF65-F5344CB8AC3E}">
        <p14:creationId xmlns:p14="http://schemas.microsoft.com/office/powerpoint/2010/main" val="167693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5B30-ADE7-8C9B-54B9-95D4B578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A882917-47C8-0F85-1A51-EEB1872BCDA2}"/>
              </a:ext>
            </a:extLst>
          </p:cNvPr>
          <p:cNvSpPr/>
          <p:nvPr/>
        </p:nvSpPr>
        <p:spPr>
          <a:xfrm>
            <a:off x="171103" y="118623"/>
            <a:ext cx="11921655" cy="1267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现场作业执行   从 端到端 全面管起</a:t>
            </a:r>
            <a:endParaRPr lang="en-US" altLang="zh-CN" sz="3733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改善亮点 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733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作业全程自动化联动 精准高效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1F845A3-30EB-B649-3370-E526C10188B2}"/>
              </a:ext>
            </a:extLst>
          </p:cNvPr>
          <p:cNvSpPr/>
          <p:nvPr/>
        </p:nvSpPr>
        <p:spPr>
          <a:xfrm>
            <a:off x="4027167" y="1539321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成品销售发货计划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06F74AF-E959-C7F8-C7ED-9E7EC64720A3}"/>
              </a:ext>
            </a:extLst>
          </p:cNvPr>
          <p:cNvSpPr/>
          <p:nvPr/>
        </p:nvSpPr>
        <p:spPr>
          <a:xfrm>
            <a:off x="4027167" y="2211321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资材采购收货计划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9677F2-970B-F0FD-8F43-A1FAE5783113}"/>
              </a:ext>
            </a:extLst>
          </p:cNvPr>
          <p:cNvSpPr/>
          <p:nvPr/>
        </p:nvSpPr>
        <p:spPr>
          <a:xfrm>
            <a:off x="4027167" y="2890711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资材码头短驳计划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22AF510-C181-4461-5396-003B0BB45FCC}"/>
              </a:ext>
            </a:extLst>
          </p:cNvPr>
          <p:cNvSpPr/>
          <p:nvPr/>
        </p:nvSpPr>
        <p:spPr>
          <a:xfrm>
            <a:off x="4027167" y="3551572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资材让售发货计划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4A1100-481D-7A2D-6487-1803C36F0391}"/>
              </a:ext>
            </a:extLst>
          </p:cNvPr>
          <p:cNvSpPr/>
          <p:nvPr/>
        </p:nvSpPr>
        <p:spPr>
          <a:xfrm>
            <a:off x="4027167" y="5260068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资材当班配送计划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E5B331-C0AC-C5C7-0D7C-A84024021335}"/>
              </a:ext>
            </a:extLst>
          </p:cNvPr>
          <p:cNvSpPr/>
          <p:nvPr/>
        </p:nvSpPr>
        <p:spPr>
          <a:xfrm>
            <a:off x="4027167" y="5900359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资材当班缴库计划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50473DD-7792-024E-689E-FD51219B2410}"/>
              </a:ext>
            </a:extLst>
          </p:cNvPr>
          <p:cNvSpPr/>
          <p:nvPr/>
        </p:nvSpPr>
        <p:spPr>
          <a:xfrm>
            <a:off x="181037" y="1539321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规划运输车队进厂时间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83F6669-700E-6F42-5E99-AF87C7010095}"/>
              </a:ext>
            </a:extLst>
          </p:cNvPr>
          <p:cNvSpPr/>
          <p:nvPr/>
        </p:nvSpPr>
        <p:spPr>
          <a:xfrm>
            <a:off x="181037" y="2211321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规划供应商送货时间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E159B63-B5FC-2F39-8895-7C65E15D23CC}"/>
              </a:ext>
            </a:extLst>
          </p:cNvPr>
          <p:cNvSpPr/>
          <p:nvPr/>
        </p:nvSpPr>
        <p:spPr>
          <a:xfrm>
            <a:off x="181037" y="2890711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规划码头短驳进厂时间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ADDB13-587D-96F8-A9A0-3F362C8C9E50}"/>
              </a:ext>
            </a:extLst>
          </p:cNvPr>
          <p:cNvSpPr/>
          <p:nvPr/>
        </p:nvSpPr>
        <p:spPr>
          <a:xfrm>
            <a:off x="181037" y="3551572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A86192B-98D4-36A6-B6FC-4DBCEB277313}"/>
              </a:ext>
            </a:extLst>
          </p:cNvPr>
          <p:cNvSpPr/>
          <p:nvPr/>
        </p:nvSpPr>
        <p:spPr>
          <a:xfrm>
            <a:off x="181037" y="5260068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优化现场配送需求操作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855C2C0-61E5-6E41-7A84-2E7E014D496C}"/>
              </a:ext>
            </a:extLst>
          </p:cNvPr>
          <p:cNvSpPr/>
          <p:nvPr/>
        </p:nvSpPr>
        <p:spPr>
          <a:xfrm>
            <a:off x="181037" y="5900359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优化现场缴库节奏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3FE645D-D556-EA70-3E1F-C5774C30B250}"/>
              </a:ext>
            </a:extLst>
          </p:cNvPr>
          <p:cNvCxnSpPr>
            <a:cxnSpLocks/>
            <a:stCxn id="13" idx="3"/>
            <a:endCxn id="4" idx="1"/>
          </p:cNvCxnSpPr>
          <p:nvPr/>
        </p:nvCxnSpPr>
        <p:spPr>
          <a:xfrm>
            <a:off x="3637037" y="2499321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D1155B9-E9F7-C1A3-F495-1FE213576C4A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>
            <a:off x="3637037" y="3839572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449D5DA-27F4-5206-57F0-CD7CEB05D21F}"/>
              </a:ext>
            </a:extLst>
          </p:cNvPr>
          <p:cNvCxnSpPr>
            <a:cxnSpLocks/>
            <a:stCxn id="12" idx="3"/>
            <a:endCxn id="3" idx="1"/>
          </p:cNvCxnSpPr>
          <p:nvPr/>
        </p:nvCxnSpPr>
        <p:spPr>
          <a:xfrm>
            <a:off x="3637037" y="1827321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05CD130-AA5B-CDCA-AD47-CE60010C40F7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>
            <a:off x="3637037" y="3178711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AC95724-5C31-54A4-40D8-D594C5549C4C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>
            <a:off x="3637037" y="6188359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06CBE14-0A0E-5FAB-648E-F8F40B42F32C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3637037" y="5548068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7D5519C-B235-BE90-F4FA-055F98FDC3E6}"/>
              </a:ext>
            </a:extLst>
          </p:cNvPr>
          <p:cNvSpPr/>
          <p:nvPr/>
        </p:nvSpPr>
        <p:spPr>
          <a:xfrm>
            <a:off x="4027167" y="4205285"/>
            <a:ext cx="2808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资材固废发货计划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3C92259-E01D-1C62-C058-6A1BF0F06EF5}"/>
              </a:ext>
            </a:extLst>
          </p:cNvPr>
          <p:cNvSpPr/>
          <p:nvPr/>
        </p:nvSpPr>
        <p:spPr>
          <a:xfrm>
            <a:off x="181037" y="4205285"/>
            <a:ext cx="3456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6CEB9FC-ED94-F340-8DA9-EA55B3E373A4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3637037" y="4493285"/>
            <a:ext cx="3901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E1D3994-BEF8-3BDF-6268-63F554DCADF0}"/>
              </a:ext>
            </a:extLst>
          </p:cNvPr>
          <p:cNvSpPr/>
          <p:nvPr/>
        </p:nvSpPr>
        <p:spPr>
          <a:xfrm>
            <a:off x="7523518" y="1456870"/>
            <a:ext cx="936000" cy="50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智慧物流园调度引擎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0F6438A-ECE8-7A1D-0A8A-08132FC2C19E}"/>
              </a:ext>
            </a:extLst>
          </p:cNvPr>
          <p:cNvSpPr/>
          <p:nvPr/>
        </p:nvSpPr>
        <p:spPr>
          <a:xfrm>
            <a:off x="9147869" y="1539321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成品销售发货作业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C4EE5D2-BB17-68A2-47AB-50534EC0ACE7}"/>
              </a:ext>
            </a:extLst>
          </p:cNvPr>
          <p:cNvSpPr/>
          <p:nvPr/>
        </p:nvSpPr>
        <p:spPr>
          <a:xfrm>
            <a:off x="9147869" y="2211321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资材采购收货作业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CE54F46-0C79-8697-4DF5-E007E05C7207}"/>
              </a:ext>
            </a:extLst>
          </p:cNvPr>
          <p:cNvSpPr/>
          <p:nvPr/>
        </p:nvSpPr>
        <p:spPr>
          <a:xfrm>
            <a:off x="9147869" y="4205285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资材固废发货作业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866474B-A12F-A069-8319-6B575DDC066D}"/>
              </a:ext>
            </a:extLst>
          </p:cNvPr>
          <p:cNvSpPr/>
          <p:nvPr/>
        </p:nvSpPr>
        <p:spPr>
          <a:xfrm>
            <a:off x="9147869" y="5260068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资材当班配送作业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BA3CED8-7FF1-F22F-B9D8-A491D814392E}"/>
              </a:ext>
            </a:extLst>
          </p:cNvPr>
          <p:cNvSpPr/>
          <p:nvPr/>
        </p:nvSpPr>
        <p:spPr>
          <a:xfrm>
            <a:off x="9147869" y="3551572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资材让售发货作业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BF20327-AC44-36D0-77C8-66A92EE3CF20}"/>
              </a:ext>
            </a:extLst>
          </p:cNvPr>
          <p:cNvSpPr/>
          <p:nvPr/>
        </p:nvSpPr>
        <p:spPr>
          <a:xfrm>
            <a:off x="9147869" y="5900359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资材当班缴库作业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C4EC07D-8520-060A-7FFE-D6D7446BAF6D}"/>
              </a:ext>
            </a:extLst>
          </p:cNvPr>
          <p:cNvSpPr/>
          <p:nvPr/>
        </p:nvSpPr>
        <p:spPr>
          <a:xfrm>
            <a:off x="9147869" y="2890711"/>
            <a:ext cx="2772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资材码头短驳作业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67770776-8AB2-05B8-3A54-666F20BE410F}"/>
              </a:ext>
            </a:extLst>
          </p:cNvPr>
          <p:cNvCxnSpPr>
            <a:stCxn id="3" idx="3"/>
            <a:endCxn id="31" idx="1"/>
          </p:cNvCxnSpPr>
          <p:nvPr/>
        </p:nvCxnSpPr>
        <p:spPr>
          <a:xfrm>
            <a:off x="6835167" y="1827321"/>
            <a:ext cx="688351" cy="2149549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00733CDE-4679-C065-FDEE-A5E64B5B0D2E}"/>
              </a:ext>
            </a:extLst>
          </p:cNvPr>
          <p:cNvCxnSpPr>
            <a:cxnSpLocks/>
            <a:stCxn id="4" idx="3"/>
            <a:endCxn id="31" idx="1"/>
          </p:cNvCxnSpPr>
          <p:nvPr/>
        </p:nvCxnSpPr>
        <p:spPr>
          <a:xfrm>
            <a:off x="6835167" y="2499321"/>
            <a:ext cx="688351" cy="147754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38EA3810-4996-4021-4636-25058F14C9C2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>
            <a:off x="6835167" y="3178711"/>
            <a:ext cx="688351" cy="79815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C7D1F40-C2F7-3550-1AC6-F606F372BFE9}"/>
              </a:ext>
            </a:extLst>
          </p:cNvPr>
          <p:cNvCxnSpPr>
            <a:cxnSpLocks/>
            <a:stCxn id="9" idx="3"/>
            <a:endCxn id="31" idx="1"/>
          </p:cNvCxnSpPr>
          <p:nvPr/>
        </p:nvCxnSpPr>
        <p:spPr>
          <a:xfrm>
            <a:off x="6835167" y="3839572"/>
            <a:ext cx="688351" cy="13729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BB9B8C1B-9B1F-A826-D01B-125AE2FB4ABF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6835167" y="3976870"/>
            <a:ext cx="688351" cy="51641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DD19CD94-DCF4-EC1A-58E5-630F8F40BEFA}"/>
              </a:ext>
            </a:extLst>
          </p:cNvPr>
          <p:cNvCxnSpPr>
            <a:cxnSpLocks/>
            <a:stCxn id="10" idx="3"/>
            <a:endCxn id="31" idx="1"/>
          </p:cNvCxnSpPr>
          <p:nvPr/>
        </p:nvCxnSpPr>
        <p:spPr>
          <a:xfrm flipV="1">
            <a:off x="6835167" y="3976870"/>
            <a:ext cx="688351" cy="157119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02C9C4C2-5B48-5BE4-CCBB-D41EC51553F9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 flipV="1">
            <a:off x="6835167" y="3976870"/>
            <a:ext cx="688351" cy="2211489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6EF7BA1F-3EDB-F065-645A-4585FCB90387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8459518" y="1827321"/>
            <a:ext cx="688351" cy="21495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7124BB0-E296-3401-F656-A476C91424F0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 flipV="1">
            <a:off x="8459518" y="3839572"/>
            <a:ext cx="688351" cy="137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53303DC4-F253-F52D-6044-1AF24C0AC57E}"/>
              </a:ext>
            </a:extLst>
          </p:cNvPr>
          <p:cNvCxnSpPr>
            <a:cxnSpLocks/>
            <a:stCxn id="31" idx="3"/>
            <a:endCxn id="34" idx="1"/>
          </p:cNvCxnSpPr>
          <p:nvPr/>
        </p:nvCxnSpPr>
        <p:spPr>
          <a:xfrm>
            <a:off x="8459518" y="3976870"/>
            <a:ext cx="688351" cy="516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EADFBDC2-C2C3-B7B7-7F9A-0BDC499C9EF4}"/>
              </a:ext>
            </a:extLst>
          </p:cNvPr>
          <p:cNvCxnSpPr>
            <a:cxnSpLocks/>
            <a:stCxn id="31" idx="3"/>
            <a:endCxn id="35" idx="1"/>
          </p:cNvCxnSpPr>
          <p:nvPr/>
        </p:nvCxnSpPr>
        <p:spPr>
          <a:xfrm>
            <a:off x="8459518" y="3976870"/>
            <a:ext cx="688351" cy="15711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E9516FA-53EF-9180-0DD9-D3A55358AD37}"/>
              </a:ext>
            </a:extLst>
          </p:cNvPr>
          <p:cNvCxnSpPr>
            <a:cxnSpLocks/>
            <a:stCxn id="31" idx="3"/>
            <a:endCxn id="38" idx="1"/>
          </p:cNvCxnSpPr>
          <p:nvPr/>
        </p:nvCxnSpPr>
        <p:spPr>
          <a:xfrm>
            <a:off x="8459518" y="3976870"/>
            <a:ext cx="688351" cy="22114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A7DD974B-2865-D9DE-575F-C9C287007620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8459518" y="2499321"/>
            <a:ext cx="688351" cy="14775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0460E3C8-0841-EAD4-994D-F909A1A90BD1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 flipV="1">
            <a:off x="8459518" y="3178711"/>
            <a:ext cx="688351" cy="7981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31F42A-991C-1EC4-D634-2EEB13C54807}"/>
              </a:ext>
            </a:extLst>
          </p:cNvPr>
          <p:cNvSpPr/>
          <p:nvPr/>
        </p:nvSpPr>
        <p:spPr>
          <a:xfrm>
            <a:off x="315460" y="4749684"/>
            <a:ext cx="2844000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</a:t>
            </a:r>
          </a:p>
        </p:txBody>
      </p:sp>
    </p:spTree>
    <p:extLst>
      <p:ext uri="{BB962C8B-B14F-4D97-AF65-F5344CB8AC3E}">
        <p14:creationId xmlns:p14="http://schemas.microsoft.com/office/powerpoint/2010/main" val="361263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696F-773E-7DCC-9657-972B8D26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9DB2A60-64EC-FACD-768E-3A98702D43BC}"/>
              </a:ext>
            </a:extLst>
          </p:cNvPr>
          <p:cNvSpPr/>
          <p:nvPr/>
        </p:nvSpPr>
        <p:spPr>
          <a:xfrm>
            <a:off x="171103" y="118623"/>
            <a:ext cx="11921655" cy="1267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733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高效现场作业执行   从货、人、设备、车辆全面管起</a:t>
            </a:r>
            <a:endParaRPr lang="zh-CN" altLang="en-US" sz="3733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6A9397-3F40-B7DA-9E07-F3E7BFF4EAF0}"/>
              </a:ext>
            </a:extLst>
          </p:cNvPr>
          <p:cNvSpPr/>
          <p:nvPr/>
        </p:nvSpPr>
        <p:spPr>
          <a:xfrm>
            <a:off x="355563" y="3114099"/>
            <a:ext cx="2790832" cy="12192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执行仓储任务</a:t>
            </a:r>
            <a:r>
              <a:rPr lang="en-US" altLang="zh-CN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&amp;5</a:t>
            </a:r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大管理功能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DFA3D5C-A7B6-F0C5-AF05-4D259BFEAAEC}"/>
              </a:ext>
            </a:extLst>
          </p:cNvPr>
          <p:cNvSpPr/>
          <p:nvPr/>
        </p:nvSpPr>
        <p:spPr>
          <a:xfrm>
            <a:off x="3962397" y="1818191"/>
            <a:ext cx="2736000" cy="120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迭代优化</a:t>
            </a:r>
            <a:endParaRPr lang="en-US" altLang="zh-CN" sz="3733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调度引擎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FC0E5D-682F-0B2B-99E1-E563D8E0F7D3}"/>
              </a:ext>
            </a:extLst>
          </p:cNvPr>
          <p:cNvSpPr/>
          <p:nvPr/>
        </p:nvSpPr>
        <p:spPr>
          <a:xfrm>
            <a:off x="8382047" y="1449596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作业月台安排优化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79AEED1-FF58-0C08-06CB-7F6890088232}"/>
              </a:ext>
            </a:extLst>
          </p:cNvPr>
          <p:cNvSpPr/>
          <p:nvPr/>
        </p:nvSpPr>
        <p:spPr>
          <a:xfrm>
            <a:off x="8382047" y="2121596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叉车司机派遣优化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030CA8B-BE81-F52E-62AB-A19873D98C04}"/>
              </a:ext>
            </a:extLst>
          </p:cNvPr>
          <p:cNvSpPr/>
          <p:nvPr/>
        </p:nvSpPr>
        <p:spPr>
          <a:xfrm>
            <a:off x="3962397" y="4548645"/>
            <a:ext cx="2736000" cy="120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大管理功能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842E86FE-7A11-E417-A6B2-BBD105C2145B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3146395" y="2418191"/>
            <a:ext cx="816003" cy="130550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5A9CE6A7-D8C0-1330-8440-049D280F565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698398" y="1737596"/>
            <a:ext cx="1683649" cy="68059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3CED7DAD-A90D-F7F9-BA2E-1629B7ECDAE3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146395" y="3723699"/>
            <a:ext cx="816003" cy="142494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05A704B2-9FDD-1330-9405-4455B12160B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6698398" y="2409596"/>
            <a:ext cx="1683649" cy="859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136E5A0-DC7E-98D5-AC97-46FB2069E06A}"/>
              </a:ext>
            </a:extLst>
          </p:cNvPr>
          <p:cNvSpPr/>
          <p:nvPr/>
        </p:nvSpPr>
        <p:spPr>
          <a:xfrm>
            <a:off x="8382047" y="2787075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叉车设备管理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58063F6-803F-0AC1-C5A6-20A6139739BA}"/>
              </a:ext>
            </a:extLst>
          </p:cNvPr>
          <p:cNvSpPr/>
          <p:nvPr/>
        </p:nvSpPr>
        <p:spPr>
          <a:xfrm>
            <a:off x="8382047" y="3509955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月台管理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653B037-ED34-1130-884E-F99CF2C2D945}"/>
              </a:ext>
            </a:extLst>
          </p:cNvPr>
          <p:cNvSpPr/>
          <p:nvPr/>
        </p:nvSpPr>
        <p:spPr>
          <a:xfrm>
            <a:off x="8382047" y="4181955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任务管理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6ECB236-9833-9C1D-6001-3E7DCD12A132}"/>
              </a:ext>
            </a:extLst>
          </p:cNvPr>
          <p:cNvSpPr/>
          <p:nvPr/>
        </p:nvSpPr>
        <p:spPr>
          <a:xfrm>
            <a:off x="8382047" y="4847433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叉车司机管理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D94A1E2-0D6C-590E-3136-4077722120E7}"/>
              </a:ext>
            </a:extLst>
          </p:cNvPr>
          <p:cNvSpPr/>
          <p:nvPr/>
        </p:nvSpPr>
        <p:spPr>
          <a:xfrm>
            <a:off x="8382047" y="5540052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叉车设备管理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FE03A3C-E83C-8F3D-B55D-47F4E2DC404A}"/>
              </a:ext>
            </a:extLst>
          </p:cNvPr>
          <p:cNvSpPr/>
          <p:nvPr/>
        </p:nvSpPr>
        <p:spPr>
          <a:xfrm>
            <a:off x="8382047" y="6205531"/>
            <a:ext cx="3264000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车辆管理</a:t>
            </a: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F5E1538D-3F61-1195-CD6F-EFE85D4C83E1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6698398" y="5148646"/>
            <a:ext cx="1683649" cy="67940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ADF3C3C-F9F3-8091-211A-C66F8545538C}"/>
              </a:ext>
            </a:extLst>
          </p:cNvPr>
          <p:cNvCxnSpPr>
            <a:cxnSpLocks/>
            <a:stCxn id="17" idx="3"/>
            <a:endCxn id="57" idx="1"/>
          </p:cNvCxnSpPr>
          <p:nvPr/>
        </p:nvCxnSpPr>
        <p:spPr>
          <a:xfrm flipV="1">
            <a:off x="6698398" y="5135434"/>
            <a:ext cx="1683649" cy="132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0F106643-1AD5-FA1B-6557-765F3FF6C909}"/>
              </a:ext>
            </a:extLst>
          </p:cNvPr>
          <p:cNvCxnSpPr>
            <a:cxnSpLocks/>
            <a:stCxn id="17" idx="3"/>
            <a:endCxn id="56" idx="1"/>
          </p:cNvCxnSpPr>
          <p:nvPr/>
        </p:nvCxnSpPr>
        <p:spPr>
          <a:xfrm flipV="1">
            <a:off x="6698398" y="4469955"/>
            <a:ext cx="1683649" cy="67869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EC8EA743-5767-7467-8579-C2B085A3909A}"/>
              </a:ext>
            </a:extLst>
          </p:cNvPr>
          <p:cNvCxnSpPr>
            <a:cxnSpLocks/>
            <a:stCxn id="17" idx="3"/>
            <a:endCxn id="55" idx="1"/>
          </p:cNvCxnSpPr>
          <p:nvPr/>
        </p:nvCxnSpPr>
        <p:spPr>
          <a:xfrm flipV="1">
            <a:off x="6698398" y="3797955"/>
            <a:ext cx="1683649" cy="135069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150DF91E-7B9E-0466-00E8-9C3843711D56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698398" y="2418191"/>
            <a:ext cx="1683649" cy="65688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0C0CA1E0-7D77-FF4B-A396-62352F394515}"/>
              </a:ext>
            </a:extLst>
          </p:cNvPr>
          <p:cNvCxnSpPr>
            <a:cxnSpLocks/>
            <a:stCxn id="17" idx="3"/>
            <a:endCxn id="59" idx="1"/>
          </p:cNvCxnSpPr>
          <p:nvPr/>
        </p:nvCxnSpPr>
        <p:spPr>
          <a:xfrm>
            <a:off x="6698398" y="5148646"/>
            <a:ext cx="1683649" cy="134488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90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BC57-A543-39EE-6DAE-5675F8A2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088B4B3-716E-8B69-64CC-2B74BA30F5C2}"/>
              </a:ext>
            </a:extLst>
          </p:cNvPr>
          <p:cNvSpPr/>
          <p:nvPr/>
        </p:nvSpPr>
        <p:spPr>
          <a:xfrm>
            <a:off x="8445420" y="586880"/>
            <a:ext cx="3312000" cy="6240000"/>
          </a:xfrm>
          <a:prstGeom prst="roundRect">
            <a:avLst/>
          </a:prstGeom>
          <a:solidFill>
            <a:srgbClr val="FDC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五大管理功能</a:t>
            </a:r>
            <a:endParaRPr lang="en-US" altLang="zh-CN" sz="2667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195FCC9-CC5F-F5D7-AEBC-0ABBD74CC0B0}"/>
              </a:ext>
            </a:extLst>
          </p:cNvPr>
          <p:cNvSpPr/>
          <p:nvPr/>
        </p:nvSpPr>
        <p:spPr>
          <a:xfrm>
            <a:off x="4153683" y="586880"/>
            <a:ext cx="3696000" cy="6240000"/>
          </a:xfrm>
          <a:prstGeom prst="roundRect">
            <a:avLst/>
          </a:prstGeom>
          <a:solidFill>
            <a:srgbClr val="FDC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仓储任务计划与执行</a:t>
            </a:r>
            <a:endParaRPr lang="en-US" altLang="zh-CN" sz="2667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229CC76-25A6-3402-15FC-37A26BED7A86}"/>
              </a:ext>
            </a:extLst>
          </p:cNvPr>
          <p:cNvSpPr/>
          <p:nvPr/>
        </p:nvSpPr>
        <p:spPr>
          <a:xfrm>
            <a:off x="160845" y="586880"/>
            <a:ext cx="3277169" cy="6240000"/>
          </a:xfrm>
          <a:prstGeom prst="roundRect">
            <a:avLst/>
          </a:prstGeom>
          <a:solidFill>
            <a:srgbClr val="FDC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667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仓储需求</a:t>
            </a:r>
            <a:endParaRPr lang="en-US" altLang="zh-CN" sz="2667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55C601-B1D5-BC53-B87C-490C6DF1F642}"/>
              </a:ext>
            </a:extLst>
          </p:cNvPr>
          <p:cNvSpPr/>
          <p:nvPr/>
        </p:nvSpPr>
        <p:spPr>
          <a:xfrm>
            <a:off x="613783" y="3031709"/>
            <a:ext cx="2160000" cy="172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0468D0C-5E57-D903-88D1-DF2A3245038D}"/>
              </a:ext>
            </a:extLst>
          </p:cNvPr>
          <p:cNvSpPr/>
          <p:nvPr/>
        </p:nvSpPr>
        <p:spPr>
          <a:xfrm>
            <a:off x="613783" y="1203619"/>
            <a:ext cx="2160000" cy="172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6AFD124-F6C7-16BC-6E06-F1EFE919FC56}"/>
              </a:ext>
            </a:extLst>
          </p:cNvPr>
          <p:cNvSpPr/>
          <p:nvPr/>
        </p:nvSpPr>
        <p:spPr>
          <a:xfrm>
            <a:off x="-34225" y="0"/>
            <a:ext cx="5435564" cy="62704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智慧物流园业务</a:t>
            </a:r>
          </a:p>
        </p:txBody>
      </p: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33431216-8DE1-2768-1FA4-D3F5F61F295B}"/>
              </a:ext>
            </a:extLst>
          </p:cNvPr>
          <p:cNvSpPr/>
          <p:nvPr/>
        </p:nvSpPr>
        <p:spPr>
          <a:xfrm>
            <a:off x="1106580" y="1336777"/>
            <a:ext cx="1440000" cy="576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厂商</a:t>
            </a:r>
            <a:r>
              <a:rPr lang="en-US" altLang="zh-C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车队</a:t>
            </a:r>
            <a:endParaRPr lang="en-US" altLang="zh-C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提货预约</a:t>
            </a:r>
          </a:p>
        </p:txBody>
      </p:sp>
      <p:sp>
        <p:nvSpPr>
          <p:cNvPr id="3" name="圆角矩形 139">
            <a:extLst>
              <a:ext uri="{FF2B5EF4-FFF2-40B4-BE49-F238E27FC236}">
                <a16:creationId xmlns:a16="http://schemas.microsoft.com/office/drawing/2014/main" id="{A844BB1E-3387-52B0-A3D7-460F0E9F57D3}"/>
              </a:ext>
            </a:extLst>
          </p:cNvPr>
          <p:cNvSpPr/>
          <p:nvPr/>
        </p:nvSpPr>
        <p:spPr>
          <a:xfrm>
            <a:off x="4398965" y="1367287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24~48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小时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任务需求</a:t>
            </a:r>
          </a:p>
        </p:txBody>
      </p:sp>
      <p:sp>
        <p:nvSpPr>
          <p:cNvPr id="4" name="圆角矩形 139">
            <a:extLst>
              <a:ext uri="{FF2B5EF4-FFF2-40B4-BE49-F238E27FC236}">
                <a16:creationId xmlns:a16="http://schemas.microsoft.com/office/drawing/2014/main" id="{81FC900C-6D81-6DA4-121E-F18265DB6684}"/>
              </a:ext>
            </a:extLst>
          </p:cNvPr>
          <p:cNvSpPr/>
          <p:nvPr/>
        </p:nvSpPr>
        <p:spPr>
          <a:xfrm>
            <a:off x="9884936" y="1654293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月台管理</a:t>
            </a:r>
          </a:p>
        </p:txBody>
      </p:sp>
      <p:sp>
        <p:nvSpPr>
          <p:cNvPr id="5" name="圆角矩形 139">
            <a:extLst>
              <a:ext uri="{FF2B5EF4-FFF2-40B4-BE49-F238E27FC236}">
                <a16:creationId xmlns:a16="http://schemas.microsoft.com/office/drawing/2014/main" id="{2297E4A8-6564-15A0-2846-7395D5EA7461}"/>
              </a:ext>
            </a:extLst>
          </p:cNvPr>
          <p:cNvSpPr/>
          <p:nvPr/>
        </p:nvSpPr>
        <p:spPr>
          <a:xfrm>
            <a:off x="1106580" y="2281973"/>
            <a:ext cx="1440000" cy="57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预拣配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CA78ADE-CFF6-671D-6025-1C7FBA59F246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1826580" y="1912778"/>
            <a:ext cx="0" cy="369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圆角矩形 139">
            <a:extLst>
              <a:ext uri="{FF2B5EF4-FFF2-40B4-BE49-F238E27FC236}">
                <a16:creationId xmlns:a16="http://schemas.microsoft.com/office/drawing/2014/main" id="{573E8287-BCE2-BA31-EEA7-5D26476CCA41}"/>
              </a:ext>
            </a:extLst>
          </p:cNvPr>
          <p:cNvSpPr/>
          <p:nvPr/>
        </p:nvSpPr>
        <p:spPr>
          <a:xfrm>
            <a:off x="9884936" y="3724768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任务管理</a:t>
            </a:r>
          </a:p>
        </p:txBody>
      </p:sp>
      <p:sp>
        <p:nvSpPr>
          <p:cNvPr id="13" name="圆角矩形 139">
            <a:extLst>
              <a:ext uri="{FF2B5EF4-FFF2-40B4-BE49-F238E27FC236}">
                <a16:creationId xmlns:a16="http://schemas.microsoft.com/office/drawing/2014/main" id="{67DB6059-422E-6F9F-74DB-71C9B20B77BA}"/>
              </a:ext>
            </a:extLst>
          </p:cNvPr>
          <p:cNvSpPr/>
          <p:nvPr/>
        </p:nvSpPr>
        <p:spPr>
          <a:xfrm>
            <a:off x="9884936" y="4758611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人员管理</a:t>
            </a:r>
          </a:p>
        </p:txBody>
      </p:sp>
      <p:sp>
        <p:nvSpPr>
          <p:cNvPr id="14" name="圆角矩形 139">
            <a:extLst>
              <a:ext uri="{FF2B5EF4-FFF2-40B4-BE49-F238E27FC236}">
                <a16:creationId xmlns:a16="http://schemas.microsoft.com/office/drawing/2014/main" id="{9E570CD3-B2ED-BF82-DC6F-2776B7F78678}"/>
              </a:ext>
            </a:extLst>
          </p:cNvPr>
          <p:cNvSpPr/>
          <p:nvPr/>
        </p:nvSpPr>
        <p:spPr>
          <a:xfrm>
            <a:off x="9884936" y="5762577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设备任务</a:t>
            </a:r>
          </a:p>
        </p:txBody>
      </p:sp>
      <p:sp>
        <p:nvSpPr>
          <p:cNvPr id="15" name="圆角矩形 139">
            <a:extLst>
              <a:ext uri="{FF2B5EF4-FFF2-40B4-BE49-F238E27FC236}">
                <a16:creationId xmlns:a16="http://schemas.microsoft.com/office/drawing/2014/main" id="{C20B2359-6E5D-FD7A-6796-23A134D0330D}"/>
              </a:ext>
            </a:extLst>
          </p:cNvPr>
          <p:cNvSpPr/>
          <p:nvPr/>
        </p:nvSpPr>
        <p:spPr>
          <a:xfrm>
            <a:off x="9884936" y="2703825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车辆管理</a:t>
            </a: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4B4D60FF-E818-61D4-272A-51F541289903}"/>
              </a:ext>
            </a:extLst>
          </p:cNvPr>
          <p:cNvCxnSpPr>
            <a:cxnSpLocks/>
            <a:stCxn id="62" idx="1"/>
            <a:endCxn id="4" idx="1"/>
          </p:cNvCxnSpPr>
          <p:nvPr/>
        </p:nvCxnSpPr>
        <p:spPr>
          <a:xfrm rot="10800000" flipH="1">
            <a:off x="8445419" y="1942293"/>
            <a:ext cx="1439516" cy="1764587"/>
          </a:xfrm>
          <a:prstGeom prst="bentConnector3">
            <a:avLst>
              <a:gd name="adj1" fmla="val 4908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931AED45-4A53-E47B-B921-6DBD1D34D8FC}"/>
              </a:ext>
            </a:extLst>
          </p:cNvPr>
          <p:cNvCxnSpPr>
            <a:cxnSpLocks/>
            <a:stCxn id="62" idx="1"/>
            <a:endCxn id="14" idx="1"/>
          </p:cNvCxnSpPr>
          <p:nvPr/>
        </p:nvCxnSpPr>
        <p:spPr>
          <a:xfrm rot="10800000" flipH="1" flipV="1">
            <a:off x="8445419" y="3706880"/>
            <a:ext cx="1439516" cy="2343697"/>
          </a:xfrm>
          <a:prstGeom prst="bentConnector3">
            <a:avLst>
              <a:gd name="adj1" fmla="val 4824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37A8B6EF-26A9-3571-87A0-E11F55F6BBA8}"/>
              </a:ext>
            </a:extLst>
          </p:cNvPr>
          <p:cNvCxnSpPr>
            <a:cxnSpLocks/>
            <a:stCxn id="62" idx="1"/>
            <a:endCxn id="13" idx="1"/>
          </p:cNvCxnSpPr>
          <p:nvPr/>
        </p:nvCxnSpPr>
        <p:spPr>
          <a:xfrm rot="10800000" flipH="1" flipV="1">
            <a:off x="8445419" y="3706880"/>
            <a:ext cx="1439516" cy="1339731"/>
          </a:xfrm>
          <a:prstGeom prst="bentConnector3">
            <a:avLst>
              <a:gd name="adj1" fmla="val 48817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B754D030-FE7C-E7CC-5C36-E2690651699C}"/>
              </a:ext>
            </a:extLst>
          </p:cNvPr>
          <p:cNvCxnSpPr>
            <a:cxnSpLocks/>
            <a:stCxn id="62" idx="1"/>
            <a:endCxn id="15" idx="1"/>
          </p:cNvCxnSpPr>
          <p:nvPr/>
        </p:nvCxnSpPr>
        <p:spPr>
          <a:xfrm rot="10800000" flipH="1">
            <a:off x="8445419" y="2991827"/>
            <a:ext cx="1439516" cy="715055"/>
          </a:xfrm>
          <a:prstGeom prst="bentConnector3">
            <a:avLst>
              <a:gd name="adj1" fmla="val 48817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圆角矩形 139">
            <a:extLst>
              <a:ext uri="{FF2B5EF4-FFF2-40B4-BE49-F238E27FC236}">
                <a16:creationId xmlns:a16="http://schemas.microsoft.com/office/drawing/2014/main" id="{36A36765-C549-8EAF-F6D1-7E7ACC969E4F}"/>
              </a:ext>
            </a:extLst>
          </p:cNvPr>
          <p:cNvSpPr/>
          <p:nvPr/>
        </p:nvSpPr>
        <p:spPr>
          <a:xfrm>
            <a:off x="1106580" y="3153751"/>
            <a:ext cx="1440000" cy="576000"/>
          </a:xfrm>
          <a:prstGeom prst="round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厂内领用</a:t>
            </a:r>
          </a:p>
        </p:txBody>
      </p:sp>
      <p:sp>
        <p:nvSpPr>
          <p:cNvPr id="49" name="圆角矩形 139">
            <a:extLst>
              <a:ext uri="{FF2B5EF4-FFF2-40B4-BE49-F238E27FC236}">
                <a16:creationId xmlns:a16="http://schemas.microsoft.com/office/drawing/2014/main" id="{1AAEEDF6-D383-C8D9-18AF-CE8A3FE23572}"/>
              </a:ext>
            </a:extLst>
          </p:cNvPr>
          <p:cNvSpPr/>
          <p:nvPr/>
        </p:nvSpPr>
        <p:spPr>
          <a:xfrm>
            <a:off x="1106580" y="4053691"/>
            <a:ext cx="1440000" cy="54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下发</a:t>
            </a:r>
            <a:endParaRPr lang="en-US" altLang="zh-C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下架任务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6539D57-0125-4604-99E3-9B0CC04D3AD9}"/>
              </a:ext>
            </a:extLst>
          </p:cNvPr>
          <p:cNvSpPr/>
          <p:nvPr/>
        </p:nvSpPr>
        <p:spPr>
          <a:xfrm>
            <a:off x="613783" y="4885896"/>
            <a:ext cx="2160000" cy="172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endParaRPr lang="en-US" altLang="zh-CN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</a:p>
        </p:txBody>
      </p:sp>
      <p:sp>
        <p:nvSpPr>
          <p:cNvPr id="65" name="圆角矩形 139">
            <a:extLst>
              <a:ext uri="{FF2B5EF4-FFF2-40B4-BE49-F238E27FC236}">
                <a16:creationId xmlns:a16="http://schemas.microsoft.com/office/drawing/2014/main" id="{858ABEC6-F01B-6891-938E-EF0FCEDE4552}"/>
              </a:ext>
            </a:extLst>
          </p:cNvPr>
          <p:cNvSpPr/>
          <p:nvPr/>
        </p:nvSpPr>
        <p:spPr>
          <a:xfrm>
            <a:off x="1106580" y="5031316"/>
            <a:ext cx="1440000" cy="57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决定</a:t>
            </a:r>
            <a:endParaRPr lang="en-US" altLang="zh-C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卸货地点</a:t>
            </a:r>
          </a:p>
        </p:txBody>
      </p:sp>
      <p:sp>
        <p:nvSpPr>
          <p:cNvPr id="66" name="圆角矩形 139">
            <a:extLst>
              <a:ext uri="{FF2B5EF4-FFF2-40B4-BE49-F238E27FC236}">
                <a16:creationId xmlns:a16="http://schemas.microsoft.com/office/drawing/2014/main" id="{3709C6B2-C573-001C-9ED8-9263EB8CE973}"/>
              </a:ext>
            </a:extLst>
          </p:cNvPr>
          <p:cNvSpPr/>
          <p:nvPr/>
        </p:nvSpPr>
        <p:spPr>
          <a:xfrm>
            <a:off x="1106580" y="5945019"/>
            <a:ext cx="1440000" cy="576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供应商</a:t>
            </a:r>
            <a:endParaRPr lang="en-US" altLang="zh-C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送货预约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DBB914F-BDCA-6FA8-B6DD-81BC2BC7BC4E}"/>
              </a:ext>
            </a:extLst>
          </p:cNvPr>
          <p:cNvCxnSpPr>
            <a:cxnSpLocks/>
            <a:stCxn id="65" idx="2"/>
            <a:endCxn id="66" idx="0"/>
          </p:cNvCxnSpPr>
          <p:nvPr/>
        </p:nvCxnSpPr>
        <p:spPr>
          <a:xfrm>
            <a:off x="1826580" y="5607317"/>
            <a:ext cx="0" cy="337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8D170A2-3C09-BC5C-335C-4A3385092DF6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1826580" y="3729751"/>
            <a:ext cx="0" cy="323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圆角矩形 139">
            <a:extLst>
              <a:ext uri="{FF2B5EF4-FFF2-40B4-BE49-F238E27FC236}">
                <a16:creationId xmlns:a16="http://schemas.microsoft.com/office/drawing/2014/main" id="{88D67179-7FFA-B000-D4CF-D081B21DD5D4}"/>
              </a:ext>
            </a:extLst>
          </p:cNvPr>
          <p:cNvSpPr/>
          <p:nvPr/>
        </p:nvSpPr>
        <p:spPr>
          <a:xfrm>
            <a:off x="4398965" y="3027508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制定每日工作计划</a:t>
            </a:r>
          </a:p>
        </p:txBody>
      </p:sp>
      <p:sp>
        <p:nvSpPr>
          <p:cNvPr id="31" name="圆角矩形 139">
            <a:extLst>
              <a:ext uri="{FF2B5EF4-FFF2-40B4-BE49-F238E27FC236}">
                <a16:creationId xmlns:a16="http://schemas.microsoft.com/office/drawing/2014/main" id="{57E7E931-AD64-ACE7-3C2A-9B77B72FBB26}"/>
              </a:ext>
            </a:extLst>
          </p:cNvPr>
          <p:cNvSpPr/>
          <p:nvPr/>
        </p:nvSpPr>
        <p:spPr>
          <a:xfrm>
            <a:off x="4398965" y="5067925"/>
            <a:ext cx="1440000" cy="576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时时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任务执行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C21B13B-7A83-DA4B-19B3-E598BD46AE7A}"/>
              </a:ext>
            </a:extLst>
          </p:cNvPr>
          <p:cNvSpPr/>
          <p:nvPr/>
        </p:nvSpPr>
        <p:spPr>
          <a:xfrm>
            <a:off x="4398965" y="2054113"/>
            <a:ext cx="3360000" cy="79512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867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梳理未来 </a:t>
            </a:r>
            <a:r>
              <a:rPr lang="en-US" altLang="zh-CN" sz="1867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24-48</a:t>
            </a:r>
            <a:r>
              <a:rPr lang="zh-CN" altLang="en-US" sz="1867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小时仓储需求，作为制定任务计划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93BC02-5D41-DBF7-7D0D-3137649E4351}"/>
              </a:ext>
            </a:extLst>
          </p:cNvPr>
          <p:cNvSpPr/>
          <p:nvPr/>
        </p:nvSpPr>
        <p:spPr>
          <a:xfrm>
            <a:off x="4398965" y="3659425"/>
            <a:ext cx="3360000" cy="122709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867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各班可依据资源状态制定工作计划，如成品可发起备货需求，由系统提供最佳备货任务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173454D-59AB-4FBB-8F38-ADB2E1CC24E6}"/>
              </a:ext>
            </a:extLst>
          </p:cNvPr>
          <p:cNvSpPr/>
          <p:nvPr/>
        </p:nvSpPr>
        <p:spPr>
          <a:xfrm>
            <a:off x="4398965" y="5762910"/>
            <a:ext cx="3360000" cy="79512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867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各业务根据车辆实际进厂时间，安排与执行仓储任务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AA84D36-9493-BE5B-AF94-E9763F4F4257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3438014" y="3706880"/>
            <a:ext cx="71566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7B80C99-B04E-E985-9217-3AF09BC2C711}"/>
              </a:ext>
            </a:extLst>
          </p:cNvPr>
          <p:cNvCxnSpPr>
            <a:stCxn id="62" idx="1"/>
            <a:endCxn id="12" idx="1"/>
          </p:cNvCxnSpPr>
          <p:nvPr/>
        </p:nvCxnSpPr>
        <p:spPr>
          <a:xfrm rot="10800000" flipH="1" flipV="1">
            <a:off x="8445419" y="3706880"/>
            <a:ext cx="1439516" cy="305888"/>
          </a:xfrm>
          <a:prstGeom prst="bentConnector3">
            <a:avLst>
              <a:gd name="adj1" fmla="val 47971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591E3EC-5F0D-2582-397F-9ED0C315A2A1}"/>
              </a:ext>
            </a:extLst>
          </p:cNvPr>
          <p:cNvCxnSpPr>
            <a:cxnSpLocks/>
            <a:stCxn id="41" idx="3"/>
            <a:endCxn id="62" idx="1"/>
          </p:cNvCxnSpPr>
          <p:nvPr/>
        </p:nvCxnSpPr>
        <p:spPr>
          <a:xfrm>
            <a:off x="7849684" y="3706880"/>
            <a:ext cx="59573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32B0F780-6A2E-2400-661B-34137D573CDF}"/>
              </a:ext>
            </a:extLst>
          </p:cNvPr>
          <p:cNvCxnSpPr>
            <a:cxnSpLocks/>
            <a:stCxn id="47" idx="3"/>
            <a:endCxn id="41" idx="1"/>
          </p:cNvCxnSpPr>
          <p:nvPr/>
        </p:nvCxnSpPr>
        <p:spPr>
          <a:xfrm>
            <a:off x="2773783" y="2067619"/>
            <a:ext cx="1379900" cy="1639261"/>
          </a:xfrm>
          <a:prstGeom prst="bentConnector3">
            <a:avLst>
              <a:gd name="adj1" fmla="val 2566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1E9E1506-3AB4-C7D1-D38B-A7335EAE0EDB}"/>
              </a:ext>
            </a:extLst>
          </p:cNvPr>
          <p:cNvCxnSpPr>
            <a:cxnSpLocks/>
            <a:stCxn id="54" idx="3"/>
            <a:endCxn id="41" idx="1"/>
          </p:cNvCxnSpPr>
          <p:nvPr/>
        </p:nvCxnSpPr>
        <p:spPr>
          <a:xfrm flipV="1">
            <a:off x="2773783" y="3706880"/>
            <a:ext cx="1379900" cy="188829"/>
          </a:xfrm>
          <a:prstGeom prst="bentConnector3">
            <a:avLst>
              <a:gd name="adj1" fmla="val 2602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9539163F-80E9-0713-07D9-5312047FE481}"/>
              </a:ext>
            </a:extLst>
          </p:cNvPr>
          <p:cNvCxnSpPr>
            <a:cxnSpLocks/>
            <a:stCxn id="64" idx="3"/>
            <a:endCxn id="41" idx="1"/>
          </p:cNvCxnSpPr>
          <p:nvPr/>
        </p:nvCxnSpPr>
        <p:spPr>
          <a:xfrm flipV="1">
            <a:off x="2773783" y="3706880"/>
            <a:ext cx="1379900" cy="2043016"/>
          </a:xfrm>
          <a:prstGeom prst="bentConnector3">
            <a:avLst>
              <a:gd name="adj1" fmla="val 2534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52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4EFB-2CBE-AF96-D2D4-B09C6014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CAB805A-B920-CDCB-43BC-41316814A366}"/>
              </a:ext>
            </a:extLst>
          </p:cNvPr>
          <p:cNvSpPr/>
          <p:nvPr/>
        </p:nvSpPr>
        <p:spPr>
          <a:xfrm>
            <a:off x="980663" y="793247"/>
            <a:ext cx="10131837" cy="1380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二、智慧物流园</a:t>
            </a:r>
            <a:r>
              <a:rPr lang="en-US" altLang="zh-CN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资材业务与功能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4DE60767-6312-79B5-9CBB-4B53683A1D5A}"/>
              </a:ext>
            </a:extLst>
          </p:cNvPr>
          <p:cNvSpPr/>
          <p:nvPr/>
        </p:nvSpPr>
        <p:spPr>
          <a:xfrm>
            <a:off x="2351615" y="1932942"/>
            <a:ext cx="8859722" cy="43281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厂内缴库业务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无人值守场景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智能柜运用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让售、固危废、委外加工物资发货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协同外部联动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475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BC7D97D-24B7-8F87-955A-A5BB161AA958}"/>
              </a:ext>
            </a:extLst>
          </p:cNvPr>
          <p:cNvSpPr txBox="1"/>
          <p:nvPr/>
        </p:nvSpPr>
        <p:spPr>
          <a:xfrm>
            <a:off x="4070452" y="104962"/>
            <a:ext cx="3421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资材业务场景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05267C3-7DEA-5F63-33E8-760D3E8A763E}"/>
              </a:ext>
            </a:extLst>
          </p:cNvPr>
          <p:cNvCxnSpPr>
            <a:cxnSpLocks/>
          </p:cNvCxnSpPr>
          <p:nvPr/>
        </p:nvCxnSpPr>
        <p:spPr>
          <a:xfrm>
            <a:off x="7756642" y="2673783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圆角矩形 19">
            <a:extLst>
              <a:ext uri="{FF2B5EF4-FFF2-40B4-BE49-F238E27FC236}">
                <a16:creationId xmlns:a16="http://schemas.microsoft.com/office/drawing/2014/main" id="{16FB34D1-EA91-615F-CC4F-76B1D73BC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88" y="989926"/>
            <a:ext cx="2061027" cy="1430002"/>
          </a:xfrm>
          <a:prstGeom prst="roundRect">
            <a:avLst>
              <a:gd name="adj" fmla="val 0"/>
            </a:avLst>
          </a:prstGeom>
          <a:solidFill>
            <a:srgbClr val="A57331">
              <a:alpha val="50000"/>
            </a:srgbClr>
          </a:solidFill>
          <a:ln w="25400" algn="ctr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en-US" sz="1015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5E7B4CB-CA21-F6B0-0F7D-3D75074F1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57" y="1084070"/>
            <a:ext cx="2046603" cy="1295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采购收货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码头转储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委外加工物回厂</a:t>
            </a:r>
            <a:endParaRPr lang="zh-CN" altLang="en-US" dirty="0">
              <a:solidFill>
                <a:srgbClr val="FFFF00"/>
              </a:solidFill>
              <a:ea typeface="微软雅黑" pitchFamily="34" charset="-122"/>
            </a:endParaRPr>
          </a:p>
        </p:txBody>
      </p:sp>
      <p:sp>
        <p:nvSpPr>
          <p:cNvPr id="9" name="AutoShape 52">
            <a:extLst>
              <a:ext uri="{FF2B5EF4-FFF2-40B4-BE49-F238E27FC236}">
                <a16:creationId xmlns:a16="http://schemas.microsoft.com/office/drawing/2014/main" id="{52E13125-A6F2-08AF-CB24-EA0A7937D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50" y="713805"/>
            <a:ext cx="1715844" cy="378619"/>
          </a:xfrm>
          <a:prstGeom prst="hexagon">
            <a:avLst>
              <a:gd name="adj" fmla="val 0"/>
              <a:gd name="vf" fmla="val 115470"/>
            </a:avLst>
          </a:prstGeom>
          <a:solidFill>
            <a:srgbClr val="A57331"/>
          </a:solidFill>
          <a:ln w="2540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015">
              <a:solidFill>
                <a:prstClr val="black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B10321A-3689-1FB2-F234-124D1342C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62" y="641926"/>
            <a:ext cx="1566207" cy="477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dirty="0">
                <a:solidFill>
                  <a:schemeClr val="bg1"/>
                </a:solidFill>
                <a:ea typeface="微软雅黑" pitchFamily="34" charset="-122"/>
              </a:rPr>
              <a:t>厂外到厂内</a:t>
            </a:r>
            <a:endParaRPr lang="zh-CN" altLang="zh-CN" sz="2100" dirty="0">
              <a:solidFill>
                <a:schemeClr val="bg1"/>
              </a:solidFill>
              <a:ea typeface="微软雅黑" pitchFamily="34" charset="-122"/>
            </a:endParaRPr>
          </a:p>
        </p:txBody>
      </p:sp>
      <p:sp>
        <p:nvSpPr>
          <p:cNvPr id="11" name="圆角矩形 19">
            <a:extLst>
              <a:ext uri="{FF2B5EF4-FFF2-40B4-BE49-F238E27FC236}">
                <a16:creationId xmlns:a16="http://schemas.microsoft.com/office/drawing/2014/main" id="{9EE63D29-234A-B386-4BAF-429873C86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1" y="2771885"/>
            <a:ext cx="2061027" cy="2217821"/>
          </a:xfrm>
          <a:prstGeom prst="roundRect">
            <a:avLst>
              <a:gd name="adj" fmla="val 0"/>
            </a:avLst>
          </a:prstGeom>
          <a:solidFill>
            <a:srgbClr val="A57331">
              <a:alpha val="50000"/>
            </a:srgbClr>
          </a:solidFill>
          <a:ln w="25400" algn="ctr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en-US" sz="1015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94D6B8A-1608-C150-B2FD-7D0881F9E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68" y="2862072"/>
            <a:ext cx="2013221" cy="17106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让售发货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委外发货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固废发货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退货订单发货</a:t>
            </a:r>
            <a:endParaRPr lang="zh-CN" altLang="en-US" b="1" dirty="0">
              <a:ea typeface="微软雅黑" pitchFamily="34" charset="-122"/>
            </a:endParaRPr>
          </a:p>
        </p:txBody>
      </p:sp>
      <p:sp>
        <p:nvSpPr>
          <p:cNvPr id="13" name="AutoShape 52">
            <a:extLst>
              <a:ext uri="{FF2B5EF4-FFF2-40B4-BE49-F238E27FC236}">
                <a16:creationId xmlns:a16="http://schemas.microsoft.com/office/drawing/2014/main" id="{9BBF5469-A4B7-D3B2-59E3-97F4595D5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07" y="2491807"/>
            <a:ext cx="1715844" cy="378619"/>
          </a:xfrm>
          <a:prstGeom prst="hexagon">
            <a:avLst>
              <a:gd name="adj" fmla="val 0"/>
              <a:gd name="vf" fmla="val 115470"/>
            </a:avLst>
          </a:prstGeom>
          <a:solidFill>
            <a:srgbClr val="A57331"/>
          </a:solidFill>
          <a:ln w="2540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015">
              <a:solidFill>
                <a:prstClr val="black"/>
              </a:solidFill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E97C0D81-2DF3-53C0-39B3-4BEE6DECF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19" y="2419928"/>
            <a:ext cx="1566207" cy="4769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dirty="0">
                <a:solidFill>
                  <a:schemeClr val="bg1"/>
                </a:solidFill>
                <a:ea typeface="微软雅黑" pitchFamily="34" charset="-122"/>
              </a:rPr>
              <a:t>厂内</a:t>
            </a:r>
            <a:r>
              <a:rPr lang="zh-CN" altLang="en-US" sz="2100">
                <a:solidFill>
                  <a:schemeClr val="bg1"/>
                </a:solidFill>
                <a:ea typeface="微软雅黑" pitchFamily="34" charset="-122"/>
              </a:rPr>
              <a:t>到厂外</a:t>
            </a:r>
            <a:endParaRPr lang="zh-CN" altLang="zh-CN" sz="2100" dirty="0">
              <a:solidFill>
                <a:schemeClr val="bg1"/>
              </a:solidFill>
              <a:ea typeface="微软雅黑" pitchFamily="34" charset="-122"/>
            </a:endParaRPr>
          </a:p>
        </p:txBody>
      </p:sp>
      <p:sp>
        <p:nvSpPr>
          <p:cNvPr id="15" name="圆角矩形 19">
            <a:extLst>
              <a:ext uri="{FF2B5EF4-FFF2-40B4-BE49-F238E27FC236}">
                <a16:creationId xmlns:a16="http://schemas.microsoft.com/office/drawing/2014/main" id="{2A5A2CC6-4171-8693-41A7-7E32401F6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57" y="5377198"/>
            <a:ext cx="2061027" cy="1380092"/>
          </a:xfrm>
          <a:prstGeom prst="roundRect">
            <a:avLst>
              <a:gd name="adj" fmla="val 0"/>
            </a:avLst>
          </a:prstGeom>
          <a:solidFill>
            <a:srgbClr val="A57331">
              <a:alpha val="50000"/>
            </a:srgbClr>
          </a:solidFill>
          <a:ln w="25400" algn="ctr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en-US" sz="1015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C51B7B64-CD72-D27B-9CF7-1A467270C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07" y="5467384"/>
            <a:ext cx="1290436" cy="12899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领用发货厂内转储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缴库作业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AutoShape 52">
            <a:extLst>
              <a:ext uri="{FF2B5EF4-FFF2-40B4-BE49-F238E27FC236}">
                <a16:creationId xmlns:a16="http://schemas.microsoft.com/office/drawing/2014/main" id="{4766789B-0392-487E-F92D-C1A92421E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363" y="5097119"/>
            <a:ext cx="1715844" cy="378619"/>
          </a:xfrm>
          <a:prstGeom prst="hexagon">
            <a:avLst>
              <a:gd name="adj" fmla="val 0"/>
              <a:gd name="vf" fmla="val 115470"/>
            </a:avLst>
          </a:prstGeom>
          <a:solidFill>
            <a:srgbClr val="A57331"/>
          </a:solidFill>
          <a:ln w="25400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 sz="1015">
              <a:solidFill>
                <a:prstClr val="black"/>
              </a:solidFill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D4D86-CE27-941A-069A-C19DF5034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75" y="5025240"/>
            <a:ext cx="1566207" cy="477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100" dirty="0">
                <a:solidFill>
                  <a:schemeClr val="bg1"/>
                </a:solidFill>
                <a:ea typeface="微软雅黑" pitchFamily="34" charset="-122"/>
              </a:rPr>
              <a:t>厂内到厂内</a:t>
            </a:r>
            <a:endParaRPr lang="zh-CN" altLang="zh-CN" sz="2100" dirty="0">
              <a:solidFill>
                <a:schemeClr val="bg1"/>
              </a:solidFill>
              <a:ea typeface="微软雅黑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B3509D2-9075-8D7C-6D04-E86714BCFEB1}"/>
              </a:ext>
            </a:extLst>
          </p:cNvPr>
          <p:cNvCxnSpPr>
            <a:cxnSpLocks/>
          </p:cNvCxnSpPr>
          <p:nvPr/>
        </p:nvCxnSpPr>
        <p:spPr>
          <a:xfrm>
            <a:off x="3323771" y="885371"/>
            <a:ext cx="1" cy="43579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4529E4E-948C-F700-D417-030F9193FED8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239694" y="885371"/>
            <a:ext cx="1084078" cy="17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64B7186-6561-5AE7-E513-3BD904BA1FE3}"/>
              </a:ext>
            </a:extLst>
          </p:cNvPr>
          <p:cNvCxnSpPr>
            <a:cxnSpLocks/>
          </p:cNvCxnSpPr>
          <p:nvPr/>
        </p:nvCxnSpPr>
        <p:spPr>
          <a:xfrm flipH="1">
            <a:off x="2169227" y="5243342"/>
            <a:ext cx="3175374" cy="17744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B64C37E-995D-FB65-F89C-84694903D21B}"/>
              </a:ext>
            </a:extLst>
          </p:cNvPr>
          <p:cNvCxnSpPr>
            <a:cxnSpLocks/>
          </p:cNvCxnSpPr>
          <p:nvPr/>
        </p:nvCxnSpPr>
        <p:spPr>
          <a:xfrm flipH="1">
            <a:off x="2239693" y="2649831"/>
            <a:ext cx="1084078" cy="17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614621AD-C3B9-F5DD-8825-1BBC44CC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679" y="4269263"/>
            <a:ext cx="1072989" cy="603556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AC6654-9F75-E283-325C-A75EDB8D7F66}"/>
              </a:ext>
            </a:extLst>
          </p:cNvPr>
          <p:cNvCxnSpPr>
            <a:cxnSpLocks/>
          </p:cNvCxnSpPr>
          <p:nvPr/>
        </p:nvCxnSpPr>
        <p:spPr>
          <a:xfrm>
            <a:off x="3497971" y="2665962"/>
            <a:ext cx="637536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0951B44-BC4D-C26B-772A-B02DF3D44117}"/>
              </a:ext>
            </a:extLst>
          </p:cNvPr>
          <p:cNvGrpSpPr>
            <a:grpSpLocks noChangeAspect="1"/>
          </p:cNvGrpSpPr>
          <p:nvPr/>
        </p:nvGrpSpPr>
        <p:grpSpPr>
          <a:xfrm>
            <a:off x="4334375" y="4512819"/>
            <a:ext cx="1030091" cy="360000"/>
            <a:chOff x="2576513" y="1539876"/>
            <a:chExt cx="7038976" cy="3490912"/>
          </a:xfrm>
          <a:solidFill>
            <a:srgbClr val="6699FF"/>
          </a:solidFill>
        </p:grpSpPr>
        <p:sp>
          <p:nvSpPr>
            <p:cNvPr id="26" name="î$liḋè">
              <a:extLst>
                <a:ext uri="{FF2B5EF4-FFF2-40B4-BE49-F238E27FC236}">
                  <a16:creationId xmlns:a16="http://schemas.microsoft.com/office/drawing/2014/main" id="{158A52F6-4F96-23F4-D015-FCE8AA0B6F7C}"/>
                </a:ext>
              </a:extLst>
            </p:cNvPr>
            <p:cNvSpPr/>
            <p:nvPr/>
          </p:nvSpPr>
          <p:spPr bwMode="auto">
            <a:xfrm>
              <a:off x="2847976" y="3967163"/>
              <a:ext cx="6767513" cy="460375"/>
            </a:xfrm>
            <a:custGeom>
              <a:avLst/>
              <a:gdLst>
                <a:gd name="T0" fmla="*/ 0 w 473"/>
                <a:gd name="T1" fmla="*/ 0 h 32"/>
                <a:gd name="T2" fmla="*/ 465 w 473"/>
                <a:gd name="T3" fmla="*/ 0 h 32"/>
                <a:gd name="T4" fmla="*/ 473 w 473"/>
                <a:gd name="T5" fmla="*/ 8 h 32"/>
                <a:gd name="T6" fmla="*/ 473 w 473"/>
                <a:gd name="T7" fmla="*/ 19 h 32"/>
                <a:gd name="T8" fmla="*/ 460 w 473"/>
                <a:gd name="T9" fmla="*/ 32 h 32"/>
                <a:gd name="T10" fmla="*/ 0 w 473"/>
                <a:gd name="T11" fmla="*/ 32 h 32"/>
                <a:gd name="T12" fmla="*/ 0 w 473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3" h="32">
                  <a:moveTo>
                    <a:pt x="0" y="0"/>
                  </a:moveTo>
                  <a:cubicBezTo>
                    <a:pt x="465" y="0"/>
                    <a:pt x="465" y="0"/>
                    <a:pt x="465" y="0"/>
                  </a:cubicBezTo>
                  <a:cubicBezTo>
                    <a:pt x="469" y="0"/>
                    <a:pt x="473" y="4"/>
                    <a:pt x="473" y="8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73" y="26"/>
                    <a:pt x="467" y="32"/>
                    <a:pt x="460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iślîḍé">
              <a:extLst>
                <a:ext uri="{FF2B5EF4-FFF2-40B4-BE49-F238E27FC236}">
                  <a16:creationId xmlns:a16="http://schemas.microsoft.com/office/drawing/2014/main" id="{28B78712-0227-3E3F-EB8D-9A7E26843E9F}"/>
                </a:ext>
              </a:extLst>
            </p:cNvPr>
            <p:cNvSpPr/>
            <p:nvPr/>
          </p:nvSpPr>
          <p:spPr bwMode="auto">
            <a:xfrm>
              <a:off x="2576513" y="3565526"/>
              <a:ext cx="6808788" cy="674688"/>
            </a:xfrm>
            <a:custGeom>
              <a:avLst/>
              <a:gdLst>
                <a:gd name="T0" fmla="*/ 4289 w 4289"/>
                <a:gd name="T1" fmla="*/ 163 h 425"/>
                <a:gd name="T2" fmla="*/ 4289 w 4289"/>
                <a:gd name="T3" fmla="*/ 425 h 425"/>
                <a:gd name="T4" fmla="*/ 0 w 4289"/>
                <a:gd name="T5" fmla="*/ 425 h 425"/>
                <a:gd name="T6" fmla="*/ 0 w 4289"/>
                <a:gd name="T7" fmla="*/ 163 h 425"/>
                <a:gd name="T8" fmla="*/ 3145 w 4289"/>
                <a:gd name="T9" fmla="*/ 163 h 425"/>
                <a:gd name="T10" fmla="*/ 3677 w 4289"/>
                <a:gd name="T11" fmla="*/ 0 h 425"/>
                <a:gd name="T12" fmla="*/ 4064 w 4289"/>
                <a:gd name="T13" fmla="*/ 109 h 425"/>
                <a:gd name="T14" fmla="*/ 4289 w 4289"/>
                <a:gd name="T15" fmla="*/ 163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89" h="425">
                  <a:moveTo>
                    <a:pt x="4289" y="163"/>
                  </a:moveTo>
                  <a:lnTo>
                    <a:pt x="4289" y="425"/>
                  </a:lnTo>
                  <a:lnTo>
                    <a:pt x="0" y="425"/>
                  </a:lnTo>
                  <a:lnTo>
                    <a:pt x="0" y="163"/>
                  </a:lnTo>
                  <a:lnTo>
                    <a:pt x="3145" y="163"/>
                  </a:lnTo>
                  <a:lnTo>
                    <a:pt x="3677" y="0"/>
                  </a:lnTo>
                  <a:lnTo>
                    <a:pt x="4064" y="109"/>
                  </a:lnTo>
                  <a:lnTo>
                    <a:pt x="4289" y="1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ïṧḻîḍé">
              <a:extLst>
                <a:ext uri="{FF2B5EF4-FFF2-40B4-BE49-F238E27FC236}">
                  <a16:creationId xmlns:a16="http://schemas.microsoft.com/office/drawing/2014/main" id="{DA669E17-5952-72E1-403B-1F828230D12D}"/>
                </a:ext>
              </a:extLst>
            </p:cNvPr>
            <p:cNvSpPr/>
            <p:nvPr/>
          </p:nvSpPr>
          <p:spPr bwMode="auto">
            <a:xfrm>
              <a:off x="2576513" y="3565526"/>
              <a:ext cx="6451600" cy="517525"/>
            </a:xfrm>
            <a:custGeom>
              <a:avLst/>
              <a:gdLst>
                <a:gd name="T0" fmla="*/ 4064 w 4064"/>
                <a:gd name="T1" fmla="*/ 109 h 326"/>
                <a:gd name="T2" fmla="*/ 4064 w 4064"/>
                <a:gd name="T3" fmla="*/ 326 h 326"/>
                <a:gd name="T4" fmla="*/ 0 w 4064"/>
                <a:gd name="T5" fmla="*/ 326 h 326"/>
                <a:gd name="T6" fmla="*/ 0 w 4064"/>
                <a:gd name="T7" fmla="*/ 163 h 326"/>
                <a:gd name="T8" fmla="*/ 3145 w 4064"/>
                <a:gd name="T9" fmla="*/ 163 h 326"/>
                <a:gd name="T10" fmla="*/ 3677 w 4064"/>
                <a:gd name="T11" fmla="*/ 0 h 326"/>
                <a:gd name="T12" fmla="*/ 4064 w 4064"/>
                <a:gd name="T13" fmla="*/ 10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64" h="326">
                  <a:moveTo>
                    <a:pt x="4064" y="109"/>
                  </a:moveTo>
                  <a:lnTo>
                    <a:pt x="4064" y="326"/>
                  </a:lnTo>
                  <a:lnTo>
                    <a:pt x="0" y="326"/>
                  </a:lnTo>
                  <a:lnTo>
                    <a:pt x="0" y="163"/>
                  </a:lnTo>
                  <a:lnTo>
                    <a:pt x="3145" y="163"/>
                  </a:lnTo>
                  <a:lnTo>
                    <a:pt x="3677" y="0"/>
                  </a:lnTo>
                  <a:lnTo>
                    <a:pt x="4064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îṡḷíḋe">
              <a:extLst>
                <a:ext uri="{FF2B5EF4-FFF2-40B4-BE49-F238E27FC236}">
                  <a16:creationId xmlns:a16="http://schemas.microsoft.com/office/drawing/2014/main" id="{3B92E2D2-C5F7-6D26-D837-5313DD645DE2}"/>
                </a:ext>
              </a:extLst>
            </p:cNvPr>
            <p:cNvSpPr/>
            <p:nvPr/>
          </p:nvSpPr>
          <p:spPr bwMode="auto">
            <a:xfrm>
              <a:off x="2890838" y="3910013"/>
              <a:ext cx="4549775" cy="101600"/>
            </a:xfrm>
            <a:custGeom>
              <a:avLst/>
              <a:gdLst>
                <a:gd name="T0" fmla="*/ 315 w 318"/>
                <a:gd name="T1" fmla="*/ 7 h 7"/>
                <a:gd name="T2" fmla="*/ 3 w 318"/>
                <a:gd name="T3" fmla="*/ 7 h 7"/>
                <a:gd name="T4" fmla="*/ 0 w 318"/>
                <a:gd name="T5" fmla="*/ 5 h 7"/>
                <a:gd name="T6" fmla="*/ 0 w 318"/>
                <a:gd name="T7" fmla="*/ 2 h 7"/>
                <a:gd name="T8" fmla="*/ 3 w 318"/>
                <a:gd name="T9" fmla="*/ 0 h 7"/>
                <a:gd name="T10" fmla="*/ 315 w 318"/>
                <a:gd name="T11" fmla="*/ 0 h 7"/>
                <a:gd name="T12" fmla="*/ 318 w 318"/>
                <a:gd name="T13" fmla="*/ 2 h 7"/>
                <a:gd name="T14" fmla="*/ 318 w 318"/>
                <a:gd name="T15" fmla="*/ 5 h 7"/>
                <a:gd name="T16" fmla="*/ 315 w 318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7">
                  <a:moveTo>
                    <a:pt x="315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7" y="0"/>
                    <a:pt x="318" y="1"/>
                    <a:pt x="318" y="2"/>
                  </a:cubicBezTo>
                  <a:cubicBezTo>
                    <a:pt x="318" y="5"/>
                    <a:pt x="318" y="5"/>
                    <a:pt x="318" y="5"/>
                  </a:cubicBezTo>
                  <a:cubicBezTo>
                    <a:pt x="318" y="6"/>
                    <a:pt x="317" y="7"/>
                    <a:pt x="31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îŝļíḋé">
              <a:extLst>
                <a:ext uri="{FF2B5EF4-FFF2-40B4-BE49-F238E27FC236}">
                  <a16:creationId xmlns:a16="http://schemas.microsoft.com/office/drawing/2014/main" id="{07207EB8-835C-6412-379C-FE0C71A83143}"/>
                </a:ext>
              </a:extLst>
            </p:cNvPr>
            <p:cNvSpPr/>
            <p:nvPr/>
          </p:nvSpPr>
          <p:spPr bwMode="auto">
            <a:xfrm>
              <a:off x="2947988" y="4254501"/>
              <a:ext cx="4549775" cy="115888"/>
            </a:xfrm>
            <a:custGeom>
              <a:avLst/>
              <a:gdLst>
                <a:gd name="T0" fmla="*/ 315 w 318"/>
                <a:gd name="T1" fmla="*/ 8 h 8"/>
                <a:gd name="T2" fmla="*/ 3 w 318"/>
                <a:gd name="T3" fmla="*/ 8 h 8"/>
                <a:gd name="T4" fmla="*/ 0 w 318"/>
                <a:gd name="T5" fmla="*/ 5 h 8"/>
                <a:gd name="T6" fmla="*/ 0 w 318"/>
                <a:gd name="T7" fmla="*/ 3 h 8"/>
                <a:gd name="T8" fmla="*/ 3 w 318"/>
                <a:gd name="T9" fmla="*/ 0 h 8"/>
                <a:gd name="T10" fmla="*/ 315 w 318"/>
                <a:gd name="T11" fmla="*/ 0 h 8"/>
                <a:gd name="T12" fmla="*/ 318 w 318"/>
                <a:gd name="T13" fmla="*/ 3 h 8"/>
                <a:gd name="T14" fmla="*/ 318 w 318"/>
                <a:gd name="T15" fmla="*/ 5 h 8"/>
                <a:gd name="T16" fmla="*/ 315 w 31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8">
                  <a:moveTo>
                    <a:pt x="315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7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7" y="0"/>
                    <a:pt x="318" y="1"/>
                    <a:pt x="318" y="3"/>
                  </a:cubicBezTo>
                  <a:cubicBezTo>
                    <a:pt x="318" y="5"/>
                    <a:pt x="318" y="5"/>
                    <a:pt x="318" y="5"/>
                  </a:cubicBezTo>
                  <a:cubicBezTo>
                    <a:pt x="318" y="7"/>
                    <a:pt x="317" y="8"/>
                    <a:pt x="31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iṡľîḑê">
              <a:extLst>
                <a:ext uri="{FF2B5EF4-FFF2-40B4-BE49-F238E27FC236}">
                  <a16:creationId xmlns:a16="http://schemas.microsoft.com/office/drawing/2014/main" id="{0F743743-CB81-E1C1-B351-A47BA7C3BFAD}"/>
                </a:ext>
              </a:extLst>
            </p:cNvPr>
            <p:cNvSpPr/>
            <p:nvPr/>
          </p:nvSpPr>
          <p:spPr bwMode="auto">
            <a:xfrm>
              <a:off x="7569201" y="1539876"/>
              <a:ext cx="1989138" cy="2700338"/>
            </a:xfrm>
            <a:custGeom>
              <a:avLst/>
              <a:gdLst>
                <a:gd name="T0" fmla="*/ 126 w 139"/>
                <a:gd name="T1" fmla="*/ 188 h 188"/>
                <a:gd name="T2" fmla="*/ 99 w 139"/>
                <a:gd name="T3" fmla="*/ 188 h 188"/>
                <a:gd name="T4" fmla="*/ 98 w 139"/>
                <a:gd name="T5" fmla="*/ 182 h 188"/>
                <a:gd name="T6" fmla="*/ 73 w 139"/>
                <a:gd name="T7" fmla="*/ 157 h 188"/>
                <a:gd name="T8" fmla="*/ 48 w 139"/>
                <a:gd name="T9" fmla="*/ 154 h 188"/>
                <a:gd name="T10" fmla="*/ 27 w 139"/>
                <a:gd name="T11" fmla="*/ 157 h 188"/>
                <a:gd name="T12" fmla="*/ 15 w 139"/>
                <a:gd name="T13" fmla="*/ 159 h 188"/>
                <a:gd name="T14" fmla="*/ 0 w 139"/>
                <a:gd name="T15" fmla="*/ 159 h 188"/>
                <a:gd name="T16" fmla="*/ 0 w 139"/>
                <a:gd name="T17" fmla="*/ 14 h 188"/>
                <a:gd name="T18" fmla="*/ 14 w 139"/>
                <a:gd name="T19" fmla="*/ 0 h 188"/>
                <a:gd name="T20" fmla="*/ 65 w 139"/>
                <a:gd name="T21" fmla="*/ 0 h 188"/>
                <a:gd name="T22" fmla="*/ 87 w 139"/>
                <a:gd name="T23" fmla="*/ 4 h 188"/>
                <a:gd name="T24" fmla="*/ 117 w 139"/>
                <a:gd name="T25" fmla="*/ 35 h 188"/>
                <a:gd name="T26" fmla="*/ 137 w 139"/>
                <a:gd name="T27" fmla="*/ 177 h 188"/>
                <a:gd name="T28" fmla="*/ 126 w 139"/>
                <a:gd name="T29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9" h="188">
                  <a:moveTo>
                    <a:pt x="126" y="188"/>
                  </a:moveTo>
                  <a:cubicBezTo>
                    <a:pt x="99" y="188"/>
                    <a:pt x="99" y="188"/>
                    <a:pt x="99" y="188"/>
                  </a:cubicBezTo>
                  <a:cubicBezTo>
                    <a:pt x="99" y="188"/>
                    <a:pt x="99" y="186"/>
                    <a:pt x="98" y="182"/>
                  </a:cubicBezTo>
                  <a:cubicBezTo>
                    <a:pt x="95" y="175"/>
                    <a:pt x="88" y="163"/>
                    <a:pt x="73" y="157"/>
                  </a:cubicBezTo>
                  <a:cubicBezTo>
                    <a:pt x="66" y="154"/>
                    <a:pt x="58" y="153"/>
                    <a:pt x="48" y="154"/>
                  </a:cubicBezTo>
                  <a:cubicBezTo>
                    <a:pt x="42" y="154"/>
                    <a:pt x="35" y="155"/>
                    <a:pt x="27" y="157"/>
                  </a:cubicBezTo>
                  <a:cubicBezTo>
                    <a:pt x="23" y="159"/>
                    <a:pt x="19" y="159"/>
                    <a:pt x="1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3" y="0"/>
                    <a:pt x="80" y="1"/>
                    <a:pt x="87" y="4"/>
                  </a:cubicBezTo>
                  <a:cubicBezTo>
                    <a:pt x="100" y="10"/>
                    <a:pt x="111" y="21"/>
                    <a:pt x="117" y="35"/>
                  </a:cubicBezTo>
                  <a:cubicBezTo>
                    <a:pt x="126" y="60"/>
                    <a:pt x="139" y="104"/>
                    <a:pt x="137" y="177"/>
                  </a:cubicBezTo>
                  <a:cubicBezTo>
                    <a:pt x="137" y="183"/>
                    <a:pt x="132" y="188"/>
                    <a:pt x="126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îṩḷîdé">
              <a:extLst>
                <a:ext uri="{FF2B5EF4-FFF2-40B4-BE49-F238E27FC236}">
                  <a16:creationId xmlns:a16="http://schemas.microsoft.com/office/drawing/2014/main" id="{8BA977B4-26C1-EE28-AE96-3D7D18663AA7}"/>
                </a:ext>
              </a:extLst>
            </p:cNvPr>
            <p:cNvSpPr/>
            <p:nvPr/>
          </p:nvSpPr>
          <p:spPr bwMode="auto">
            <a:xfrm>
              <a:off x="7569201" y="1539876"/>
              <a:ext cx="1858963" cy="2700338"/>
            </a:xfrm>
            <a:custGeom>
              <a:avLst/>
              <a:gdLst>
                <a:gd name="T0" fmla="*/ 127 w 130"/>
                <a:gd name="T1" fmla="*/ 188 h 188"/>
                <a:gd name="T2" fmla="*/ 96 w 130"/>
                <a:gd name="T3" fmla="*/ 188 h 188"/>
                <a:gd name="T4" fmla="*/ 88 w 130"/>
                <a:gd name="T5" fmla="*/ 182 h 188"/>
                <a:gd name="T6" fmla="*/ 88 w 130"/>
                <a:gd name="T7" fmla="*/ 182 h 188"/>
                <a:gd name="T8" fmla="*/ 63 w 130"/>
                <a:gd name="T9" fmla="*/ 157 h 188"/>
                <a:gd name="T10" fmla="*/ 48 w 130"/>
                <a:gd name="T11" fmla="*/ 154 h 188"/>
                <a:gd name="T12" fmla="*/ 48 w 130"/>
                <a:gd name="T13" fmla="*/ 154 h 188"/>
                <a:gd name="T14" fmla="*/ 17 w 130"/>
                <a:gd name="T15" fmla="*/ 157 h 188"/>
                <a:gd name="T16" fmla="*/ 10 w 130"/>
                <a:gd name="T17" fmla="*/ 159 h 188"/>
                <a:gd name="T18" fmla="*/ 5 w 130"/>
                <a:gd name="T19" fmla="*/ 159 h 188"/>
                <a:gd name="T20" fmla="*/ 0 w 130"/>
                <a:gd name="T21" fmla="*/ 159 h 188"/>
                <a:gd name="T22" fmla="*/ 0 w 130"/>
                <a:gd name="T23" fmla="*/ 14 h 188"/>
                <a:gd name="T24" fmla="*/ 14 w 130"/>
                <a:gd name="T25" fmla="*/ 0 h 188"/>
                <a:gd name="T26" fmla="*/ 55 w 130"/>
                <a:gd name="T27" fmla="*/ 0 h 188"/>
                <a:gd name="T28" fmla="*/ 77 w 130"/>
                <a:gd name="T29" fmla="*/ 4 h 188"/>
                <a:gd name="T30" fmla="*/ 107 w 130"/>
                <a:gd name="T31" fmla="*/ 35 h 188"/>
                <a:gd name="T32" fmla="*/ 127 w 130"/>
                <a:gd name="T3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188">
                  <a:moveTo>
                    <a:pt x="127" y="188"/>
                  </a:moveTo>
                  <a:cubicBezTo>
                    <a:pt x="96" y="188"/>
                    <a:pt x="96" y="188"/>
                    <a:pt x="96" y="188"/>
                  </a:cubicBezTo>
                  <a:cubicBezTo>
                    <a:pt x="92" y="188"/>
                    <a:pt x="89" y="186"/>
                    <a:pt x="88" y="182"/>
                  </a:cubicBezTo>
                  <a:cubicBezTo>
                    <a:pt x="88" y="182"/>
                    <a:pt x="88" y="182"/>
                    <a:pt x="88" y="182"/>
                  </a:cubicBezTo>
                  <a:cubicBezTo>
                    <a:pt x="85" y="175"/>
                    <a:pt x="78" y="163"/>
                    <a:pt x="63" y="157"/>
                  </a:cubicBezTo>
                  <a:cubicBezTo>
                    <a:pt x="59" y="155"/>
                    <a:pt x="54" y="154"/>
                    <a:pt x="48" y="154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39" y="153"/>
                    <a:pt x="29" y="154"/>
                    <a:pt x="17" y="157"/>
                  </a:cubicBezTo>
                  <a:cubicBezTo>
                    <a:pt x="15" y="158"/>
                    <a:pt x="12" y="159"/>
                    <a:pt x="10" y="159"/>
                  </a:cubicBezTo>
                  <a:cubicBezTo>
                    <a:pt x="8" y="159"/>
                    <a:pt x="6" y="159"/>
                    <a:pt x="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70" y="1"/>
                    <a:pt x="77" y="4"/>
                  </a:cubicBezTo>
                  <a:cubicBezTo>
                    <a:pt x="90" y="10"/>
                    <a:pt x="101" y="21"/>
                    <a:pt x="107" y="35"/>
                  </a:cubicBezTo>
                  <a:cubicBezTo>
                    <a:pt x="117" y="61"/>
                    <a:pt x="130" y="108"/>
                    <a:pt x="127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iṡliďe">
              <a:extLst>
                <a:ext uri="{FF2B5EF4-FFF2-40B4-BE49-F238E27FC236}">
                  <a16:creationId xmlns:a16="http://schemas.microsoft.com/office/drawing/2014/main" id="{E01D340C-C571-87E8-191B-759333094C30}"/>
                </a:ext>
              </a:extLst>
            </p:cNvPr>
            <p:cNvSpPr/>
            <p:nvPr/>
          </p:nvSpPr>
          <p:spPr bwMode="auto">
            <a:xfrm>
              <a:off x="7712076" y="1539876"/>
              <a:ext cx="1716088" cy="2700338"/>
            </a:xfrm>
            <a:custGeom>
              <a:avLst/>
              <a:gdLst>
                <a:gd name="T0" fmla="*/ 117 w 120"/>
                <a:gd name="T1" fmla="*/ 188 h 188"/>
                <a:gd name="T2" fmla="*/ 89 w 120"/>
                <a:gd name="T3" fmla="*/ 188 h 188"/>
                <a:gd name="T4" fmla="*/ 88 w 120"/>
                <a:gd name="T5" fmla="*/ 182 h 188"/>
                <a:gd name="T6" fmla="*/ 63 w 120"/>
                <a:gd name="T7" fmla="*/ 157 h 188"/>
                <a:gd name="T8" fmla="*/ 48 w 120"/>
                <a:gd name="T9" fmla="*/ 154 h 188"/>
                <a:gd name="T10" fmla="*/ 38 w 120"/>
                <a:gd name="T11" fmla="*/ 154 h 188"/>
                <a:gd name="T12" fmla="*/ 38 w 120"/>
                <a:gd name="T13" fmla="*/ 154 h 188"/>
                <a:gd name="T14" fmla="*/ 17 w 120"/>
                <a:gd name="T15" fmla="*/ 157 h 188"/>
                <a:gd name="T16" fmla="*/ 5 w 120"/>
                <a:gd name="T17" fmla="*/ 159 h 188"/>
                <a:gd name="T18" fmla="*/ 0 w 120"/>
                <a:gd name="T19" fmla="*/ 159 h 188"/>
                <a:gd name="T20" fmla="*/ 0 w 120"/>
                <a:gd name="T21" fmla="*/ 14 h 188"/>
                <a:gd name="T22" fmla="*/ 14 w 120"/>
                <a:gd name="T23" fmla="*/ 0 h 188"/>
                <a:gd name="T24" fmla="*/ 45 w 120"/>
                <a:gd name="T25" fmla="*/ 0 h 188"/>
                <a:gd name="T26" fmla="*/ 67 w 120"/>
                <a:gd name="T27" fmla="*/ 4 h 188"/>
                <a:gd name="T28" fmla="*/ 97 w 120"/>
                <a:gd name="T29" fmla="*/ 35 h 188"/>
                <a:gd name="T30" fmla="*/ 117 w 120"/>
                <a:gd name="T3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0" h="188">
                  <a:moveTo>
                    <a:pt x="117" y="188"/>
                  </a:moveTo>
                  <a:cubicBezTo>
                    <a:pt x="89" y="188"/>
                    <a:pt x="89" y="188"/>
                    <a:pt x="89" y="188"/>
                  </a:cubicBezTo>
                  <a:cubicBezTo>
                    <a:pt x="89" y="188"/>
                    <a:pt x="89" y="186"/>
                    <a:pt x="88" y="182"/>
                  </a:cubicBezTo>
                  <a:cubicBezTo>
                    <a:pt x="85" y="175"/>
                    <a:pt x="78" y="163"/>
                    <a:pt x="63" y="157"/>
                  </a:cubicBezTo>
                  <a:cubicBezTo>
                    <a:pt x="59" y="155"/>
                    <a:pt x="54" y="154"/>
                    <a:pt x="48" y="154"/>
                  </a:cubicBezTo>
                  <a:cubicBezTo>
                    <a:pt x="45" y="153"/>
                    <a:pt x="41" y="153"/>
                    <a:pt x="38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2" y="154"/>
                    <a:pt x="25" y="155"/>
                    <a:pt x="17" y="157"/>
                  </a:cubicBezTo>
                  <a:cubicBezTo>
                    <a:pt x="13" y="159"/>
                    <a:pt x="9" y="159"/>
                    <a:pt x="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3" y="0"/>
                    <a:pt x="60" y="1"/>
                    <a:pt x="67" y="4"/>
                  </a:cubicBezTo>
                  <a:cubicBezTo>
                    <a:pt x="80" y="10"/>
                    <a:pt x="91" y="21"/>
                    <a:pt x="97" y="35"/>
                  </a:cubicBezTo>
                  <a:cubicBezTo>
                    <a:pt x="107" y="61"/>
                    <a:pt x="120" y="108"/>
                    <a:pt x="117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íSļîďé">
              <a:extLst>
                <a:ext uri="{FF2B5EF4-FFF2-40B4-BE49-F238E27FC236}">
                  <a16:creationId xmlns:a16="http://schemas.microsoft.com/office/drawing/2014/main" id="{BF7903B5-642F-1D51-5F0C-DFD81A8C68D4}"/>
                </a:ext>
              </a:extLst>
            </p:cNvPr>
            <p:cNvSpPr/>
            <p:nvPr/>
          </p:nvSpPr>
          <p:spPr bwMode="auto">
            <a:xfrm>
              <a:off x="8012113" y="1957388"/>
              <a:ext cx="1173163" cy="1192213"/>
            </a:xfrm>
            <a:custGeom>
              <a:avLst/>
              <a:gdLst>
                <a:gd name="T0" fmla="*/ 82 w 82"/>
                <a:gd name="T1" fmla="*/ 75 h 83"/>
                <a:gd name="T2" fmla="*/ 73 w 82"/>
                <a:gd name="T3" fmla="*/ 82 h 83"/>
                <a:gd name="T4" fmla="*/ 5 w 82"/>
                <a:gd name="T5" fmla="*/ 70 h 83"/>
                <a:gd name="T6" fmla="*/ 0 w 82"/>
                <a:gd name="T7" fmla="*/ 64 h 83"/>
                <a:gd name="T8" fmla="*/ 0 w 82"/>
                <a:gd name="T9" fmla="*/ 6 h 83"/>
                <a:gd name="T10" fmla="*/ 6 w 82"/>
                <a:gd name="T11" fmla="*/ 0 h 83"/>
                <a:gd name="T12" fmla="*/ 41 w 82"/>
                <a:gd name="T13" fmla="*/ 0 h 83"/>
                <a:gd name="T14" fmla="*/ 58 w 82"/>
                <a:gd name="T15" fmla="*/ 4 h 83"/>
                <a:gd name="T16" fmla="*/ 71 w 82"/>
                <a:gd name="T17" fmla="*/ 17 h 83"/>
                <a:gd name="T18" fmla="*/ 82 w 82"/>
                <a:gd name="T19" fmla="*/ 7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3">
                  <a:moveTo>
                    <a:pt x="82" y="75"/>
                  </a:moveTo>
                  <a:cubicBezTo>
                    <a:pt x="82" y="80"/>
                    <a:pt x="78" y="83"/>
                    <a:pt x="73" y="82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2" y="69"/>
                    <a:pt x="0" y="67"/>
                    <a:pt x="0" y="6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3" y="2"/>
                    <a:pt x="58" y="4"/>
                  </a:cubicBezTo>
                  <a:cubicBezTo>
                    <a:pt x="63" y="7"/>
                    <a:pt x="68" y="12"/>
                    <a:pt x="71" y="17"/>
                  </a:cubicBezTo>
                  <a:cubicBezTo>
                    <a:pt x="81" y="35"/>
                    <a:pt x="82" y="61"/>
                    <a:pt x="8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ïśḻiḍé">
              <a:extLst>
                <a:ext uri="{FF2B5EF4-FFF2-40B4-BE49-F238E27FC236}">
                  <a16:creationId xmlns:a16="http://schemas.microsoft.com/office/drawing/2014/main" id="{08B75649-F4E7-D933-F681-F397F4FE1142}"/>
                </a:ext>
              </a:extLst>
            </p:cNvPr>
            <p:cNvSpPr/>
            <p:nvPr/>
          </p:nvSpPr>
          <p:spPr bwMode="auto">
            <a:xfrm>
              <a:off x="7983538" y="1927226"/>
              <a:ext cx="1173163" cy="1193800"/>
            </a:xfrm>
            <a:custGeom>
              <a:avLst/>
              <a:gdLst>
                <a:gd name="T0" fmla="*/ 82 w 82"/>
                <a:gd name="T1" fmla="*/ 74 h 83"/>
                <a:gd name="T2" fmla="*/ 73 w 82"/>
                <a:gd name="T3" fmla="*/ 82 h 83"/>
                <a:gd name="T4" fmla="*/ 5 w 82"/>
                <a:gd name="T5" fmla="*/ 69 h 83"/>
                <a:gd name="T6" fmla="*/ 0 w 82"/>
                <a:gd name="T7" fmla="*/ 63 h 83"/>
                <a:gd name="T8" fmla="*/ 0 w 82"/>
                <a:gd name="T9" fmla="*/ 6 h 83"/>
                <a:gd name="T10" fmla="*/ 6 w 82"/>
                <a:gd name="T11" fmla="*/ 0 h 83"/>
                <a:gd name="T12" fmla="*/ 41 w 82"/>
                <a:gd name="T13" fmla="*/ 0 h 83"/>
                <a:gd name="T14" fmla="*/ 57 w 82"/>
                <a:gd name="T15" fmla="*/ 4 h 83"/>
                <a:gd name="T16" fmla="*/ 70 w 82"/>
                <a:gd name="T17" fmla="*/ 17 h 83"/>
                <a:gd name="T18" fmla="*/ 82 w 82"/>
                <a:gd name="T19" fmla="*/ 7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3">
                  <a:moveTo>
                    <a:pt x="82" y="74"/>
                  </a:moveTo>
                  <a:cubicBezTo>
                    <a:pt x="82" y="79"/>
                    <a:pt x="78" y="83"/>
                    <a:pt x="73" y="82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2" y="69"/>
                    <a:pt x="0" y="66"/>
                    <a:pt x="0" y="6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2" y="1"/>
                    <a:pt x="57" y="4"/>
                  </a:cubicBezTo>
                  <a:cubicBezTo>
                    <a:pt x="63" y="7"/>
                    <a:pt x="67" y="11"/>
                    <a:pt x="70" y="17"/>
                  </a:cubicBezTo>
                  <a:cubicBezTo>
                    <a:pt x="80" y="34"/>
                    <a:pt x="82" y="61"/>
                    <a:pt x="82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ïŝ1îḍe">
              <a:extLst>
                <a:ext uri="{FF2B5EF4-FFF2-40B4-BE49-F238E27FC236}">
                  <a16:creationId xmlns:a16="http://schemas.microsoft.com/office/drawing/2014/main" id="{6A37996A-C8D9-7B45-5E23-1575E47DF397}"/>
                </a:ext>
              </a:extLst>
            </p:cNvPr>
            <p:cNvSpPr/>
            <p:nvPr/>
          </p:nvSpPr>
          <p:spPr bwMode="auto">
            <a:xfrm>
              <a:off x="7983538" y="1927226"/>
              <a:ext cx="973138" cy="963613"/>
            </a:xfrm>
            <a:custGeom>
              <a:avLst/>
              <a:gdLst>
                <a:gd name="T0" fmla="*/ 68 w 68"/>
                <a:gd name="T1" fmla="*/ 59 h 67"/>
                <a:gd name="T2" fmla="*/ 59 w 68"/>
                <a:gd name="T3" fmla="*/ 67 h 67"/>
                <a:gd name="T4" fmla="*/ 0 w 68"/>
                <a:gd name="T5" fmla="*/ 56 h 67"/>
                <a:gd name="T6" fmla="*/ 0 w 68"/>
                <a:gd name="T7" fmla="*/ 6 h 67"/>
                <a:gd name="T8" fmla="*/ 6 w 68"/>
                <a:gd name="T9" fmla="*/ 0 h 67"/>
                <a:gd name="T10" fmla="*/ 41 w 68"/>
                <a:gd name="T11" fmla="*/ 0 h 67"/>
                <a:gd name="T12" fmla="*/ 57 w 68"/>
                <a:gd name="T13" fmla="*/ 4 h 67"/>
                <a:gd name="T14" fmla="*/ 68 w 68"/>
                <a:gd name="T15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67">
                  <a:moveTo>
                    <a:pt x="68" y="59"/>
                  </a:moveTo>
                  <a:cubicBezTo>
                    <a:pt x="68" y="64"/>
                    <a:pt x="63" y="67"/>
                    <a:pt x="59" y="6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2" y="1"/>
                    <a:pt x="57" y="4"/>
                  </a:cubicBezTo>
                  <a:cubicBezTo>
                    <a:pt x="66" y="21"/>
                    <a:pt x="67" y="46"/>
                    <a:pt x="68" y="59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íS1ïḋê">
              <a:extLst>
                <a:ext uri="{FF2B5EF4-FFF2-40B4-BE49-F238E27FC236}">
                  <a16:creationId xmlns:a16="http://schemas.microsoft.com/office/drawing/2014/main" id="{EBC18AF0-F7D2-ED54-B3F8-1D7ECBE83AD7}"/>
                </a:ext>
              </a:extLst>
            </p:cNvPr>
            <p:cNvSpPr/>
            <p:nvPr/>
          </p:nvSpPr>
          <p:spPr bwMode="auto">
            <a:xfrm>
              <a:off x="8026401" y="1971676"/>
              <a:ext cx="573088" cy="688975"/>
            </a:xfrm>
            <a:custGeom>
              <a:avLst/>
              <a:gdLst>
                <a:gd name="T0" fmla="*/ 0 w 40"/>
                <a:gd name="T1" fmla="*/ 45 h 48"/>
                <a:gd name="T2" fmla="*/ 0 w 40"/>
                <a:gd name="T3" fmla="*/ 12 h 48"/>
                <a:gd name="T4" fmla="*/ 11 w 40"/>
                <a:gd name="T5" fmla="*/ 0 h 48"/>
                <a:gd name="T6" fmla="*/ 37 w 40"/>
                <a:gd name="T7" fmla="*/ 0 h 48"/>
                <a:gd name="T8" fmla="*/ 40 w 40"/>
                <a:gd name="T9" fmla="*/ 4 h 48"/>
                <a:gd name="T10" fmla="*/ 37 w 40"/>
                <a:gd name="T11" fmla="*/ 7 h 48"/>
                <a:gd name="T12" fmla="*/ 17 w 40"/>
                <a:gd name="T13" fmla="*/ 7 h 48"/>
                <a:gd name="T14" fmla="*/ 5 w 40"/>
                <a:gd name="T15" fmla="*/ 18 h 48"/>
                <a:gd name="T16" fmla="*/ 6 w 40"/>
                <a:gd name="T17" fmla="*/ 45 h 48"/>
                <a:gd name="T18" fmla="*/ 3 w 40"/>
                <a:gd name="T19" fmla="*/ 48 h 48"/>
                <a:gd name="T20" fmla="*/ 0 w 40"/>
                <a:gd name="T21" fmla="*/ 4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8">
                  <a:moveTo>
                    <a:pt x="0" y="45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5"/>
                    <a:pt x="39" y="7"/>
                    <a:pt x="3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0" y="7"/>
                    <a:pt x="5" y="12"/>
                    <a:pt x="5" y="18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6"/>
                    <a:pt x="4" y="48"/>
                    <a:pt x="3" y="48"/>
                  </a:cubicBezTo>
                  <a:cubicBezTo>
                    <a:pt x="1" y="48"/>
                    <a:pt x="0" y="46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ïşľíḋê">
              <a:extLst>
                <a:ext uri="{FF2B5EF4-FFF2-40B4-BE49-F238E27FC236}">
                  <a16:creationId xmlns:a16="http://schemas.microsoft.com/office/drawing/2014/main" id="{8EF4D958-2804-8BCA-1CBC-67DF8193A03A}"/>
                </a:ext>
              </a:extLst>
            </p:cNvPr>
            <p:cNvSpPr/>
            <p:nvPr/>
          </p:nvSpPr>
          <p:spPr bwMode="auto">
            <a:xfrm>
              <a:off x="7797801" y="1698626"/>
              <a:ext cx="744538" cy="85725"/>
            </a:xfrm>
            <a:custGeom>
              <a:avLst/>
              <a:gdLst>
                <a:gd name="T0" fmla="*/ 50 w 52"/>
                <a:gd name="T1" fmla="*/ 6 h 6"/>
                <a:gd name="T2" fmla="*/ 2 w 52"/>
                <a:gd name="T3" fmla="*/ 6 h 6"/>
                <a:gd name="T4" fmla="*/ 0 w 52"/>
                <a:gd name="T5" fmla="*/ 4 h 6"/>
                <a:gd name="T6" fmla="*/ 0 w 52"/>
                <a:gd name="T7" fmla="*/ 2 h 6"/>
                <a:gd name="T8" fmla="*/ 2 w 52"/>
                <a:gd name="T9" fmla="*/ 0 h 6"/>
                <a:gd name="T10" fmla="*/ 50 w 52"/>
                <a:gd name="T11" fmla="*/ 0 h 6"/>
                <a:gd name="T12" fmla="*/ 52 w 52"/>
                <a:gd name="T13" fmla="*/ 2 h 6"/>
                <a:gd name="T14" fmla="*/ 52 w 52"/>
                <a:gd name="T15" fmla="*/ 4 h 6"/>
                <a:gd name="T16" fmla="*/ 50 w 52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">
                  <a:moveTo>
                    <a:pt x="50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1" y="0"/>
                    <a:pt x="52" y="1"/>
                    <a:pt x="52" y="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5"/>
                    <a:pt x="51" y="6"/>
                    <a:pt x="5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ïṣḷîde">
              <a:extLst>
                <a:ext uri="{FF2B5EF4-FFF2-40B4-BE49-F238E27FC236}">
                  <a16:creationId xmlns:a16="http://schemas.microsoft.com/office/drawing/2014/main" id="{AC494EED-6E9A-417A-0001-DD3A04F10A6D}"/>
                </a:ext>
              </a:extLst>
            </p:cNvPr>
            <p:cNvSpPr/>
            <p:nvPr/>
          </p:nvSpPr>
          <p:spPr bwMode="auto">
            <a:xfrm>
              <a:off x="8585201" y="1698626"/>
              <a:ext cx="171450" cy="85725"/>
            </a:xfrm>
            <a:custGeom>
              <a:avLst/>
              <a:gdLst>
                <a:gd name="T0" fmla="*/ 10 w 12"/>
                <a:gd name="T1" fmla="*/ 6 h 6"/>
                <a:gd name="T2" fmla="*/ 2 w 12"/>
                <a:gd name="T3" fmla="*/ 6 h 6"/>
                <a:gd name="T4" fmla="*/ 0 w 12"/>
                <a:gd name="T5" fmla="*/ 4 h 6"/>
                <a:gd name="T6" fmla="*/ 0 w 12"/>
                <a:gd name="T7" fmla="*/ 2 h 6"/>
                <a:gd name="T8" fmla="*/ 2 w 12"/>
                <a:gd name="T9" fmla="*/ 0 h 6"/>
                <a:gd name="T10" fmla="*/ 10 w 12"/>
                <a:gd name="T11" fmla="*/ 0 h 6"/>
                <a:gd name="T12" fmla="*/ 12 w 12"/>
                <a:gd name="T13" fmla="*/ 2 h 6"/>
                <a:gd name="T14" fmla="*/ 12 w 12"/>
                <a:gd name="T15" fmla="*/ 4 h 6"/>
                <a:gd name="T16" fmla="*/ 10 w 12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6">
                  <a:moveTo>
                    <a:pt x="10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5"/>
                    <a:pt x="11" y="6"/>
                    <a:pt x="1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iŝľîḓè">
              <a:extLst>
                <a:ext uri="{FF2B5EF4-FFF2-40B4-BE49-F238E27FC236}">
                  <a16:creationId xmlns:a16="http://schemas.microsoft.com/office/drawing/2014/main" id="{9C6CC996-6680-DA49-0EFF-BDB529EEE92F}"/>
                </a:ext>
              </a:extLst>
            </p:cNvPr>
            <p:cNvSpPr/>
            <p:nvPr/>
          </p:nvSpPr>
          <p:spPr bwMode="auto">
            <a:xfrm>
              <a:off x="7940676" y="2990851"/>
              <a:ext cx="958850" cy="258763"/>
            </a:xfrm>
            <a:custGeom>
              <a:avLst/>
              <a:gdLst>
                <a:gd name="T0" fmla="*/ 64 w 67"/>
                <a:gd name="T1" fmla="*/ 17 h 18"/>
                <a:gd name="T2" fmla="*/ 2 w 67"/>
                <a:gd name="T3" fmla="*/ 5 h 18"/>
                <a:gd name="T4" fmla="*/ 0 w 67"/>
                <a:gd name="T5" fmla="*/ 3 h 18"/>
                <a:gd name="T6" fmla="*/ 1 w 67"/>
                <a:gd name="T7" fmla="*/ 1 h 18"/>
                <a:gd name="T8" fmla="*/ 3 w 67"/>
                <a:gd name="T9" fmla="*/ 0 h 18"/>
                <a:gd name="T10" fmla="*/ 65 w 67"/>
                <a:gd name="T11" fmla="*/ 13 h 18"/>
                <a:gd name="T12" fmla="*/ 66 w 67"/>
                <a:gd name="T13" fmla="*/ 15 h 18"/>
                <a:gd name="T14" fmla="*/ 66 w 67"/>
                <a:gd name="T15" fmla="*/ 16 h 18"/>
                <a:gd name="T16" fmla="*/ 64 w 67"/>
                <a:gd name="T1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8">
                  <a:moveTo>
                    <a:pt x="64" y="17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66" y="13"/>
                    <a:pt x="67" y="14"/>
                    <a:pt x="66" y="1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7"/>
                    <a:pt x="65" y="18"/>
                    <a:pt x="6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iṩ1iḓè">
              <a:extLst>
                <a:ext uri="{FF2B5EF4-FFF2-40B4-BE49-F238E27FC236}">
                  <a16:creationId xmlns:a16="http://schemas.microsoft.com/office/drawing/2014/main" id="{91482E1D-4069-F84C-24D6-11C7E915C79F}"/>
                </a:ext>
              </a:extLst>
            </p:cNvPr>
            <p:cNvSpPr/>
            <p:nvPr/>
          </p:nvSpPr>
          <p:spPr bwMode="auto">
            <a:xfrm>
              <a:off x="8928101" y="3192463"/>
              <a:ext cx="228600" cy="100013"/>
            </a:xfrm>
            <a:custGeom>
              <a:avLst/>
              <a:gdLst>
                <a:gd name="T0" fmla="*/ 13 w 16"/>
                <a:gd name="T1" fmla="*/ 7 h 7"/>
                <a:gd name="T2" fmla="*/ 1 w 16"/>
                <a:gd name="T3" fmla="*/ 5 h 7"/>
                <a:gd name="T4" fmla="*/ 0 w 16"/>
                <a:gd name="T5" fmla="*/ 3 h 7"/>
                <a:gd name="T6" fmla="*/ 0 w 16"/>
                <a:gd name="T7" fmla="*/ 1 h 7"/>
                <a:gd name="T8" fmla="*/ 2 w 16"/>
                <a:gd name="T9" fmla="*/ 0 h 7"/>
                <a:gd name="T10" fmla="*/ 14 w 16"/>
                <a:gd name="T11" fmla="*/ 2 h 7"/>
                <a:gd name="T12" fmla="*/ 16 w 16"/>
                <a:gd name="T13" fmla="*/ 4 h 7"/>
                <a:gd name="T14" fmla="*/ 15 w 16"/>
                <a:gd name="T15" fmla="*/ 6 h 7"/>
                <a:gd name="T16" fmla="*/ 13 w 16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7">
                  <a:moveTo>
                    <a:pt x="13" y="7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5" y="3"/>
                    <a:pt x="16" y="3"/>
                    <a:pt x="16" y="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7"/>
                    <a:pt x="14" y="7"/>
                    <a:pt x="1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íṡḻiḓê">
              <a:extLst>
                <a:ext uri="{FF2B5EF4-FFF2-40B4-BE49-F238E27FC236}">
                  <a16:creationId xmlns:a16="http://schemas.microsoft.com/office/drawing/2014/main" id="{322343D8-9350-5997-CC83-CCAF5AD3C705}"/>
                </a:ext>
              </a:extLst>
            </p:cNvPr>
            <p:cNvSpPr/>
            <p:nvPr/>
          </p:nvSpPr>
          <p:spPr bwMode="auto">
            <a:xfrm>
              <a:off x="2576513" y="3536951"/>
              <a:ext cx="4835525" cy="287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ïṧ1iďê">
              <a:extLst>
                <a:ext uri="{FF2B5EF4-FFF2-40B4-BE49-F238E27FC236}">
                  <a16:creationId xmlns:a16="http://schemas.microsoft.com/office/drawing/2014/main" id="{8A9F0A74-EBD5-6F7D-423E-BF4D7E76C3C2}"/>
                </a:ext>
              </a:extLst>
            </p:cNvPr>
            <p:cNvSpPr/>
            <p:nvPr/>
          </p:nvSpPr>
          <p:spPr bwMode="auto">
            <a:xfrm>
              <a:off x="7626351" y="3824288"/>
              <a:ext cx="1201738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2" y="80"/>
                    <a:pt x="14" y="73"/>
                  </a:cubicBezTo>
                  <a:cubicBezTo>
                    <a:pt x="6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6" y="2"/>
                    <a:pt x="61" y="5"/>
                  </a:cubicBezTo>
                  <a:cubicBezTo>
                    <a:pt x="75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ïṧḷïḑé">
              <a:extLst>
                <a:ext uri="{FF2B5EF4-FFF2-40B4-BE49-F238E27FC236}">
                  <a16:creationId xmlns:a16="http://schemas.microsoft.com/office/drawing/2014/main" id="{0A190D43-366F-1B27-B54F-519BC4DA6F66}"/>
                </a:ext>
              </a:extLst>
            </p:cNvPr>
            <p:cNvSpPr/>
            <p:nvPr/>
          </p:nvSpPr>
          <p:spPr bwMode="auto">
            <a:xfrm>
              <a:off x="7626351" y="3824288"/>
              <a:ext cx="1073150" cy="1120775"/>
            </a:xfrm>
            <a:custGeom>
              <a:avLst/>
              <a:gdLst>
                <a:gd name="T0" fmla="*/ 75 w 75"/>
                <a:gd name="T1" fmla="*/ 36 h 78"/>
                <a:gd name="T2" fmla="*/ 34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7" y="78"/>
                    <a:pt x="34" y="78"/>
                  </a:cubicBezTo>
                  <a:cubicBezTo>
                    <a:pt x="27" y="78"/>
                    <a:pt x="20" y="76"/>
                    <a:pt x="14" y="73"/>
                  </a:cubicBezTo>
                  <a:cubicBezTo>
                    <a:pt x="6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6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íṩ1îḍe">
              <a:extLst>
                <a:ext uri="{FF2B5EF4-FFF2-40B4-BE49-F238E27FC236}">
                  <a16:creationId xmlns:a16="http://schemas.microsoft.com/office/drawing/2014/main" id="{833EA496-C9B6-F278-22AF-F0AF3D62E204}"/>
                </a:ext>
              </a:extLst>
            </p:cNvPr>
            <p:cNvSpPr/>
            <p:nvPr/>
          </p:nvSpPr>
          <p:spPr bwMode="auto">
            <a:xfrm>
              <a:off x="7926388" y="4125913"/>
              <a:ext cx="601663" cy="603250"/>
            </a:xfrm>
            <a:custGeom>
              <a:avLst/>
              <a:gdLst>
                <a:gd name="T0" fmla="*/ 42 w 42"/>
                <a:gd name="T1" fmla="*/ 21 h 42"/>
                <a:gd name="T2" fmla="*/ 21 w 42"/>
                <a:gd name="T3" fmla="*/ 42 h 42"/>
                <a:gd name="T4" fmla="*/ 7 w 42"/>
                <a:gd name="T5" fmla="*/ 36 h 42"/>
                <a:gd name="T6" fmla="*/ 0 w 42"/>
                <a:gd name="T7" fmla="*/ 21 h 42"/>
                <a:gd name="T8" fmla="*/ 21 w 42"/>
                <a:gd name="T9" fmla="*/ 0 h 42"/>
                <a:gd name="T10" fmla="*/ 31 w 42"/>
                <a:gd name="T11" fmla="*/ 3 h 42"/>
                <a:gd name="T12" fmla="*/ 42 w 42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2">
                  <a:moveTo>
                    <a:pt x="42" y="21"/>
                  </a:moveTo>
                  <a:cubicBezTo>
                    <a:pt x="42" y="32"/>
                    <a:pt x="33" y="42"/>
                    <a:pt x="21" y="42"/>
                  </a:cubicBezTo>
                  <a:cubicBezTo>
                    <a:pt x="16" y="42"/>
                    <a:pt x="11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5" y="0"/>
                    <a:pt x="28" y="1"/>
                    <a:pt x="31" y="3"/>
                  </a:cubicBezTo>
                  <a:cubicBezTo>
                    <a:pt x="37" y="6"/>
                    <a:pt x="42" y="13"/>
                    <a:pt x="4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ísľíḍè">
              <a:extLst>
                <a:ext uri="{FF2B5EF4-FFF2-40B4-BE49-F238E27FC236}">
                  <a16:creationId xmlns:a16="http://schemas.microsoft.com/office/drawing/2014/main" id="{EE54C488-D6C8-BAC1-498B-CDD82B438213}"/>
                </a:ext>
              </a:extLst>
            </p:cNvPr>
            <p:cNvSpPr/>
            <p:nvPr/>
          </p:nvSpPr>
          <p:spPr bwMode="auto">
            <a:xfrm>
              <a:off x="7926388" y="4125913"/>
              <a:ext cx="530225" cy="560388"/>
            </a:xfrm>
            <a:custGeom>
              <a:avLst/>
              <a:gdLst>
                <a:gd name="T0" fmla="*/ 37 w 37"/>
                <a:gd name="T1" fmla="*/ 18 h 39"/>
                <a:gd name="T2" fmla="*/ 17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1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7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5" y="0"/>
                    <a:pt x="28" y="1"/>
                    <a:pt x="31" y="3"/>
                  </a:cubicBezTo>
                  <a:cubicBezTo>
                    <a:pt x="35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îṡḷíḓe">
              <a:extLst>
                <a:ext uri="{FF2B5EF4-FFF2-40B4-BE49-F238E27FC236}">
                  <a16:creationId xmlns:a16="http://schemas.microsoft.com/office/drawing/2014/main" id="{9A445E00-0726-849B-B2F5-79C66B764859}"/>
                </a:ext>
              </a:extLst>
            </p:cNvPr>
            <p:cNvSpPr/>
            <p:nvPr/>
          </p:nvSpPr>
          <p:spPr bwMode="auto">
            <a:xfrm>
              <a:off x="8140701" y="4341813"/>
              <a:ext cx="173038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2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3" y="11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11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î$ļiḓê">
              <a:extLst>
                <a:ext uri="{FF2B5EF4-FFF2-40B4-BE49-F238E27FC236}">
                  <a16:creationId xmlns:a16="http://schemas.microsoft.com/office/drawing/2014/main" id="{BF3FA818-D148-DADC-77B6-ED7B8DB9D0B1}"/>
                </a:ext>
              </a:extLst>
            </p:cNvPr>
            <p:cNvSpPr/>
            <p:nvPr/>
          </p:nvSpPr>
          <p:spPr bwMode="auto">
            <a:xfrm>
              <a:off x="8140701" y="4341813"/>
              <a:ext cx="142875" cy="142875"/>
            </a:xfrm>
            <a:custGeom>
              <a:avLst/>
              <a:gdLst>
                <a:gd name="T0" fmla="*/ 10 w 10"/>
                <a:gd name="T1" fmla="*/ 5 h 10"/>
                <a:gd name="T2" fmla="*/ 4 w 10"/>
                <a:gd name="T3" fmla="*/ 10 h 10"/>
                <a:gd name="T4" fmla="*/ 2 w 10"/>
                <a:gd name="T5" fmla="*/ 10 h 10"/>
                <a:gd name="T6" fmla="*/ 0 w 10"/>
                <a:gd name="T7" fmla="*/ 6 h 10"/>
                <a:gd name="T8" fmla="*/ 6 w 10"/>
                <a:gd name="T9" fmla="*/ 0 h 10"/>
                <a:gd name="T10" fmla="*/ 8 w 10"/>
                <a:gd name="T11" fmla="*/ 1 h 10"/>
                <a:gd name="T12" fmla="*/ 10 w 10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7" y="10"/>
                    <a:pt x="4" y="10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9" y="2"/>
                    <a:pt x="10" y="3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ïśḷiďè">
              <a:extLst>
                <a:ext uri="{FF2B5EF4-FFF2-40B4-BE49-F238E27FC236}">
                  <a16:creationId xmlns:a16="http://schemas.microsoft.com/office/drawing/2014/main" id="{3B986B3B-A10A-96FE-CF4D-4B06D0320A4C}"/>
                </a:ext>
              </a:extLst>
            </p:cNvPr>
            <p:cNvSpPr/>
            <p:nvPr/>
          </p:nvSpPr>
          <p:spPr bwMode="auto">
            <a:xfrm>
              <a:off x="4537076" y="3824288"/>
              <a:ext cx="1200150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1" y="80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5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ïšḻïḓe">
              <a:extLst>
                <a:ext uri="{FF2B5EF4-FFF2-40B4-BE49-F238E27FC236}">
                  <a16:creationId xmlns:a16="http://schemas.microsoft.com/office/drawing/2014/main" id="{725EE3E8-CC84-A964-8F02-E3430FD0F547}"/>
                </a:ext>
              </a:extLst>
            </p:cNvPr>
            <p:cNvSpPr/>
            <p:nvPr/>
          </p:nvSpPr>
          <p:spPr bwMode="auto">
            <a:xfrm>
              <a:off x="4537076" y="3824288"/>
              <a:ext cx="1071563" cy="1120775"/>
            </a:xfrm>
            <a:custGeom>
              <a:avLst/>
              <a:gdLst>
                <a:gd name="T0" fmla="*/ 75 w 75"/>
                <a:gd name="T1" fmla="*/ 36 h 78"/>
                <a:gd name="T2" fmla="*/ 33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6" y="78"/>
                    <a:pt x="33" y="78"/>
                  </a:cubicBezTo>
                  <a:cubicBezTo>
                    <a:pt x="26" y="78"/>
                    <a:pt x="20" y="76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îşliḑê">
              <a:extLst>
                <a:ext uri="{FF2B5EF4-FFF2-40B4-BE49-F238E27FC236}">
                  <a16:creationId xmlns:a16="http://schemas.microsoft.com/office/drawing/2014/main" id="{D420955C-4C69-D530-EF6A-5EC2917A64E3}"/>
                </a:ext>
              </a:extLst>
            </p:cNvPr>
            <p:cNvSpPr/>
            <p:nvPr/>
          </p:nvSpPr>
          <p:spPr bwMode="auto">
            <a:xfrm>
              <a:off x="4837113" y="4125913"/>
              <a:ext cx="600075" cy="603250"/>
            </a:xfrm>
            <a:custGeom>
              <a:avLst/>
              <a:gdLst>
                <a:gd name="T0" fmla="*/ 42 w 42"/>
                <a:gd name="T1" fmla="*/ 21 h 42"/>
                <a:gd name="T2" fmla="*/ 21 w 42"/>
                <a:gd name="T3" fmla="*/ 42 h 42"/>
                <a:gd name="T4" fmla="*/ 7 w 42"/>
                <a:gd name="T5" fmla="*/ 36 h 42"/>
                <a:gd name="T6" fmla="*/ 0 w 42"/>
                <a:gd name="T7" fmla="*/ 21 h 42"/>
                <a:gd name="T8" fmla="*/ 21 w 42"/>
                <a:gd name="T9" fmla="*/ 0 h 42"/>
                <a:gd name="T10" fmla="*/ 30 w 42"/>
                <a:gd name="T11" fmla="*/ 3 h 42"/>
                <a:gd name="T12" fmla="*/ 42 w 42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2">
                  <a:moveTo>
                    <a:pt x="42" y="21"/>
                  </a:moveTo>
                  <a:cubicBezTo>
                    <a:pt x="42" y="32"/>
                    <a:pt x="32" y="42"/>
                    <a:pt x="21" y="42"/>
                  </a:cubicBezTo>
                  <a:cubicBezTo>
                    <a:pt x="16" y="42"/>
                    <a:pt x="11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7" y="6"/>
                    <a:pt x="42" y="13"/>
                    <a:pt x="4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íṥľîḍé">
              <a:extLst>
                <a:ext uri="{FF2B5EF4-FFF2-40B4-BE49-F238E27FC236}">
                  <a16:creationId xmlns:a16="http://schemas.microsoft.com/office/drawing/2014/main" id="{4751CAB6-5224-53DE-B94E-030220F18211}"/>
                </a:ext>
              </a:extLst>
            </p:cNvPr>
            <p:cNvSpPr/>
            <p:nvPr/>
          </p:nvSpPr>
          <p:spPr bwMode="auto">
            <a:xfrm>
              <a:off x="4837113" y="4125913"/>
              <a:ext cx="528638" cy="560388"/>
            </a:xfrm>
            <a:custGeom>
              <a:avLst/>
              <a:gdLst>
                <a:gd name="T0" fmla="*/ 37 w 37"/>
                <a:gd name="T1" fmla="*/ 18 h 39"/>
                <a:gd name="T2" fmla="*/ 17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0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7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5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iŝ1îḋè">
              <a:extLst>
                <a:ext uri="{FF2B5EF4-FFF2-40B4-BE49-F238E27FC236}">
                  <a16:creationId xmlns:a16="http://schemas.microsoft.com/office/drawing/2014/main" id="{8556666E-7A88-C18B-C15D-6DEDE63A41F0}"/>
                </a:ext>
              </a:extLst>
            </p:cNvPr>
            <p:cNvSpPr/>
            <p:nvPr/>
          </p:nvSpPr>
          <p:spPr bwMode="auto">
            <a:xfrm>
              <a:off x="5051426" y="4341813"/>
              <a:ext cx="171450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2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3" y="11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10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isḷiḓe">
              <a:extLst>
                <a:ext uri="{FF2B5EF4-FFF2-40B4-BE49-F238E27FC236}">
                  <a16:creationId xmlns:a16="http://schemas.microsoft.com/office/drawing/2014/main" id="{31A7833F-F80A-9818-610E-B47C906DDF0D}"/>
                </a:ext>
              </a:extLst>
            </p:cNvPr>
            <p:cNvSpPr/>
            <p:nvPr/>
          </p:nvSpPr>
          <p:spPr bwMode="auto">
            <a:xfrm>
              <a:off x="5051426" y="4341813"/>
              <a:ext cx="142875" cy="142875"/>
            </a:xfrm>
            <a:custGeom>
              <a:avLst/>
              <a:gdLst>
                <a:gd name="T0" fmla="*/ 10 w 10"/>
                <a:gd name="T1" fmla="*/ 5 h 10"/>
                <a:gd name="T2" fmla="*/ 4 w 10"/>
                <a:gd name="T3" fmla="*/ 10 h 10"/>
                <a:gd name="T4" fmla="*/ 2 w 10"/>
                <a:gd name="T5" fmla="*/ 10 h 10"/>
                <a:gd name="T6" fmla="*/ 0 w 10"/>
                <a:gd name="T7" fmla="*/ 6 h 10"/>
                <a:gd name="T8" fmla="*/ 6 w 10"/>
                <a:gd name="T9" fmla="*/ 0 h 10"/>
                <a:gd name="T10" fmla="*/ 8 w 10"/>
                <a:gd name="T11" fmla="*/ 1 h 10"/>
                <a:gd name="T12" fmla="*/ 10 w 10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7" y="10"/>
                    <a:pt x="4" y="10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9" y="2"/>
                    <a:pt x="10" y="3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íS1iḍè">
              <a:extLst>
                <a:ext uri="{FF2B5EF4-FFF2-40B4-BE49-F238E27FC236}">
                  <a16:creationId xmlns:a16="http://schemas.microsoft.com/office/drawing/2014/main" id="{830C214E-4A7E-F3EB-1D14-62F130857826}"/>
                </a:ext>
              </a:extLst>
            </p:cNvPr>
            <p:cNvSpPr/>
            <p:nvPr/>
          </p:nvSpPr>
          <p:spPr bwMode="auto">
            <a:xfrm>
              <a:off x="3105151" y="3824288"/>
              <a:ext cx="1201738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1" y="80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4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îṧļîḑé">
              <a:extLst>
                <a:ext uri="{FF2B5EF4-FFF2-40B4-BE49-F238E27FC236}">
                  <a16:creationId xmlns:a16="http://schemas.microsoft.com/office/drawing/2014/main" id="{4E1CACFB-9E2E-F46A-9A90-993EDDAE888D}"/>
                </a:ext>
              </a:extLst>
            </p:cNvPr>
            <p:cNvSpPr/>
            <p:nvPr/>
          </p:nvSpPr>
          <p:spPr bwMode="auto">
            <a:xfrm>
              <a:off x="3105151" y="3824288"/>
              <a:ext cx="1073150" cy="1120775"/>
            </a:xfrm>
            <a:custGeom>
              <a:avLst/>
              <a:gdLst>
                <a:gd name="T0" fmla="*/ 75 w 75"/>
                <a:gd name="T1" fmla="*/ 36 h 78"/>
                <a:gd name="T2" fmla="*/ 33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6" y="78"/>
                    <a:pt x="33" y="78"/>
                  </a:cubicBezTo>
                  <a:cubicBezTo>
                    <a:pt x="26" y="78"/>
                    <a:pt x="19" y="76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ïṣḷïďe">
              <a:extLst>
                <a:ext uri="{FF2B5EF4-FFF2-40B4-BE49-F238E27FC236}">
                  <a16:creationId xmlns:a16="http://schemas.microsoft.com/office/drawing/2014/main" id="{C1B2AA4C-FFC7-BE57-CD5C-64700AE7A24F}"/>
                </a:ext>
              </a:extLst>
            </p:cNvPr>
            <p:cNvSpPr/>
            <p:nvPr/>
          </p:nvSpPr>
          <p:spPr bwMode="auto">
            <a:xfrm>
              <a:off x="3406776" y="4125913"/>
              <a:ext cx="585788" cy="603250"/>
            </a:xfrm>
            <a:custGeom>
              <a:avLst/>
              <a:gdLst>
                <a:gd name="T0" fmla="*/ 41 w 41"/>
                <a:gd name="T1" fmla="*/ 21 h 42"/>
                <a:gd name="T2" fmla="*/ 21 w 41"/>
                <a:gd name="T3" fmla="*/ 42 h 42"/>
                <a:gd name="T4" fmla="*/ 7 w 41"/>
                <a:gd name="T5" fmla="*/ 36 h 42"/>
                <a:gd name="T6" fmla="*/ 0 w 41"/>
                <a:gd name="T7" fmla="*/ 21 h 42"/>
                <a:gd name="T8" fmla="*/ 21 w 41"/>
                <a:gd name="T9" fmla="*/ 0 h 42"/>
                <a:gd name="T10" fmla="*/ 30 w 41"/>
                <a:gd name="T11" fmla="*/ 3 h 42"/>
                <a:gd name="T12" fmla="*/ 41 w 41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42">
                  <a:moveTo>
                    <a:pt x="41" y="21"/>
                  </a:moveTo>
                  <a:cubicBezTo>
                    <a:pt x="41" y="32"/>
                    <a:pt x="32" y="42"/>
                    <a:pt x="21" y="42"/>
                  </a:cubicBezTo>
                  <a:cubicBezTo>
                    <a:pt x="15" y="42"/>
                    <a:pt x="10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24" y="0"/>
                    <a:pt x="27" y="1"/>
                    <a:pt x="30" y="3"/>
                  </a:cubicBezTo>
                  <a:cubicBezTo>
                    <a:pt x="37" y="6"/>
                    <a:pt x="41" y="13"/>
                    <a:pt x="4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íSḷidè">
              <a:extLst>
                <a:ext uri="{FF2B5EF4-FFF2-40B4-BE49-F238E27FC236}">
                  <a16:creationId xmlns:a16="http://schemas.microsoft.com/office/drawing/2014/main" id="{E8BBEF7A-4B71-4EA8-D05C-83DB4FDB8E3F}"/>
                </a:ext>
              </a:extLst>
            </p:cNvPr>
            <p:cNvSpPr/>
            <p:nvPr/>
          </p:nvSpPr>
          <p:spPr bwMode="auto">
            <a:xfrm>
              <a:off x="3406776" y="4125913"/>
              <a:ext cx="528638" cy="560388"/>
            </a:xfrm>
            <a:custGeom>
              <a:avLst/>
              <a:gdLst>
                <a:gd name="T0" fmla="*/ 37 w 37"/>
                <a:gd name="T1" fmla="*/ 18 h 39"/>
                <a:gd name="T2" fmla="*/ 16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0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6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24" y="0"/>
                    <a:pt x="27" y="1"/>
                    <a:pt x="30" y="3"/>
                  </a:cubicBezTo>
                  <a:cubicBezTo>
                    <a:pt x="34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iśḷîḓé">
              <a:extLst>
                <a:ext uri="{FF2B5EF4-FFF2-40B4-BE49-F238E27FC236}">
                  <a16:creationId xmlns:a16="http://schemas.microsoft.com/office/drawing/2014/main" id="{B8911D1A-5492-1BDD-23EC-91C790B56E1D}"/>
                </a:ext>
              </a:extLst>
            </p:cNvPr>
            <p:cNvSpPr/>
            <p:nvPr/>
          </p:nvSpPr>
          <p:spPr bwMode="auto">
            <a:xfrm>
              <a:off x="3621088" y="4341813"/>
              <a:ext cx="171450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1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2" y="11"/>
                    <a:pt x="1" y="10"/>
                  </a:cubicBezTo>
                  <a:cubicBezTo>
                    <a:pt x="0" y="9"/>
                    <a:pt x="0" y="8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6" y="0"/>
                    <a:pt x="7" y="0"/>
                    <a:pt x="8" y="1"/>
                  </a:cubicBezTo>
                  <a:cubicBezTo>
                    <a:pt x="10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íṩliḑè">
              <a:extLst>
                <a:ext uri="{FF2B5EF4-FFF2-40B4-BE49-F238E27FC236}">
                  <a16:creationId xmlns:a16="http://schemas.microsoft.com/office/drawing/2014/main" id="{0E24E967-EEC8-1CFA-F59B-947C52E7EE6E}"/>
                </a:ext>
              </a:extLst>
            </p:cNvPr>
            <p:cNvSpPr/>
            <p:nvPr/>
          </p:nvSpPr>
          <p:spPr bwMode="auto">
            <a:xfrm>
              <a:off x="3621088" y="4341813"/>
              <a:ext cx="128588" cy="142875"/>
            </a:xfrm>
            <a:custGeom>
              <a:avLst/>
              <a:gdLst>
                <a:gd name="T0" fmla="*/ 9 w 9"/>
                <a:gd name="T1" fmla="*/ 5 h 10"/>
                <a:gd name="T2" fmla="*/ 4 w 9"/>
                <a:gd name="T3" fmla="*/ 10 h 10"/>
                <a:gd name="T4" fmla="*/ 1 w 9"/>
                <a:gd name="T5" fmla="*/ 10 h 10"/>
                <a:gd name="T6" fmla="*/ 0 w 9"/>
                <a:gd name="T7" fmla="*/ 6 h 10"/>
                <a:gd name="T8" fmla="*/ 6 w 9"/>
                <a:gd name="T9" fmla="*/ 0 h 10"/>
                <a:gd name="T10" fmla="*/ 8 w 9"/>
                <a:gd name="T11" fmla="*/ 1 h 10"/>
                <a:gd name="T12" fmla="*/ 9 w 9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9" y="5"/>
                  </a:moveTo>
                  <a:cubicBezTo>
                    <a:pt x="9" y="8"/>
                    <a:pt x="7" y="10"/>
                    <a:pt x="4" y="10"/>
                  </a:cubicBezTo>
                  <a:cubicBezTo>
                    <a:pt x="3" y="10"/>
                    <a:pt x="2" y="10"/>
                    <a:pt x="1" y="10"/>
                  </a:cubicBezTo>
                  <a:cubicBezTo>
                    <a:pt x="0" y="9"/>
                    <a:pt x="0" y="8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6" y="0"/>
                    <a:pt x="7" y="0"/>
                    <a:pt x="8" y="1"/>
                  </a:cubicBezTo>
                  <a:cubicBezTo>
                    <a:pt x="9" y="2"/>
                    <a:pt x="9" y="3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61" name="圆角矩形 139">
            <a:extLst>
              <a:ext uri="{FF2B5EF4-FFF2-40B4-BE49-F238E27FC236}">
                <a16:creationId xmlns:a16="http://schemas.microsoft.com/office/drawing/2014/main" id="{90E2FE6E-492A-6FDF-74CB-12C3A8A521C8}"/>
              </a:ext>
            </a:extLst>
          </p:cNvPr>
          <p:cNvSpPr/>
          <p:nvPr/>
        </p:nvSpPr>
        <p:spPr>
          <a:xfrm>
            <a:off x="3058687" y="2143555"/>
            <a:ext cx="511156" cy="1453741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仓储任务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84F650A-E3CD-0120-1F83-1D4E22E8AAD9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4972524" y="2673783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5CBBDF4-DDED-D2F7-5EDC-8C34D6DB2550}"/>
              </a:ext>
            </a:extLst>
          </p:cNvPr>
          <p:cNvCxnSpPr>
            <a:cxnSpLocks/>
          </p:cNvCxnSpPr>
          <p:nvPr/>
        </p:nvCxnSpPr>
        <p:spPr>
          <a:xfrm>
            <a:off x="6429896" y="2673783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圆角矩形 139">
            <a:extLst>
              <a:ext uri="{FF2B5EF4-FFF2-40B4-BE49-F238E27FC236}">
                <a16:creationId xmlns:a16="http://schemas.microsoft.com/office/drawing/2014/main" id="{0F7A62F4-6BA9-3D98-E2F4-352E48D2B33F}"/>
              </a:ext>
            </a:extLst>
          </p:cNvPr>
          <p:cNvSpPr/>
          <p:nvPr/>
        </p:nvSpPr>
        <p:spPr>
          <a:xfrm>
            <a:off x="5567608" y="2457783"/>
            <a:ext cx="1080000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叫号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导引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到收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发货点</a:t>
            </a:r>
          </a:p>
        </p:txBody>
      </p:sp>
      <p:sp>
        <p:nvSpPr>
          <p:cNvPr id="65" name="圆角矩形 139">
            <a:extLst>
              <a:ext uri="{FF2B5EF4-FFF2-40B4-BE49-F238E27FC236}">
                <a16:creationId xmlns:a16="http://schemas.microsoft.com/office/drawing/2014/main" id="{28F01833-897D-5F23-37AF-2B6A556CC709}"/>
              </a:ext>
            </a:extLst>
          </p:cNvPr>
          <p:cNvSpPr/>
          <p:nvPr/>
        </p:nvSpPr>
        <p:spPr>
          <a:xfrm>
            <a:off x="7055322" y="2465040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任务分配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A3DD18C-BE99-CCC4-C5AF-1CA0D3CD398F}"/>
              </a:ext>
            </a:extLst>
          </p:cNvPr>
          <p:cNvSpPr/>
          <p:nvPr/>
        </p:nvSpPr>
        <p:spPr>
          <a:xfrm>
            <a:off x="4099406" y="2883402"/>
            <a:ext cx="1260000" cy="360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集散点报到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C2D3BA4-16E2-9170-DAA2-FBB3FA6437C9}"/>
              </a:ext>
            </a:extLst>
          </p:cNvPr>
          <p:cNvSpPr/>
          <p:nvPr/>
        </p:nvSpPr>
        <p:spPr>
          <a:xfrm>
            <a:off x="8347660" y="2948244"/>
            <a:ext cx="1260000" cy="46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</a:rPr>
              <a:t>通知叉车司机收</a:t>
            </a:r>
            <a:r>
              <a:rPr lang="en-US" altLang="zh-CN" sz="1400" dirty="0">
                <a:solidFill>
                  <a:schemeClr val="tx1"/>
                </a:solidFill>
              </a:rPr>
              <a:t>/</a:t>
            </a:r>
            <a:r>
              <a:rPr lang="zh-CN" altLang="en-US" sz="1400" dirty="0">
                <a:solidFill>
                  <a:schemeClr val="tx1"/>
                </a:solidFill>
              </a:rPr>
              <a:t>发货内容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451C4D5E-46F9-0EB1-4784-9C2F5A5E4E69}"/>
              </a:ext>
            </a:extLst>
          </p:cNvPr>
          <p:cNvCxnSpPr>
            <a:cxnSpLocks/>
          </p:cNvCxnSpPr>
          <p:nvPr/>
        </p:nvCxnSpPr>
        <p:spPr>
          <a:xfrm>
            <a:off x="9128241" y="2666528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圆角矩形 139">
            <a:extLst>
              <a:ext uri="{FF2B5EF4-FFF2-40B4-BE49-F238E27FC236}">
                <a16:creationId xmlns:a16="http://schemas.microsoft.com/office/drawing/2014/main" id="{2DC97ABB-3F68-3134-4B88-3D12B00BE0E4}"/>
              </a:ext>
            </a:extLst>
          </p:cNvPr>
          <p:cNvSpPr/>
          <p:nvPr/>
        </p:nvSpPr>
        <p:spPr>
          <a:xfrm>
            <a:off x="8366239" y="2457217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任务推送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1B39127-F293-EB2D-1904-2D903461A5CC}"/>
              </a:ext>
            </a:extLst>
          </p:cNvPr>
          <p:cNvSpPr/>
          <p:nvPr/>
        </p:nvSpPr>
        <p:spPr>
          <a:xfrm>
            <a:off x="9644251" y="2883402"/>
            <a:ext cx="1260000" cy="360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发货地点</a:t>
            </a:r>
          </a:p>
        </p:txBody>
      </p: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DA6F7506-E4ED-2ACD-7509-0BB2D8699967}"/>
              </a:ext>
            </a:extLst>
          </p:cNvPr>
          <p:cNvSpPr/>
          <p:nvPr/>
        </p:nvSpPr>
        <p:spPr>
          <a:xfrm>
            <a:off x="4135507" y="2451293"/>
            <a:ext cx="1084078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司机集散点报到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5F5833ED-BA2F-7461-77B7-1418A9659433}"/>
              </a:ext>
            </a:extLst>
          </p:cNvPr>
          <p:cNvCxnSpPr>
            <a:cxnSpLocks/>
          </p:cNvCxnSpPr>
          <p:nvPr/>
        </p:nvCxnSpPr>
        <p:spPr>
          <a:xfrm>
            <a:off x="10426709" y="2667501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圆角矩形 139">
            <a:extLst>
              <a:ext uri="{FF2B5EF4-FFF2-40B4-BE49-F238E27FC236}">
                <a16:creationId xmlns:a16="http://schemas.microsoft.com/office/drawing/2014/main" id="{614B0C35-46B7-FFEA-8B2F-4E8B31797254}"/>
              </a:ext>
            </a:extLst>
          </p:cNvPr>
          <p:cNvSpPr/>
          <p:nvPr/>
        </p:nvSpPr>
        <p:spPr>
          <a:xfrm>
            <a:off x="9761679" y="2433831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卸货</a:t>
            </a:r>
          </a:p>
        </p:txBody>
      </p:sp>
      <p:sp>
        <p:nvSpPr>
          <p:cNvPr id="74" name="圆角矩形 139">
            <a:extLst>
              <a:ext uri="{FF2B5EF4-FFF2-40B4-BE49-F238E27FC236}">
                <a16:creationId xmlns:a16="http://schemas.microsoft.com/office/drawing/2014/main" id="{3E571D2F-B770-0FB2-B1E4-09E9D8B71356}"/>
              </a:ext>
            </a:extLst>
          </p:cNvPr>
          <p:cNvSpPr/>
          <p:nvPr/>
        </p:nvSpPr>
        <p:spPr>
          <a:xfrm>
            <a:off x="11089179" y="2419928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过磅出厂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1B1193E8-ABB6-EE2E-B5FE-F5ECDF01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521" y="3413894"/>
            <a:ext cx="1072989" cy="603556"/>
          </a:xfrm>
          <a:prstGeom prst="rect">
            <a:avLst/>
          </a:prstGeom>
        </p:spPr>
      </p:pic>
      <p:grpSp>
        <p:nvGrpSpPr>
          <p:cNvPr id="76" name="组合 7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573167D7-DA99-2472-EDB7-4CD6B4FEC6DB}"/>
              </a:ext>
            </a:extLst>
          </p:cNvPr>
          <p:cNvGrpSpPr>
            <a:grpSpLocks noChangeAspect="1"/>
          </p:cNvGrpSpPr>
          <p:nvPr/>
        </p:nvGrpSpPr>
        <p:grpSpPr>
          <a:xfrm>
            <a:off x="9750925" y="3657450"/>
            <a:ext cx="1030091" cy="360000"/>
            <a:chOff x="2576513" y="1539876"/>
            <a:chExt cx="7038976" cy="3490912"/>
          </a:xfrm>
          <a:solidFill>
            <a:srgbClr val="6699FF"/>
          </a:solidFill>
        </p:grpSpPr>
        <p:sp>
          <p:nvSpPr>
            <p:cNvPr id="77" name="î$liḋè">
              <a:extLst>
                <a:ext uri="{FF2B5EF4-FFF2-40B4-BE49-F238E27FC236}">
                  <a16:creationId xmlns:a16="http://schemas.microsoft.com/office/drawing/2014/main" id="{C7B2E6E1-C099-AAF7-F6D1-24A8BC87EA17}"/>
                </a:ext>
              </a:extLst>
            </p:cNvPr>
            <p:cNvSpPr/>
            <p:nvPr/>
          </p:nvSpPr>
          <p:spPr bwMode="auto">
            <a:xfrm>
              <a:off x="2847976" y="3967163"/>
              <a:ext cx="6767513" cy="460375"/>
            </a:xfrm>
            <a:custGeom>
              <a:avLst/>
              <a:gdLst>
                <a:gd name="T0" fmla="*/ 0 w 473"/>
                <a:gd name="T1" fmla="*/ 0 h 32"/>
                <a:gd name="T2" fmla="*/ 465 w 473"/>
                <a:gd name="T3" fmla="*/ 0 h 32"/>
                <a:gd name="T4" fmla="*/ 473 w 473"/>
                <a:gd name="T5" fmla="*/ 8 h 32"/>
                <a:gd name="T6" fmla="*/ 473 w 473"/>
                <a:gd name="T7" fmla="*/ 19 h 32"/>
                <a:gd name="T8" fmla="*/ 460 w 473"/>
                <a:gd name="T9" fmla="*/ 32 h 32"/>
                <a:gd name="T10" fmla="*/ 0 w 473"/>
                <a:gd name="T11" fmla="*/ 32 h 32"/>
                <a:gd name="T12" fmla="*/ 0 w 473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3" h="32">
                  <a:moveTo>
                    <a:pt x="0" y="0"/>
                  </a:moveTo>
                  <a:cubicBezTo>
                    <a:pt x="465" y="0"/>
                    <a:pt x="465" y="0"/>
                    <a:pt x="465" y="0"/>
                  </a:cubicBezTo>
                  <a:cubicBezTo>
                    <a:pt x="469" y="0"/>
                    <a:pt x="473" y="4"/>
                    <a:pt x="473" y="8"/>
                  </a:cubicBezTo>
                  <a:cubicBezTo>
                    <a:pt x="473" y="19"/>
                    <a:pt x="473" y="19"/>
                    <a:pt x="473" y="19"/>
                  </a:cubicBezTo>
                  <a:cubicBezTo>
                    <a:pt x="473" y="26"/>
                    <a:pt x="467" y="32"/>
                    <a:pt x="460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iślîḍé">
              <a:extLst>
                <a:ext uri="{FF2B5EF4-FFF2-40B4-BE49-F238E27FC236}">
                  <a16:creationId xmlns:a16="http://schemas.microsoft.com/office/drawing/2014/main" id="{3D88F0AD-EF5F-C54E-5446-C7572ECC9488}"/>
                </a:ext>
              </a:extLst>
            </p:cNvPr>
            <p:cNvSpPr/>
            <p:nvPr/>
          </p:nvSpPr>
          <p:spPr bwMode="auto">
            <a:xfrm>
              <a:off x="2576513" y="3565526"/>
              <a:ext cx="6808788" cy="674688"/>
            </a:xfrm>
            <a:custGeom>
              <a:avLst/>
              <a:gdLst>
                <a:gd name="T0" fmla="*/ 4289 w 4289"/>
                <a:gd name="T1" fmla="*/ 163 h 425"/>
                <a:gd name="T2" fmla="*/ 4289 w 4289"/>
                <a:gd name="T3" fmla="*/ 425 h 425"/>
                <a:gd name="T4" fmla="*/ 0 w 4289"/>
                <a:gd name="T5" fmla="*/ 425 h 425"/>
                <a:gd name="T6" fmla="*/ 0 w 4289"/>
                <a:gd name="T7" fmla="*/ 163 h 425"/>
                <a:gd name="T8" fmla="*/ 3145 w 4289"/>
                <a:gd name="T9" fmla="*/ 163 h 425"/>
                <a:gd name="T10" fmla="*/ 3677 w 4289"/>
                <a:gd name="T11" fmla="*/ 0 h 425"/>
                <a:gd name="T12" fmla="*/ 4064 w 4289"/>
                <a:gd name="T13" fmla="*/ 109 h 425"/>
                <a:gd name="T14" fmla="*/ 4289 w 4289"/>
                <a:gd name="T15" fmla="*/ 163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89" h="425">
                  <a:moveTo>
                    <a:pt x="4289" y="163"/>
                  </a:moveTo>
                  <a:lnTo>
                    <a:pt x="4289" y="425"/>
                  </a:lnTo>
                  <a:lnTo>
                    <a:pt x="0" y="425"/>
                  </a:lnTo>
                  <a:lnTo>
                    <a:pt x="0" y="163"/>
                  </a:lnTo>
                  <a:lnTo>
                    <a:pt x="3145" y="163"/>
                  </a:lnTo>
                  <a:lnTo>
                    <a:pt x="3677" y="0"/>
                  </a:lnTo>
                  <a:lnTo>
                    <a:pt x="4064" y="109"/>
                  </a:lnTo>
                  <a:lnTo>
                    <a:pt x="4289" y="1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ïṧḻîḍé">
              <a:extLst>
                <a:ext uri="{FF2B5EF4-FFF2-40B4-BE49-F238E27FC236}">
                  <a16:creationId xmlns:a16="http://schemas.microsoft.com/office/drawing/2014/main" id="{7B1F5ACD-1ADB-D6B7-D011-86D434F406F5}"/>
                </a:ext>
              </a:extLst>
            </p:cNvPr>
            <p:cNvSpPr/>
            <p:nvPr/>
          </p:nvSpPr>
          <p:spPr bwMode="auto">
            <a:xfrm>
              <a:off x="2576513" y="3565526"/>
              <a:ext cx="6451600" cy="517525"/>
            </a:xfrm>
            <a:custGeom>
              <a:avLst/>
              <a:gdLst>
                <a:gd name="T0" fmla="*/ 4064 w 4064"/>
                <a:gd name="T1" fmla="*/ 109 h 326"/>
                <a:gd name="T2" fmla="*/ 4064 w 4064"/>
                <a:gd name="T3" fmla="*/ 326 h 326"/>
                <a:gd name="T4" fmla="*/ 0 w 4064"/>
                <a:gd name="T5" fmla="*/ 326 h 326"/>
                <a:gd name="T6" fmla="*/ 0 w 4064"/>
                <a:gd name="T7" fmla="*/ 163 h 326"/>
                <a:gd name="T8" fmla="*/ 3145 w 4064"/>
                <a:gd name="T9" fmla="*/ 163 h 326"/>
                <a:gd name="T10" fmla="*/ 3677 w 4064"/>
                <a:gd name="T11" fmla="*/ 0 h 326"/>
                <a:gd name="T12" fmla="*/ 4064 w 4064"/>
                <a:gd name="T13" fmla="*/ 10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64" h="326">
                  <a:moveTo>
                    <a:pt x="4064" y="109"/>
                  </a:moveTo>
                  <a:lnTo>
                    <a:pt x="4064" y="326"/>
                  </a:lnTo>
                  <a:lnTo>
                    <a:pt x="0" y="326"/>
                  </a:lnTo>
                  <a:lnTo>
                    <a:pt x="0" y="163"/>
                  </a:lnTo>
                  <a:lnTo>
                    <a:pt x="3145" y="163"/>
                  </a:lnTo>
                  <a:lnTo>
                    <a:pt x="3677" y="0"/>
                  </a:lnTo>
                  <a:lnTo>
                    <a:pt x="4064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îṡḷíḋe">
              <a:extLst>
                <a:ext uri="{FF2B5EF4-FFF2-40B4-BE49-F238E27FC236}">
                  <a16:creationId xmlns:a16="http://schemas.microsoft.com/office/drawing/2014/main" id="{FF096AF8-660B-F51C-2453-AE118FED98C5}"/>
                </a:ext>
              </a:extLst>
            </p:cNvPr>
            <p:cNvSpPr/>
            <p:nvPr/>
          </p:nvSpPr>
          <p:spPr bwMode="auto">
            <a:xfrm>
              <a:off x="2890838" y="3910013"/>
              <a:ext cx="4549775" cy="101600"/>
            </a:xfrm>
            <a:custGeom>
              <a:avLst/>
              <a:gdLst>
                <a:gd name="T0" fmla="*/ 315 w 318"/>
                <a:gd name="T1" fmla="*/ 7 h 7"/>
                <a:gd name="T2" fmla="*/ 3 w 318"/>
                <a:gd name="T3" fmla="*/ 7 h 7"/>
                <a:gd name="T4" fmla="*/ 0 w 318"/>
                <a:gd name="T5" fmla="*/ 5 h 7"/>
                <a:gd name="T6" fmla="*/ 0 w 318"/>
                <a:gd name="T7" fmla="*/ 2 h 7"/>
                <a:gd name="T8" fmla="*/ 3 w 318"/>
                <a:gd name="T9" fmla="*/ 0 h 7"/>
                <a:gd name="T10" fmla="*/ 315 w 318"/>
                <a:gd name="T11" fmla="*/ 0 h 7"/>
                <a:gd name="T12" fmla="*/ 318 w 318"/>
                <a:gd name="T13" fmla="*/ 2 h 7"/>
                <a:gd name="T14" fmla="*/ 318 w 318"/>
                <a:gd name="T15" fmla="*/ 5 h 7"/>
                <a:gd name="T16" fmla="*/ 315 w 318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7">
                  <a:moveTo>
                    <a:pt x="315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7" y="0"/>
                    <a:pt x="318" y="1"/>
                    <a:pt x="318" y="2"/>
                  </a:cubicBezTo>
                  <a:cubicBezTo>
                    <a:pt x="318" y="5"/>
                    <a:pt x="318" y="5"/>
                    <a:pt x="318" y="5"/>
                  </a:cubicBezTo>
                  <a:cubicBezTo>
                    <a:pt x="318" y="6"/>
                    <a:pt x="317" y="7"/>
                    <a:pt x="31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îŝļíḋé">
              <a:extLst>
                <a:ext uri="{FF2B5EF4-FFF2-40B4-BE49-F238E27FC236}">
                  <a16:creationId xmlns:a16="http://schemas.microsoft.com/office/drawing/2014/main" id="{42E86521-8531-FCDA-034A-5A2B2EAE41EE}"/>
                </a:ext>
              </a:extLst>
            </p:cNvPr>
            <p:cNvSpPr/>
            <p:nvPr/>
          </p:nvSpPr>
          <p:spPr bwMode="auto">
            <a:xfrm>
              <a:off x="2947988" y="4254501"/>
              <a:ext cx="4549775" cy="115888"/>
            </a:xfrm>
            <a:custGeom>
              <a:avLst/>
              <a:gdLst>
                <a:gd name="T0" fmla="*/ 315 w 318"/>
                <a:gd name="T1" fmla="*/ 8 h 8"/>
                <a:gd name="T2" fmla="*/ 3 w 318"/>
                <a:gd name="T3" fmla="*/ 8 h 8"/>
                <a:gd name="T4" fmla="*/ 0 w 318"/>
                <a:gd name="T5" fmla="*/ 5 h 8"/>
                <a:gd name="T6" fmla="*/ 0 w 318"/>
                <a:gd name="T7" fmla="*/ 3 h 8"/>
                <a:gd name="T8" fmla="*/ 3 w 318"/>
                <a:gd name="T9" fmla="*/ 0 h 8"/>
                <a:gd name="T10" fmla="*/ 315 w 318"/>
                <a:gd name="T11" fmla="*/ 0 h 8"/>
                <a:gd name="T12" fmla="*/ 318 w 318"/>
                <a:gd name="T13" fmla="*/ 3 h 8"/>
                <a:gd name="T14" fmla="*/ 318 w 318"/>
                <a:gd name="T15" fmla="*/ 5 h 8"/>
                <a:gd name="T16" fmla="*/ 315 w 31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8">
                  <a:moveTo>
                    <a:pt x="315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7"/>
                    <a:pt x="0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7" y="0"/>
                    <a:pt x="318" y="1"/>
                    <a:pt x="318" y="3"/>
                  </a:cubicBezTo>
                  <a:cubicBezTo>
                    <a:pt x="318" y="5"/>
                    <a:pt x="318" y="5"/>
                    <a:pt x="318" y="5"/>
                  </a:cubicBezTo>
                  <a:cubicBezTo>
                    <a:pt x="318" y="7"/>
                    <a:pt x="317" y="8"/>
                    <a:pt x="31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iṡľîḑê">
              <a:extLst>
                <a:ext uri="{FF2B5EF4-FFF2-40B4-BE49-F238E27FC236}">
                  <a16:creationId xmlns:a16="http://schemas.microsoft.com/office/drawing/2014/main" id="{6757913F-0148-7082-DC61-0B62B5A4290F}"/>
                </a:ext>
              </a:extLst>
            </p:cNvPr>
            <p:cNvSpPr/>
            <p:nvPr/>
          </p:nvSpPr>
          <p:spPr bwMode="auto">
            <a:xfrm>
              <a:off x="7569201" y="1539876"/>
              <a:ext cx="1989138" cy="2700338"/>
            </a:xfrm>
            <a:custGeom>
              <a:avLst/>
              <a:gdLst>
                <a:gd name="T0" fmla="*/ 126 w 139"/>
                <a:gd name="T1" fmla="*/ 188 h 188"/>
                <a:gd name="T2" fmla="*/ 99 w 139"/>
                <a:gd name="T3" fmla="*/ 188 h 188"/>
                <a:gd name="T4" fmla="*/ 98 w 139"/>
                <a:gd name="T5" fmla="*/ 182 h 188"/>
                <a:gd name="T6" fmla="*/ 73 w 139"/>
                <a:gd name="T7" fmla="*/ 157 h 188"/>
                <a:gd name="T8" fmla="*/ 48 w 139"/>
                <a:gd name="T9" fmla="*/ 154 h 188"/>
                <a:gd name="T10" fmla="*/ 27 w 139"/>
                <a:gd name="T11" fmla="*/ 157 h 188"/>
                <a:gd name="T12" fmla="*/ 15 w 139"/>
                <a:gd name="T13" fmla="*/ 159 h 188"/>
                <a:gd name="T14" fmla="*/ 0 w 139"/>
                <a:gd name="T15" fmla="*/ 159 h 188"/>
                <a:gd name="T16" fmla="*/ 0 w 139"/>
                <a:gd name="T17" fmla="*/ 14 h 188"/>
                <a:gd name="T18" fmla="*/ 14 w 139"/>
                <a:gd name="T19" fmla="*/ 0 h 188"/>
                <a:gd name="T20" fmla="*/ 65 w 139"/>
                <a:gd name="T21" fmla="*/ 0 h 188"/>
                <a:gd name="T22" fmla="*/ 87 w 139"/>
                <a:gd name="T23" fmla="*/ 4 h 188"/>
                <a:gd name="T24" fmla="*/ 117 w 139"/>
                <a:gd name="T25" fmla="*/ 35 h 188"/>
                <a:gd name="T26" fmla="*/ 137 w 139"/>
                <a:gd name="T27" fmla="*/ 177 h 188"/>
                <a:gd name="T28" fmla="*/ 126 w 139"/>
                <a:gd name="T29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9" h="188">
                  <a:moveTo>
                    <a:pt x="126" y="188"/>
                  </a:moveTo>
                  <a:cubicBezTo>
                    <a:pt x="99" y="188"/>
                    <a:pt x="99" y="188"/>
                    <a:pt x="99" y="188"/>
                  </a:cubicBezTo>
                  <a:cubicBezTo>
                    <a:pt x="99" y="188"/>
                    <a:pt x="99" y="186"/>
                    <a:pt x="98" y="182"/>
                  </a:cubicBezTo>
                  <a:cubicBezTo>
                    <a:pt x="95" y="175"/>
                    <a:pt x="88" y="163"/>
                    <a:pt x="73" y="157"/>
                  </a:cubicBezTo>
                  <a:cubicBezTo>
                    <a:pt x="66" y="154"/>
                    <a:pt x="58" y="153"/>
                    <a:pt x="48" y="154"/>
                  </a:cubicBezTo>
                  <a:cubicBezTo>
                    <a:pt x="42" y="154"/>
                    <a:pt x="35" y="155"/>
                    <a:pt x="27" y="157"/>
                  </a:cubicBezTo>
                  <a:cubicBezTo>
                    <a:pt x="23" y="159"/>
                    <a:pt x="19" y="159"/>
                    <a:pt x="1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3" y="0"/>
                    <a:pt x="80" y="1"/>
                    <a:pt x="87" y="4"/>
                  </a:cubicBezTo>
                  <a:cubicBezTo>
                    <a:pt x="100" y="10"/>
                    <a:pt x="111" y="21"/>
                    <a:pt x="117" y="35"/>
                  </a:cubicBezTo>
                  <a:cubicBezTo>
                    <a:pt x="126" y="60"/>
                    <a:pt x="139" y="104"/>
                    <a:pt x="137" y="177"/>
                  </a:cubicBezTo>
                  <a:cubicBezTo>
                    <a:pt x="137" y="183"/>
                    <a:pt x="132" y="188"/>
                    <a:pt x="126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îṩḷîdé">
              <a:extLst>
                <a:ext uri="{FF2B5EF4-FFF2-40B4-BE49-F238E27FC236}">
                  <a16:creationId xmlns:a16="http://schemas.microsoft.com/office/drawing/2014/main" id="{BD2ADE7E-D242-2E78-76D7-13882BEF5222}"/>
                </a:ext>
              </a:extLst>
            </p:cNvPr>
            <p:cNvSpPr/>
            <p:nvPr/>
          </p:nvSpPr>
          <p:spPr bwMode="auto">
            <a:xfrm>
              <a:off x="7569201" y="1539876"/>
              <a:ext cx="1858963" cy="2700338"/>
            </a:xfrm>
            <a:custGeom>
              <a:avLst/>
              <a:gdLst>
                <a:gd name="T0" fmla="*/ 127 w 130"/>
                <a:gd name="T1" fmla="*/ 188 h 188"/>
                <a:gd name="T2" fmla="*/ 96 w 130"/>
                <a:gd name="T3" fmla="*/ 188 h 188"/>
                <a:gd name="T4" fmla="*/ 88 w 130"/>
                <a:gd name="T5" fmla="*/ 182 h 188"/>
                <a:gd name="T6" fmla="*/ 88 w 130"/>
                <a:gd name="T7" fmla="*/ 182 h 188"/>
                <a:gd name="T8" fmla="*/ 63 w 130"/>
                <a:gd name="T9" fmla="*/ 157 h 188"/>
                <a:gd name="T10" fmla="*/ 48 w 130"/>
                <a:gd name="T11" fmla="*/ 154 h 188"/>
                <a:gd name="T12" fmla="*/ 48 w 130"/>
                <a:gd name="T13" fmla="*/ 154 h 188"/>
                <a:gd name="T14" fmla="*/ 17 w 130"/>
                <a:gd name="T15" fmla="*/ 157 h 188"/>
                <a:gd name="T16" fmla="*/ 10 w 130"/>
                <a:gd name="T17" fmla="*/ 159 h 188"/>
                <a:gd name="T18" fmla="*/ 5 w 130"/>
                <a:gd name="T19" fmla="*/ 159 h 188"/>
                <a:gd name="T20" fmla="*/ 0 w 130"/>
                <a:gd name="T21" fmla="*/ 159 h 188"/>
                <a:gd name="T22" fmla="*/ 0 w 130"/>
                <a:gd name="T23" fmla="*/ 14 h 188"/>
                <a:gd name="T24" fmla="*/ 14 w 130"/>
                <a:gd name="T25" fmla="*/ 0 h 188"/>
                <a:gd name="T26" fmla="*/ 55 w 130"/>
                <a:gd name="T27" fmla="*/ 0 h 188"/>
                <a:gd name="T28" fmla="*/ 77 w 130"/>
                <a:gd name="T29" fmla="*/ 4 h 188"/>
                <a:gd name="T30" fmla="*/ 107 w 130"/>
                <a:gd name="T31" fmla="*/ 35 h 188"/>
                <a:gd name="T32" fmla="*/ 127 w 130"/>
                <a:gd name="T3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" h="188">
                  <a:moveTo>
                    <a:pt x="127" y="188"/>
                  </a:moveTo>
                  <a:cubicBezTo>
                    <a:pt x="96" y="188"/>
                    <a:pt x="96" y="188"/>
                    <a:pt x="96" y="188"/>
                  </a:cubicBezTo>
                  <a:cubicBezTo>
                    <a:pt x="92" y="188"/>
                    <a:pt x="89" y="186"/>
                    <a:pt x="88" y="182"/>
                  </a:cubicBezTo>
                  <a:cubicBezTo>
                    <a:pt x="88" y="182"/>
                    <a:pt x="88" y="182"/>
                    <a:pt x="88" y="182"/>
                  </a:cubicBezTo>
                  <a:cubicBezTo>
                    <a:pt x="85" y="175"/>
                    <a:pt x="78" y="163"/>
                    <a:pt x="63" y="157"/>
                  </a:cubicBezTo>
                  <a:cubicBezTo>
                    <a:pt x="59" y="155"/>
                    <a:pt x="54" y="154"/>
                    <a:pt x="48" y="154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39" y="153"/>
                    <a:pt x="29" y="154"/>
                    <a:pt x="17" y="157"/>
                  </a:cubicBezTo>
                  <a:cubicBezTo>
                    <a:pt x="15" y="158"/>
                    <a:pt x="12" y="159"/>
                    <a:pt x="10" y="159"/>
                  </a:cubicBezTo>
                  <a:cubicBezTo>
                    <a:pt x="8" y="159"/>
                    <a:pt x="6" y="159"/>
                    <a:pt x="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3" y="0"/>
                    <a:pt x="70" y="1"/>
                    <a:pt x="77" y="4"/>
                  </a:cubicBezTo>
                  <a:cubicBezTo>
                    <a:pt x="90" y="10"/>
                    <a:pt x="101" y="21"/>
                    <a:pt x="107" y="35"/>
                  </a:cubicBezTo>
                  <a:cubicBezTo>
                    <a:pt x="117" y="61"/>
                    <a:pt x="130" y="108"/>
                    <a:pt x="127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iṡliďe">
              <a:extLst>
                <a:ext uri="{FF2B5EF4-FFF2-40B4-BE49-F238E27FC236}">
                  <a16:creationId xmlns:a16="http://schemas.microsoft.com/office/drawing/2014/main" id="{2B073AC4-1E88-F002-FE8A-03B08531EA8F}"/>
                </a:ext>
              </a:extLst>
            </p:cNvPr>
            <p:cNvSpPr/>
            <p:nvPr/>
          </p:nvSpPr>
          <p:spPr bwMode="auto">
            <a:xfrm>
              <a:off x="7712076" y="1539876"/>
              <a:ext cx="1716088" cy="2700338"/>
            </a:xfrm>
            <a:custGeom>
              <a:avLst/>
              <a:gdLst>
                <a:gd name="T0" fmla="*/ 117 w 120"/>
                <a:gd name="T1" fmla="*/ 188 h 188"/>
                <a:gd name="T2" fmla="*/ 89 w 120"/>
                <a:gd name="T3" fmla="*/ 188 h 188"/>
                <a:gd name="T4" fmla="*/ 88 w 120"/>
                <a:gd name="T5" fmla="*/ 182 h 188"/>
                <a:gd name="T6" fmla="*/ 63 w 120"/>
                <a:gd name="T7" fmla="*/ 157 h 188"/>
                <a:gd name="T8" fmla="*/ 48 w 120"/>
                <a:gd name="T9" fmla="*/ 154 h 188"/>
                <a:gd name="T10" fmla="*/ 38 w 120"/>
                <a:gd name="T11" fmla="*/ 154 h 188"/>
                <a:gd name="T12" fmla="*/ 38 w 120"/>
                <a:gd name="T13" fmla="*/ 154 h 188"/>
                <a:gd name="T14" fmla="*/ 17 w 120"/>
                <a:gd name="T15" fmla="*/ 157 h 188"/>
                <a:gd name="T16" fmla="*/ 5 w 120"/>
                <a:gd name="T17" fmla="*/ 159 h 188"/>
                <a:gd name="T18" fmla="*/ 0 w 120"/>
                <a:gd name="T19" fmla="*/ 159 h 188"/>
                <a:gd name="T20" fmla="*/ 0 w 120"/>
                <a:gd name="T21" fmla="*/ 14 h 188"/>
                <a:gd name="T22" fmla="*/ 14 w 120"/>
                <a:gd name="T23" fmla="*/ 0 h 188"/>
                <a:gd name="T24" fmla="*/ 45 w 120"/>
                <a:gd name="T25" fmla="*/ 0 h 188"/>
                <a:gd name="T26" fmla="*/ 67 w 120"/>
                <a:gd name="T27" fmla="*/ 4 h 188"/>
                <a:gd name="T28" fmla="*/ 97 w 120"/>
                <a:gd name="T29" fmla="*/ 35 h 188"/>
                <a:gd name="T30" fmla="*/ 117 w 120"/>
                <a:gd name="T3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0" h="188">
                  <a:moveTo>
                    <a:pt x="117" y="188"/>
                  </a:moveTo>
                  <a:cubicBezTo>
                    <a:pt x="89" y="188"/>
                    <a:pt x="89" y="188"/>
                    <a:pt x="89" y="188"/>
                  </a:cubicBezTo>
                  <a:cubicBezTo>
                    <a:pt x="89" y="188"/>
                    <a:pt x="89" y="186"/>
                    <a:pt x="88" y="182"/>
                  </a:cubicBezTo>
                  <a:cubicBezTo>
                    <a:pt x="85" y="175"/>
                    <a:pt x="78" y="163"/>
                    <a:pt x="63" y="157"/>
                  </a:cubicBezTo>
                  <a:cubicBezTo>
                    <a:pt x="59" y="155"/>
                    <a:pt x="54" y="154"/>
                    <a:pt x="48" y="154"/>
                  </a:cubicBezTo>
                  <a:cubicBezTo>
                    <a:pt x="45" y="153"/>
                    <a:pt x="41" y="153"/>
                    <a:pt x="38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2" y="154"/>
                    <a:pt x="25" y="155"/>
                    <a:pt x="17" y="157"/>
                  </a:cubicBezTo>
                  <a:cubicBezTo>
                    <a:pt x="13" y="159"/>
                    <a:pt x="9" y="159"/>
                    <a:pt x="5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3" y="0"/>
                    <a:pt x="60" y="1"/>
                    <a:pt x="67" y="4"/>
                  </a:cubicBezTo>
                  <a:cubicBezTo>
                    <a:pt x="80" y="10"/>
                    <a:pt x="91" y="21"/>
                    <a:pt x="97" y="35"/>
                  </a:cubicBezTo>
                  <a:cubicBezTo>
                    <a:pt x="107" y="61"/>
                    <a:pt x="120" y="108"/>
                    <a:pt x="117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íSļîďé">
              <a:extLst>
                <a:ext uri="{FF2B5EF4-FFF2-40B4-BE49-F238E27FC236}">
                  <a16:creationId xmlns:a16="http://schemas.microsoft.com/office/drawing/2014/main" id="{5560AD1B-9853-CF26-B08C-BDB733B82869}"/>
                </a:ext>
              </a:extLst>
            </p:cNvPr>
            <p:cNvSpPr/>
            <p:nvPr/>
          </p:nvSpPr>
          <p:spPr bwMode="auto">
            <a:xfrm>
              <a:off x="8012113" y="1957388"/>
              <a:ext cx="1173163" cy="1192213"/>
            </a:xfrm>
            <a:custGeom>
              <a:avLst/>
              <a:gdLst>
                <a:gd name="T0" fmla="*/ 82 w 82"/>
                <a:gd name="T1" fmla="*/ 75 h 83"/>
                <a:gd name="T2" fmla="*/ 73 w 82"/>
                <a:gd name="T3" fmla="*/ 82 h 83"/>
                <a:gd name="T4" fmla="*/ 5 w 82"/>
                <a:gd name="T5" fmla="*/ 70 h 83"/>
                <a:gd name="T6" fmla="*/ 0 w 82"/>
                <a:gd name="T7" fmla="*/ 64 h 83"/>
                <a:gd name="T8" fmla="*/ 0 w 82"/>
                <a:gd name="T9" fmla="*/ 6 h 83"/>
                <a:gd name="T10" fmla="*/ 6 w 82"/>
                <a:gd name="T11" fmla="*/ 0 h 83"/>
                <a:gd name="T12" fmla="*/ 41 w 82"/>
                <a:gd name="T13" fmla="*/ 0 h 83"/>
                <a:gd name="T14" fmla="*/ 58 w 82"/>
                <a:gd name="T15" fmla="*/ 4 h 83"/>
                <a:gd name="T16" fmla="*/ 71 w 82"/>
                <a:gd name="T17" fmla="*/ 17 h 83"/>
                <a:gd name="T18" fmla="*/ 82 w 82"/>
                <a:gd name="T19" fmla="*/ 7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3">
                  <a:moveTo>
                    <a:pt x="82" y="75"/>
                  </a:moveTo>
                  <a:cubicBezTo>
                    <a:pt x="82" y="80"/>
                    <a:pt x="78" y="83"/>
                    <a:pt x="73" y="82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2" y="69"/>
                    <a:pt x="0" y="67"/>
                    <a:pt x="0" y="6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3" y="2"/>
                    <a:pt x="58" y="4"/>
                  </a:cubicBezTo>
                  <a:cubicBezTo>
                    <a:pt x="63" y="7"/>
                    <a:pt x="68" y="12"/>
                    <a:pt x="71" y="17"/>
                  </a:cubicBezTo>
                  <a:cubicBezTo>
                    <a:pt x="81" y="35"/>
                    <a:pt x="82" y="61"/>
                    <a:pt x="8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ïśḻiḍé">
              <a:extLst>
                <a:ext uri="{FF2B5EF4-FFF2-40B4-BE49-F238E27FC236}">
                  <a16:creationId xmlns:a16="http://schemas.microsoft.com/office/drawing/2014/main" id="{394C2951-9AA4-0720-0BD4-AFC0B0E5D7AC}"/>
                </a:ext>
              </a:extLst>
            </p:cNvPr>
            <p:cNvSpPr/>
            <p:nvPr/>
          </p:nvSpPr>
          <p:spPr bwMode="auto">
            <a:xfrm>
              <a:off x="7983538" y="1927226"/>
              <a:ext cx="1173163" cy="1193800"/>
            </a:xfrm>
            <a:custGeom>
              <a:avLst/>
              <a:gdLst>
                <a:gd name="T0" fmla="*/ 82 w 82"/>
                <a:gd name="T1" fmla="*/ 74 h 83"/>
                <a:gd name="T2" fmla="*/ 73 w 82"/>
                <a:gd name="T3" fmla="*/ 82 h 83"/>
                <a:gd name="T4" fmla="*/ 5 w 82"/>
                <a:gd name="T5" fmla="*/ 69 h 83"/>
                <a:gd name="T6" fmla="*/ 0 w 82"/>
                <a:gd name="T7" fmla="*/ 63 h 83"/>
                <a:gd name="T8" fmla="*/ 0 w 82"/>
                <a:gd name="T9" fmla="*/ 6 h 83"/>
                <a:gd name="T10" fmla="*/ 6 w 82"/>
                <a:gd name="T11" fmla="*/ 0 h 83"/>
                <a:gd name="T12" fmla="*/ 41 w 82"/>
                <a:gd name="T13" fmla="*/ 0 h 83"/>
                <a:gd name="T14" fmla="*/ 57 w 82"/>
                <a:gd name="T15" fmla="*/ 4 h 83"/>
                <a:gd name="T16" fmla="*/ 70 w 82"/>
                <a:gd name="T17" fmla="*/ 17 h 83"/>
                <a:gd name="T18" fmla="*/ 82 w 82"/>
                <a:gd name="T19" fmla="*/ 7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3">
                  <a:moveTo>
                    <a:pt x="82" y="74"/>
                  </a:moveTo>
                  <a:cubicBezTo>
                    <a:pt x="82" y="79"/>
                    <a:pt x="78" y="83"/>
                    <a:pt x="73" y="82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2" y="69"/>
                    <a:pt x="0" y="66"/>
                    <a:pt x="0" y="6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2" y="1"/>
                    <a:pt x="57" y="4"/>
                  </a:cubicBezTo>
                  <a:cubicBezTo>
                    <a:pt x="63" y="7"/>
                    <a:pt x="67" y="11"/>
                    <a:pt x="70" y="17"/>
                  </a:cubicBezTo>
                  <a:cubicBezTo>
                    <a:pt x="80" y="34"/>
                    <a:pt x="82" y="61"/>
                    <a:pt x="82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ïŝ1îḍe">
              <a:extLst>
                <a:ext uri="{FF2B5EF4-FFF2-40B4-BE49-F238E27FC236}">
                  <a16:creationId xmlns:a16="http://schemas.microsoft.com/office/drawing/2014/main" id="{6B6F310E-78DF-C78B-F285-F0E9857EF655}"/>
                </a:ext>
              </a:extLst>
            </p:cNvPr>
            <p:cNvSpPr/>
            <p:nvPr/>
          </p:nvSpPr>
          <p:spPr bwMode="auto">
            <a:xfrm>
              <a:off x="7983538" y="1927226"/>
              <a:ext cx="973138" cy="963613"/>
            </a:xfrm>
            <a:custGeom>
              <a:avLst/>
              <a:gdLst>
                <a:gd name="T0" fmla="*/ 68 w 68"/>
                <a:gd name="T1" fmla="*/ 59 h 67"/>
                <a:gd name="T2" fmla="*/ 59 w 68"/>
                <a:gd name="T3" fmla="*/ 67 h 67"/>
                <a:gd name="T4" fmla="*/ 0 w 68"/>
                <a:gd name="T5" fmla="*/ 56 h 67"/>
                <a:gd name="T6" fmla="*/ 0 w 68"/>
                <a:gd name="T7" fmla="*/ 6 h 67"/>
                <a:gd name="T8" fmla="*/ 6 w 68"/>
                <a:gd name="T9" fmla="*/ 0 h 67"/>
                <a:gd name="T10" fmla="*/ 41 w 68"/>
                <a:gd name="T11" fmla="*/ 0 h 67"/>
                <a:gd name="T12" fmla="*/ 57 w 68"/>
                <a:gd name="T13" fmla="*/ 4 h 67"/>
                <a:gd name="T14" fmla="*/ 68 w 68"/>
                <a:gd name="T15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67">
                  <a:moveTo>
                    <a:pt x="68" y="59"/>
                  </a:moveTo>
                  <a:cubicBezTo>
                    <a:pt x="68" y="64"/>
                    <a:pt x="63" y="67"/>
                    <a:pt x="59" y="6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7" y="0"/>
                    <a:pt x="52" y="1"/>
                    <a:pt x="57" y="4"/>
                  </a:cubicBezTo>
                  <a:cubicBezTo>
                    <a:pt x="66" y="21"/>
                    <a:pt x="67" y="46"/>
                    <a:pt x="68" y="59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íS1ïḋê">
              <a:extLst>
                <a:ext uri="{FF2B5EF4-FFF2-40B4-BE49-F238E27FC236}">
                  <a16:creationId xmlns:a16="http://schemas.microsoft.com/office/drawing/2014/main" id="{96B5644B-C9A0-5085-A8B0-7D4BFEB057FA}"/>
                </a:ext>
              </a:extLst>
            </p:cNvPr>
            <p:cNvSpPr/>
            <p:nvPr/>
          </p:nvSpPr>
          <p:spPr bwMode="auto">
            <a:xfrm>
              <a:off x="8026401" y="1971676"/>
              <a:ext cx="573088" cy="688975"/>
            </a:xfrm>
            <a:custGeom>
              <a:avLst/>
              <a:gdLst>
                <a:gd name="T0" fmla="*/ 0 w 40"/>
                <a:gd name="T1" fmla="*/ 45 h 48"/>
                <a:gd name="T2" fmla="*/ 0 w 40"/>
                <a:gd name="T3" fmla="*/ 12 h 48"/>
                <a:gd name="T4" fmla="*/ 11 w 40"/>
                <a:gd name="T5" fmla="*/ 0 h 48"/>
                <a:gd name="T6" fmla="*/ 37 w 40"/>
                <a:gd name="T7" fmla="*/ 0 h 48"/>
                <a:gd name="T8" fmla="*/ 40 w 40"/>
                <a:gd name="T9" fmla="*/ 4 h 48"/>
                <a:gd name="T10" fmla="*/ 37 w 40"/>
                <a:gd name="T11" fmla="*/ 7 h 48"/>
                <a:gd name="T12" fmla="*/ 17 w 40"/>
                <a:gd name="T13" fmla="*/ 7 h 48"/>
                <a:gd name="T14" fmla="*/ 5 w 40"/>
                <a:gd name="T15" fmla="*/ 18 h 48"/>
                <a:gd name="T16" fmla="*/ 6 w 40"/>
                <a:gd name="T17" fmla="*/ 45 h 48"/>
                <a:gd name="T18" fmla="*/ 3 w 40"/>
                <a:gd name="T19" fmla="*/ 48 h 48"/>
                <a:gd name="T20" fmla="*/ 0 w 40"/>
                <a:gd name="T21" fmla="*/ 45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8">
                  <a:moveTo>
                    <a:pt x="0" y="45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0" y="2"/>
                    <a:pt x="40" y="4"/>
                  </a:cubicBezTo>
                  <a:cubicBezTo>
                    <a:pt x="40" y="5"/>
                    <a:pt x="39" y="7"/>
                    <a:pt x="3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0" y="7"/>
                    <a:pt x="5" y="12"/>
                    <a:pt x="5" y="18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6"/>
                    <a:pt x="4" y="48"/>
                    <a:pt x="3" y="48"/>
                  </a:cubicBezTo>
                  <a:cubicBezTo>
                    <a:pt x="1" y="48"/>
                    <a:pt x="0" y="46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ïşľíḋê">
              <a:extLst>
                <a:ext uri="{FF2B5EF4-FFF2-40B4-BE49-F238E27FC236}">
                  <a16:creationId xmlns:a16="http://schemas.microsoft.com/office/drawing/2014/main" id="{C250EDC7-E73E-7FC4-59C7-A70EA8C4B4C7}"/>
                </a:ext>
              </a:extLst>
            </p:cNvPr>
            <p:cNvSpPr/>
            <p:nvPr/>
          </p:nvSpPr>
          <p:spPr bwMode="auto">
            <a:xfrm>
              <a:off x="7797801" y="1698626"/>
              <a:ext cx="744538" cy="85725"/>
            </a:xfrm>
            <a:custGeom>
              <a:avLst/>
              <a:gdLst>
                <a:gd name="T0" fmla="*/ 50 w 52"/>
                <a:gd name="T1" fmla="*/ 6 h 6"/>
                <a:gd name="T2" fmla="*/ 2 w 52"/>
                <a:gd name="T3" fmla="*/ 6 h 6"/>
                <a:gd name="T4" fmla="*/ 0 w 52"/>
                <a:gd name="T5" fmla="*/ 4 h 6"/>
                <a:gd name="T6" fmla="*/ 0 w 52"/>
                <a:gd name="T7" fmla="*/ 2 h 6"/>
                <a:gd name="T8" fmla="*/ 2 w 52"/>
                <a:gd name="T9" fmla="*/ 0 h 6"/>
                <a:gd name="T10" fmla="*/ 50 w 52"/>
                <a:gd name="T11" fmla="*/ 0 h 6"/>
                <a:gd name="T12" fmla="*/ 52 w 52"/>
                <a:gd name="T13" fmla="*/ 2 h 6"/>
                <a:gd name="T14" fmla="*/ 52 w 52"/>
                <a:gd name="T15" fmla="*/ 4 h 6"/>
                <a:gd name="T16" fmla="*/ 50 w 52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">
                  <a:moveTo>
                    <a:pt x="50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1" y="0"/>
                    <a:pt x="52" y="1"/>
                    <a:pt x="52" y="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5"/>
                    <a:pt x="51" y="6"/>
                    <a:pt x="5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ïṣḷîde">
              <a:extLst>
                <a:ext uri="{FF2B5EF4-FFF2-40B4-BE49-F238E27FC236}">
                  <a16:creationId xmlns:a16="http://schemas.microsoft.com/office/drawing/2014/main" id="{B2DF7872-F8B9-1365-94E2-C329606BBFD2}"/>
                </a:ext>
              </a:extLst>
            </p:cNvPr>
            <p:cNvSpPr/>
            <p:nvPr/>
          </p:nvSpPr>
          <p:spPr bwMode="auto">
            <a:xfrm>
              <a:off x="8585201" y="1698626"/>
              <a:ext cx="171450" cy="85725"/>
            </a:xfrm>
            <a:custGeom>
              <a:avLst/>
              <a:gdLst>
                <a:gd name="T0" fmla="*/ 10 w 12"/>
                <a:gd name="T1" fmla="*/ 6 h 6"/>
                <a:gd name="T2" fmla="*/ 2 w 12"/>
                <a:gd name="T3" fmla="*/ 6 h 6"/>
                <a:gd name="T4" fmla="*/ 0 w 12"/>
                <a:gd name="T5" fmla="*/ 4 h 6"/>
                <a:gd name="T6" fmla="*/ 0 w 12"/>
                <a:gd name="T7" fmla="*/ 2 h 6"/>
                <a:gd name="T8" fmla="*/ 2 w 12"/>
                <a:gd name="T9" fmla="*/ 0 h 6"/>
                <a:gd name="T10" fmla="*/ 10 w 12"/>
                <a:gd name="T11" fmla="*/ 0 h 6"/>
                <a:gd name="T12" fmla="*/ 12 w 12"/>
                <a:gd name="T13" fmla="*/ 2 h 6"/>
                <a:gd name="T14" fmla="*/ 12 w 12"/>
                <a:gd name="T15" fmla="*/ 4 h 6"/>
                <a:gd name="T16" fmla="*/ 10 w 12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6">
                  <a:moveTo>
                    <a:pt x="10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5"/>
                    <a:pt x="11" y="6"/>
                    <a:pt x="1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iŝľîḓè">
              <a:extLst>
                <a:ext uri="{FF2B5EF4-FFF2-40B4-BE49-F238E27FC236}">
                  <a16:creationId xmlns:a16="http://schemas.microsoft.com/office/drawing/2014/main" id="{99C0C168-FA56-AFB7-8CE6-431823D4DF43}"/>
                </a:ext>
              </a:extLst>
            </p:cNvPr>
            <p:cNvSpPr/>
            <p:nvPr/>
          </p:nvSpPr>
          <p:spPr bwMode="auto">
            <a:xfrm>
              <a:off x="7940676" y="2990851"/>
              <a:ext cx="958850" cy="258763"/>
            </a:xfrm>
            <a:custGeom>
              <a:avLst/>
              <a:gdLst>
                <a:gd name="T0" fmla="*/ 64 w 67"/>
                <a:gd name="T1" fmla="*/ 17 h 18"/>
                <a:gd name="T2" fmla="*/ 2 w 67"/>
                <a:gd name="T3" fmla="*/ 5 h 18"/>
                <a:gd name="T4" fmla="*/ 0 w 67"/>
                <a:gd name="T5" fmla="*/ 3 h 18"/>
                <a:gd name="T6" fmla="*/ 1 w 67"/>
                <a:gd name="T7" fmla="*/ 1 h 18"/>
                <a:gd name="T8" fmla="*/ 3 w 67"/>
                <a:gd name="T9" fmla="*/ 0 h 18"/>
                <a:gd name="T10" fmla="*/ 65 w 67"/>
                <a:gd name="T11" fmla="*/ 13 h 18"/>
                <a:gd name="T12" fmla="*/ 66 w 67"/>
                <a:gd name="T13" fmla="*/ 15 h 18"/>
                <a:gd name="T14" fmla="*/ 66 w 67"/>
                <a:gd name="T15" fmla="*/ 16 h 18"/>
                <a:gd name="T16" fmla="*/ 64 w 67"/>
                <a:gd name="T17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8">
                  <a:moveTo>
                    <a:pt x="64" y="17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66" y="13"/>
                    <a:pt x="67" y="14"/>
                    <a:pt x="66" y="1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7"/>
                    <a:pt x="65" y="18"/>
                    <a:pt x="6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iṩ1iḓè">
              <a:extLst>
                <a:ext uri="{FF2B5EF4-FFF2-40B4-BE49-F238E27FC236}">
                  <a16:creationId xmlns:a16="http://schemas.microsoft.com/office/drawing/2014/main" id="{DCC22AEE-F00E-3C12-7B62-C95B169E770C}"/>
                </a:ext>
              </a:extLst>
            </p:cNvPr>
            <p:cNvSpPr/>
            <p:nvPr/>
          </p:nvSpPr>
          <p:spPr bwMode="auto">
            <a:xfrm>
              <a:off x="8928101" y="3192463"/>
              <a:ext cx="228600" cy="100013"/>
            </a:xfrm>
            <a:custGeom>
              <a:avLst/>
              <a:gdLst>
                <a:gd name="T0" fmla="*/ 13 w 16"/>
                <a:gd name="T1" fmla="*/ 7 h 7"/>
                <a:gd name="T2" fmla="*/ 1 w 16"/>
                <a:gd name="T3" fmla="*/ 5 h 7"/>
                <a:gd name="T4" fmla="*/ 0 w 16"/>
                <a:gd name="T5" fmla="*/ 3 h 7"/>
                <a:gd name="T6" fmla="*/ 0 w 16"/>
                <a:gd name="T7" fmla="*/ 1 h 7"/>
                <a:gd name="T8" fmla="*/ 2 w 16"/>
                <a:gd name="T9" fmla="*/ 0 h 7"/>
                <a:gd name="T10" fmla="*/ 14 w 16"/>
                <a:gd name="T11" fmla="*/ 2 h 7"/>
                <a:gd name="T12" fmla="*/ 16 w 16"/>
                <a:gd name="T13" fmla="*/ 4 h 7"/>
                <a:gd name="T14" fmla="*/ 15 w 16"/>
                <a:gd name="T15" fmla="*/ 6 h 7"/>
                <a:gd name="T16" fmla="*/ 13 w 16"/>
                <a:gd name="T17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7">
                  <a:moveTo>
                    <a:pt x="13" y="7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5" y="3"/>
                    <a:pt x="16" y="3"/>
                    <a:pt x="16" y="4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7"/>
                    <a:pt x="14" y="7"/>
                    <a:pt x="1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íṡḻiḓê">
              <a:extLst>
                <a:ext uri="{FF2B5EF4-FFF2-40B4-BE49-F238E27FC236}">
                  <a16:creationId xmlns:a16="http://schemas.microsoft.com/office/drawing/2014/main" id="{F07DD3A4-DB98-794B-1069-86DDBB5BDAAA}"/>
                </a:ext>
              </a:extLst>
            </p:cNvPr>
            <p:cNvSpPr/>
            <p:nvPr/>
          </p:nvSpPr>
          <p:spPr bwMode="auto">
            <a:xfrm>
              <a:off x="2576513" y="3536951"/>
              <a:ext cx="4835525" cy="2873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ïṧ1iďê">
              <a:extLst>
                <a:ext uri="{FF2B5EF4-FFF2-40B4-BE49-F238E27FC236}">
                  <a16:creationId xmlns:a16="http://schemas.microsoft.com/office/drawing/2014/main" id="{96023958-AAA1-8F24-79D9-63262DAB58B0}"/>
                </a:ext>
              </a:extLst>
            </p:cNvPr>
            <p:cNvSpPr/>
            <p:nvPr/>
          </p:nvSpPr>
          <p:spPr bwMode="auto">
            <a:xfrm>
              <a:off x="7626351" y="3824288"/>
              <a:ext cx="1201738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2" y="80"/>
                    <a:pt x="14" y="73"/>
                  </a:cubicBezTo>
                  <a:cubicBezTo>
                    <a:pt x="6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6" y="2"/>
                    <a:pt x="61" y="5"/>
                  </a:cubicBezTo>
                  <a:cubicBezTo>
                    <a:pt x="75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ïṧḷïḑé">
              <a:extLst>
                <a:ext uri="{FF2B5EF4-FFF2-40B4-BE49-F238E27FC236}">
                  <a16:creationId xmlns:a16="http://schemas.microsoft.com/office/drawing/2014/main" id="{79557575-5F90-6353-65D2-134D0E7C79DB}"/>
                </a:ext>
              </a:extLst>
            </p:cNvPr>
            <p:cNvSpPr/>
            <p:nvPr/>
          </p:nvSpPr>
          <p:spPr bwMode="auto">
            <a:xfrm>
              <a:off x="7626351" y="3824288"/>
              <a:ext cx="1073150" cy="1120775"/>
            </a:xfrm>
            <a:custGeom>
              <a:avLst/>
              <a:gdLst>
                <a:gd name="T0" fmla="*/ 75 w 75"/>
                <a:gd name="T1" fmla="*/ 36 h 78"/>
                <a:gd name="T2" fmla="*/ 34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7" y="78"/>
                    <a:pt x="34" y="78"/>
                  </a:cubicBezTo>
                  <a:cubicBezTo>
                    <a:pt x="27" y="78"/>
                    <a:pt x="20" y="76"/>
                    <a:pt x="14" y="73"/>
                  </a:cubicBezTo>
                  <a:cubicBezTo>
                    <a:pt x="6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6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íṩ1îḍe">
              <a:extLst>
                <a:ext uri="{FF2B5EF4-FFF2-40B4-BE49-F238E27FC236}">
                  <a16:creationId xmlns:a16="http://schemas.microsoft.com/office/drawing/2014/main" id="{9568F213-51C4-C480-4E69-FD188E629B14}"/>
                </a:ext>
              </a:extLst>
            </p:cNvPr>
            <p:cNvSpPr/>
            <p:nvPr/>
          </p:nvSpPr>
          <p:spPr bwMode="auto">
            <a:xfrm>
              <a:off x="7926388" y="4125913"/>
              <a:ext cx="601663" cy="603250"/>
            </a:xfrm>
            <a:custGeom>
              <a:avLst/>
              <a:gdLst>
                <a:gd name="T0" fmla="*/ 42 w 42"/>
                <a:gd name="T1" fmla="*/ 21 h 42"/>
                <a:gd name="T2" fmla="*/ 21 w 42"/>
                <a:gd name="T3" fmla="*/ 42 h 42"/>
                <a:gd name="T4" fmla="*/ 7 w 42"/>
                <a:gd name="T5" fmla="*/ 36 h 42"/>
                <a:gd name="T6" fmla="*/ 0 w 42"/>
                <a:gd name="T7" fmla="*/ 21 h 42"/>
                <a:gd name="T8" fmla="*/ 21 w 42"/>
                <a:gd name="T9" fmla="*/ 0 h 42"/>
                <a:gd name="T10" fmla="*/ 31 w 42"/>
                <a:gd name="T11" fmla="*/ 3 h 42"/>
                <a:gd name="T12" fmla="*/ 42 w 42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2">
                  <a:moveTo>
                    <a:pt x="42" y="21"/>
                  </a:moveTo>
                  <a:cubicBezTo>
                    <a:pt x="42" y="32"/>
                    <a:pt x="33" y="42"/>
                    <a:pt x="21" y="42"/>
                  </a:cubicBezTo>
                  <a:cubicBezTo>
                    <a:pt x="16" y="42"/>
                    <a:pt x="11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5" y="0"/>
                    <a:pt x="28" y="1"/>
                    <a:pt x="31" y="3"/>
                  </a:cubicBezTo>
                  <a:cubicBezTo>
                    <a:pt x="37" y="6"/>
                    <a:pt x="42" y="13"/>
                    <a:pt x="4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ísľíḍè">
              <a:extLst>
                <a:ext uri="{FF2B5EF4-FFF2-40B4-BE49-F238E27FC236}">
                  <a16:creationId xmlns:a16="http://schemas.microsoft.com/office/drawing/2014/main" id="{44A0D23F-08ED-F0FF-D27D-9819007F1E2A}"/>
                </a:ext>
              </a:extLst>
            </p:cNvPr>
            <p:cNvSpPr/>
            <p:nvPr/>
          </p:nvSpPr>
          <p:spPr bwMode="auto">
            <a:xfrm>
              <a:off x="7926388" y="4125913"/>
              <a:ext cx="530225" cy="560388"/>
            </a:xfrm>
            <a:custGeom>
              <a:avLst/>
              <a:gdLst>
                <a:gd name="T0" fmla="*/ 37 w 37"/>
                <a:gd name="T1" fmla="*/ 18 h 39"/>
                <a:gd name="T2" fmla="*/ 17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1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7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5" y="0"/>
                    <a:pt x="28" y="1"/>
                    <a:pt x="31" y="3"/>
                  </a:cubicBezTo>
                  <a:cubicBezTo>
                    <a:pt x="35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îṡḷíḓe">
              <a:extLst>
                <a:ext uri="{FF2B5EF4-FFF2-40B4-BE49-F238E27FC236}">
                  <a16:creationId xmlns:a16="http://schemas.microsoft.com/office/drawing/2014/main" id="{D230C928-C749-25B2-4EEF-2870076F13ED}"/>
                </a:ext>
              </a:extLst>
            </p:cNvPr>
            <p:cNvSpPr/>
            <p:nvPr/>
          </p:nvSpPr>
          <p:spPr bwMode="auto">
            <a:xfrm>
              <a:off x="8140701" y="4341813"/>
              <a:ext cx="173038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2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3" y="11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11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î$ļiḓê">
              <a:extLst>
                <a:ext uri="{FF2B5EF4-FFF2-40B4-BE49-F238E27FC236}">
                  <a16:creationId xmlns:a16="http://schemas.microsoft.com/office/drawing/2014/main" id="{EBD293E9-25FF-0FF6-41E8-5FEC0FD241AC}"/>
                </a:ext>
              </a:extLst>
            </p:cNvPr>
            <p:cNvSpPr/>
            <p:nvPr/>
          </p:nvSpPr>
          <p:spPr bwMode="auto">
            <a:xfrm>
              <a:off x="8140701" y="4341813"/>
              <a:ext cx="142875" cy="142875"/>
            </a:xfrm>
            <a:custGeom>
              <a:avLst/>
              <a:gdLst>
                <a:gd name="T0" fmla="*/ 10 w 10"/>
                <a:gd name="T1" fmla="*/ 5 h 10"/>
                <a:gd name="T2" fmla="*/ 4 w 10"/>
                <a:gd name="T3" fmla="*/ 10 h 10"/>
                <a:gd name="T4" fmla="*/ 2 w 10"/>
                <a:gd name="T5" fmla="*/ 10 h 10"/>
                <a:gd name="T6" fmla="*/ 0 w 10"/>
                <a:gd name="T7" fmla="*/ 6 h 10"/>
                <a:gd name="T8" fmla="*/ 6 w 10"/>
                <a:gd name="T9" fmla="*/ 0 h 10"/>
                <a:gd name="T10" fmla="*/ 8 w 10"/>
                <a:gd name="T11" fmla="*/ 1 h 10"/>
                <a:gd name="T12" fmla="*/ 10 w 10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7" y="10"/>
                    <a:pt x="4" y="10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9" y="2"/>
                    <a:pt x="10" y="3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ïśḷiďè">
              <a:extLst>
                <a:ext uri="{FF2B5EF4-FFF2-40B4-BE49-F238E27FC236}">
                  <a16:creationId xmlns:a16="http://schemas.microsoft.com/office/drawing/2014/main" id="{4AE11AD8-6CCE-6699-9BDB-93854229A46C}"/>
                </a:ext>
              </a:extLst>
            </p:cNvPr>
            <p:cNvSpPr/>
            <p:nvPr/>
          </p:nvSpPr>
          <p:spPr bwMode="auto">
            <a:xfrm>
              <a:off x="4537076" y="3824288"/>
              <a:ext cx="1200150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1" y="80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5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ïšḻïḓe">
              <a:extLst>
                <a:ext uri="{FF2B5EF4-FFF2-40B4-BE49-F238E27FC236}">
                  <a16:creationId xmlns:a16="http://schemas.microsoft.com/office/drawing/2014/main" id="{B6CF4997-2FE1-48E2-B82F-3E31AA6A7421}"/>
                </a:ext>
              </a:extLst>
            </p:cNvPr>
            <p:cNvSpPr/>
            <p:nvPr/>
          </p:nvSpPr>
          <p:spPr bwMode="auto">
            <a:xfrm>
              <a:off x="4537076" y="3824288"/>
              <a:ext cx="1071563" cy="1120775"/>
            </a:xfrm>
            <a:custGeom>
              <a:avLst/>
              <a:gdLst>
                <a:gd name="T0" fmla="*/ 75 w 75"/>
                <a:gd name="T1" fmla="*/ 36 h 78"/>
                <a:gd name="T2" fmla="*/ 33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6" y="78"/>
                    <a:pt x="33" y="78"/>
                  </a:cubicBezTo>
                  <a:cubicBezTo>
                    <a:pt x="26" y="78"/>
                    <a:pt x="20" y="76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îşliḑê">
              <a:extLst>
                <a:ext uri="{FF2B5EF4-FFF2-40B4-BE49-F238E27FC236}">
                  <a16:creationId xmlns:a16="http://schemas.microsoft.com/office/drawing/2014/main" id="{CF408A7B-CB29-1040-C50E-6AF263E438BC}"/>
                </a:ext>
              </a:extLst>
            </p:cNvPr>
            <p:cNvSpPr/>
            <p:nvPr/>
          </p:nvSpPr>
          <p:spPr bwMode="auto">
            <a:xfrm>
              <a:off x="4837113" y="4125913"/>
              <a:ext cx="600075" cy="603250"/>
            </a:xfrm>
            <a:custGeom>
              <a:avLst/>
              <a:gdLst>
                <a:gd name="T0" fmla="*/ 42 w 42"/>
                <a:gd name="T1" fmla="*/ 21 h 42"/>
                <a:gd name="T2" fmla="*/ 21 w 42"/>
                <a:gd name="T3" fmla="*/ 42 h 42"/>
                <a:gd name="T4" fmla="*/ 7 w 42"/>
                <a:gd name="T5" fmla="*/ 36 h 42"/>
                <a:gd name="T6" fmla="*/ 0 w 42"/>
                <a:gd name="T7" fmla="*/ 21 h 42"/>
                <a:gd name="T8" fmla="*/ 21 w 42"/>
                <a:gd name="T9" fmla="*/ 0 h 42"/>
                <a:gd name="T10" fmla="*/ 30 w 42"/>
                <a:gd name="T11" fmla="*/ 3 h 42"/>
                <a:gd name="T12" fmla="*/ 42 w 42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2">
                  <a:moveTo>
                    <a:pt x="42" y="21"/>
                  </a:moveTo>
                  <a:cubicBezTo>
                    <a:pt x="42" y="32"/>
                    <a:pt x="32" y="42"/>
                    <a:pt x="21" y="42"/>
                  </a:cubicBezTo>
                  <a:cubicBezTo>
                    <a:pt x="16" y="42"/>
                    <a:pt x="11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7" y="6"/>
                    <a:pt x="42" y="13"/>
                    <a:pt x="42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íṥľîḍé">
              <a:extLst>
                <a:ext uri="{FF2B5EF4-FFF2-40B4-BE49-F238E27FC236}">
                  <a16:creationId xmlns:a16="http://schemas.microsoft.com/office/drawing/2014/main" id="{5AB156A1-9168-723E-7572-A1764428AC86}"/>
                </a:ext>
              </a:extLst>
            </p:cNvPr>
            <p:cNvSpPr/>
            <p:nvPr/>
          </p:nvSpPr>
          <p:spPr bwMode="auto">
            <a:xfrm>
              <a:off x="4837113" y="4125913"/>
              <a:ext cx="528638" cy="560388"/>
            </a:xfrm>
            <a:custGeom>
              <a:avLst/>
              <a:gdLst>
                <a:gd name="T0" fmla="*/ 37 w 37"/>
                <a:gd name="T1" fmla="*/ 18 h 39"/>
                <a:gd name="T2" fmla="*/ 17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0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7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5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iŝ1îḋè">
              <a:extLst>
                <a:ext uri="{FF2B5EF4-FFF2-40B4-BE49-F238E27FC236}">
                  <a16:creationId xmlns:a16="http://schemas.microsoft.com/office/drawing/2014/main" id="{753186A4-9435-85F9-8732-B0B6C4760A2B}"/>
                </a:ext>
              </a:extLst>
            </p:cNvPr>
            <p:cNvSpPr/>
            <p:nvPr/>
          </p:nvSpPr>
          <p:spPr bwMode="auto">
            <a:xfrm>
              <a:off x="5051426" y="4341813"/>
              <a:ext cx="171450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2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3" y="11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10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isḷiḓe">
              <a:extLst>
                <a:ext uri="{FF2B5EF4-FFF2-40B4-BE49-F238E27FC236}">
                  <a16:creationId xmlns:a16="http://schemas.microsoft.com/office/drawing/2014/main" id="{25ECBE59-EEE6-211E-AEC9-96C8BA79B030}"/>
                </a:ext>
              </a:extLst>
            </p:cNvPr>
            <p:cNvSpPr/>
            <p:nvPr/>
          </p:nvSpPr>
          <p:spPr bwMode="auto">
            <a:xfrm>
              <a:off x="5051426" y="4341813"/>
              <a:ext cx="142875" cy="142875"/>
            </a:xfrm>
            <a:custGeom>
              <a:avLst/>
              <a:gdLst>
                <a:gd name="T0" fmla="*/ 10 w 10"/>
                <a:gd name="T1" fmla="*/ 5 h 10"/>
                <a:gd name="T2" fmla="*/ 4 w 10"/>
                <a:gd name="T3" fmla="*/ 10 h 10"/>
                <a:gd name="T4" fmla="*/ 2 w 10"/>
                <a:gd name="T5" fmla="*/ 10 h 10"/>
                <a:gd name="T6" fmla="*/ 0 w 10"/>
                <a:gd name="T7" fmla="*/ 6 h 10"/>
                <a:gd name="T8" fmla="*/ 6 w 10"/>
                <a:gd name="T9" fmla="*/ 0 h 10"/>
                <a:gd name="T10" fmla="*/ 8 w 10"/>
                <a:gd name="T11" fmla="*/ 1 h 10"/>
                <a:gd name="T12" fmla="*/ 10 w 10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0" y="5"/>
                  </a:moveTo>
                  <a:cubicBezTo>
                    <a:pt x="10" y="8"/>
                    <a:pt x="7" y="10"/>
                    <a:pt x="4" y="10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9" y="2"/>
                    <a:pt x="10" y="3"/>
                    <a:pt x="1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íS1iḍè">
              <a:extLst>
                <a:ext uri="{FF2B5EF4-FFF2-40B4-BE49-F238E27FC236}">
                  <a16:creationId xmlns:a16="http://schemas.microsoft.com/office/drawing/2014/main" id="{49808ED1-FF24-0006-C5B3-0987EB999EE3}"/>
                </a:ext>
              </a:extLst>
            </p:cNvPr>
            <p:cNvSpPr/>
            <p:nvPr/>
          </p:nvSpPr>
          <p:spPr bwMode="auto">
            <a:xfrm>
              <a:off x="3105151" y="3824288"/>
              <a:ext cx="1201738" cy="1206500"/>
            </a:xfrm>
            <a:custGeom>
              <a:avLst/>
              <a:gdLst>
                <a:gd name="T0" fmla="*/ 84 w 84"/>
                <a:gd name="T1" fmla="*/ 42 h 84"/>
                <a:gd name="T2" fmla="*/ 42 w 84"/>
                <a:gd name="T3" fmla="*/ 84 h 84"/>
                <a:gd name="T4" fmla="*/ 14 w 84"/>
                <a:gd name="T5" fmla="*/ 73 h 84"/>
                <a:gd name="T6" fmla="*/ 0 w 84"/>
                <a:gd name="T7" fmla="*/ 42 h 84"/>
                <a:gd name="T8" fmla="*/ 42 w 84"/>
                <a:gd name="T9" fmla="*/ 0 h 84"/>
                <a:gd name="T10" fmla="*/ 61 w 84"/>
                <a:gd name="T11" fmla="*/ 5 h 84"/>
                <a:gd name="T12" fmla="*/ 84 w 84"/>
                <a:gd name="T1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cubicBezTo>
                    <a:pt x="84" y="65"/>
                    <a:pt x="65" y="84"/>
                    <a:pt x="42" y="84"/>
                  </a:cubicBezTo>
                  <a:cubicBezTo>
                    <a:pt x="31" y="84"/>
                    <a:pt x="21" y="80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4" y="12"/>
                    <a:pt x="84" y="26"/>
                    <a:pt x="8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îṧļîḑé">
              <a:extLst>
                <a:ext uri="{FF2B5EF4-FFF2-40B4-BE49-F238E27FC236}">
                  <a16:creationId xmlns:a16="http://schemas.microsoft.com/office/drawing/2014/main" id="{9E56BE3C-FA8F-C635-24BD-3199B9D0CC2D}"/>
                </a:ext>
              </a:extLst>
            </p:cNvPr>
            <p:cNvSpPr/>
            <p:nvPr/>
          </p:nvSpPr>
          <p:spPr bwMode="auto">
            <a:xfrm>
              <a:off x="3105151" y="3824288"/>
              <a:ext cx="1073150" cy="1120775"/>
            </a:xfrm>
            <a:custGeom>
              <a:avLst/>
              <a:gdLst>
                <a:gd name="T0" fmla="*/ 75 w 75"/>
                <a:gd name="T1" fmla="*/ 36 h 78"/>
                <a:gd name="T2" fmla="*/ 33 w 75"/>
                <a:gd name="T3" fmla="*/ 78 h 78"/>
                <a:gd name="T4" fmla="*/ 14 w 75"/>
                <a:gd name="T5" fmla="*/ 73 h 78"/>
                <a:gd name="T6" fmla="*/ 0 w 75"/>
                <a:gd name="T7" fmla="*/ 42 h 78"/>
                <a:gd name="T8" fmla="*/ 42 w 75"/>
                <a:gd name="T9" fmla="*/ 0 h 78"/>
                <a:gd name="T10" fmla="*/ 61 w 75"/>
                <a:gd name="T11" fmla="*/ 5 h 78"/>
                <a:gd name="T12" fmla="*/ 75 w 75"/>
                <a:gd name="T13" fmla="*/ 3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8">
                  <a:moveTo>
                    <a:pt x="75" y="36"/>
                  </a:moveTo>
                  <a:cubicBezTo>
                    <a:pt x="75" y="59"/>
                    <a:pt x="56" y="78"/>
                    <a:pt x="33" y="78"/>
                  </a:cubicBezTo>
                  <a:cubicBezTo>
                    <a:pt x="26" y="78"/>
                    <a:pt x="19" y="76"/>
                    <a:pt x="14" y="73"/>
                  </a:cubicBezTo>
                  <a:cubicBezTo>
                    <a:pt x="5" y="66"/>
                    <a:pt x="0" y="54"/>
                    <a:pt x="0" y="42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49" y="0"/>
                    <a:pt x="55" y="2"/>
                    <a:pt x="61" y="5"/>
                  </a:cubicBezTo>
                  <a:cubicBezTo>
                    <a:pt x="70" y="12"/>
                    <a:pt x="75" y="24"/>
                    <a:pt x="75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ïṣḷïďe">
              <a:extLst>
                <a:ext uri="{FF2B5EF4-FFF2-40B4-BE49-F238E27FC236}">
                  <a16:creationId xmlns:a16="http://schemas.microsoft.com/office/drawing/2014/main" id="{3B4F5EB7-D948-95FB-AB51-B03EB5A8EA03}"/>
                </a:ext>
              </a:extLst>
            </p:cNvPr>
            <p:cNvSpPr/>
            <p:nvPr/>
          </p:nvSpPr>
          <p:spPr bwMode="auto">
            <a:xfrm>
              <a:off x="3406776" y="4125913"/>
              <a:ext cx="585788" cy="603250"/>
            </a:xfrm>
            <a:custGeom>
              <a:avLst/>
              <a:gdLst>
                <a:gd name="T0" fmla="*/ 41 w 41"/>
                <a:gd name="T1" fmla="*/ 21 h 42"/>
                <a:gd name="T2" fmla="*/ 21 w 41"/>
                <a:gd name="T3" fmla="*/ 42 h 42"/>
                <a:gd name="T4" fmla="*/ 7 w 41"/>
                <a:gd name="T5" fmla="*/ 36 h 42"/>
                <a:gd name="T6" fmla="*/ 0 w 41"/>
                <a:gd name="T7" fmla="*/ 21 h 42"/>
                <a:gd name="T8" fmla="*/ 21 w 41"/>
                <a:gd name="T9" fmla="*/ 0 h 42"/>
                <a:gd name="T10" fmla="*/ 30 w 41"/>
                <a:gd name="T11" fmla="*/ 3 h 42"/>
                <a:gd name="T12" fmla="*/ 41 w 41"/>
                <a:gd name="T13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42">
                  <a:moveTo>
                    <a:pt x="41" y="21"/>
                  </a:moveTo>
                  <a:cubicBezTo>
                    <a:pt x="41" y="32"/>
                    <a:pt x="32" y="42"/>
                    <a:pt x="21" y="42"/>
                  </a:cubicBezTo>
                  <a:cubicBezTo>
                    <a:pt x="15" y="42"/>
                    <a:pt x="10" y="40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24" y="0"/>
                    <a:pt x="27" y="1"/>
                    <a:pt x="30" y="3"/>
                  </a:cubicBezTo>
                  <a:cubicBezTo>
                    <a:pt x="37" y="6"/>
                    <a:pt x="41" y="13"/>
                    <a:pt x="4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íSḷidè">
              <a:extLst>
                <a:ext uri="{FF2B5EF4-FFF2-40B4-BE49-F238E27FC236}">
                  <a16:creationId xmlns:a16="http://schemas.microsoft.com/office/drawing/2014/main" id="{965D3D97-E607-2A46-1EE1-3136909A4D2E}"/>
                </a:ext>
              </a:extLst>
            </p:cNvPr>
            <p:cNvSpPr/>
            <p:nvPr/>
          </p:nvSpPr>
          <p:spPr bwMode="auto">
            <a:xfrm>
              <a:off x="3406776" y="4125913"/>
              <a:ext cx="528638" cy="560388"/>
            </a:xfrm>
            <a:custGeom>
              <a:avLst/>
              <a:gdLst>
                <a:gd name="T0" fmla="*/ 37 w 37"/>
                <a:gd name="T1" fmla="*/ 18 h 39"/>
                <a:gd name="T2" fmla="*/ 16 w 37"/>
                <a:gd name="T3" fmla="*/ 39 h 39"/>
                <a:gd name="T4" fmla="*/ 7 w 37"/>
                <a:gd name="T5" fmla="*/ 36 h 39"/>
                <a:gd name="T6" fmla="*/ 0 w 37"/>
                <a:gd name="T7" fmla="*/ 21 h 39"/>
                <a:gd name="T8" fmla="*/ 21 w 37"/>
                <a:gd name="T9" fmla="*/ 0 h 39"/>
                <a:gd name="T10" fmla="*/ 30 w 37"/>
                <a:gd name="T11" fmla="*/ 3 h 39"/>
                <a:gd name="T12" fmla="*/ 37 w 37"/>
                <a:gd name="T13" fmla="*/ 1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37" y="18"/>
                  </a:moveTo>
                  <a:cubicBezTo>
                    <a:pt x="37" y="29"/>
                    <a:pt x="28" y="39"/>
                    <a:pt x="16" y="39"/>
                  </a:cubicBezTo>
                  <a:cubicBezTo>
                    <a:pt x="13" y="39"/>
                    <a:pt x="10" y="38"/>
                    <a:pt x="7" y="36"/>
                  </a:cubicBezTo>
                  <a:cubicBezTo>
                    <a:pt x="3" y="33"/>
                    <a:pt x="0" y="27"/>
                    <a:pt x="0" y="21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24" y="0"/>
                    <a:pt x="27" y="1"/>
                    <a:pt x="30" y="3"/>
                  </a:cubicBezTo>
                  <a:cubicBezTo>
                    <a:pt x="34" y="6"/>
                    <a:pt x="37" y="12"/>
                    <a:pt x="37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iśḷîḓé">
              <a:extLst>
                <a:ext uri="{FF2B5EF4-FFF2-40B4-BE49-F238E27FC236}">
                  <a16:creationId xmlns:a16="http://schemas.microsoft.com/office/drawing/2014/main" id="{6E84FA34-2E05-B40F-380D-BC5F9879D58C}"/>
                </a:ext>
              </a:extLst>
            </p:cNvPr>
            <p:cNvSpPr/>
            <p:nvPr/>
          </p:nvSpPr>
          <p:spPr bwMode="auto">
            <a:xfrm>
              <a:off x="3621088" y="4341813"/>
              <a:ext cx="171450" cy="171450"/>
            </a:xfrm>
            <a:custGeom>
              <a:avLst/>
              <a:gdLst>
                <a:gd name="T0" fmla="*/ 12 w 12"/>
                <a:gd name="T1" fmla="*/ 6 h 12"/>
                <a:gd name="T2" fmla="*/ 6 w 12"/>
                <a:gd name="T3" fmla="*/ 12 h 12"/>
                <a:gd name="T4" fmla="*/ 1 w 12"/>
                <a:gd name="T5" fmla="*/ 10 h 12"/>
                <a:gd name="T6" fmla="*/ 0 w 12"/>
                <a:gd name="T7" fmla="*/ 6 h 12"/>
                <a:gd name="T8" fmla="*/ 6 w 12"/>
                <a:gd name="T9" fmla="*/ 0 h 12"/>
                <a:gd name="T10" fmla="*/ 8 w 12"/>
                <a:gd name="T11" fmla="*/ 1 h 12"/>
                <a:gd name="T12" fmla="*/ 12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9"/>
                    <a:pt x="9" y="12"/>
                    <a:pt x="6" y="12"/>
                  </a:cubicBezTo>
                  <a:cubicBezTo>
                    <a:pt x="4" y="12"/>
                    <a:pt x="2" y="11"/>
                    <a:pt x="1" y="10"/>
                  </a:cubicBezTo>
                  <a:cubicBezTo>
                    <a:pt x="0" y="9"/>
                    <a:pt x="0" y="8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6" y="0"/>
                    <a:pt x="7" y="0"/>
                    <a:pt x="8" y="1"/>
                  </a:cubicBezTo>
                  <a:cubicBezTo>
                    <a:pt x="10" y="1"/>
                    <a:pt x="12" y="4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íṩliḑè">
              <a:extLst>
                <a:ext uri="{FF2B5EF4-FFF2-40B4-BE49-F238E27FC236}">
                  <a16:creationId xmlns:a16="http://schemas.microsoft.com/office/drawing/2014/main" id="{B5B1959D-CFA2-ED22-AE1E-0E1D7DCA9C73}"/>
                </a:ext>
              </a:extLst>
            </p:cNvPr>
            <p:cNvSpPr/>
            <p:nvPr/>
          </p:nvSpPr>
          <p:spPr bwMode="auto">
            <a:xfrm>
              <a:off x="3621088" y="4341813"/>
              <a:ext cx="128588" cy="142875"/>
            </a:xfrm>
            <a:custGeom>
              <a:avLst/>
              <a:gdLst>
                <a:gd name="T0" fmla="*/ 9 w 9"/>
                <a:gd name="T1" fmla="*/ 5 h 10"/>
                <a:gd name="T2" fmla="*/ 4 w 9"/>
                <a:gd name="T3" fmla="*/ 10 h 10"/>
                <a:gd name="T4" fmla="*/ 1 w 9"/>
                <a:gd name="T5" fmla="*/ 10 h 10"/>
                <a:gd name="T6" fmla="*/ 0 w 9"/>
                <a:gd name="T7" fmla="*/ 6 h 10"/>
                <a:gd name="T8" fmla="*/ 6 w 9"/>
                <a:gd name="T9" fmla="*/ 0 h 10"/>
                <a:gd name="T10" fmla="*/ 8 w 9"/>
                <a:gd name="T11" fmla="*/ 1 h 10"/>
                <a:gd name="T12" fmla="*/ 9 w 9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9" y="5"/>
                  </a:moveTo>
                  <a:cubicBezTo>
                    <a:pt x="9" y="8"/>
                    <a:pt x="7" y="10"/>
                    <a:pt x="4" y="10"/>
                  </a:cubicBezTo>
                  <a:cubicBezTo>
                    <a:pt x="3" y="10"/>
                    <a:pt x="2" y="10"/>
                    <a:pt x="1" y="10"/>
                  </a:cubicBezTo>
                  <a:cubicBezTo>
                    <a:pt x="0" y="9"/>
                    <a:pt x="0" y="8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6" y="0"/>
                    <a:pt x="7" y="0"/>
                    <a:pt x="8" y="1"/>
                  </a:cubicBezTo>
                  <a:cubicBezTo>
                    <a:pt x="9" y="2"/>
                    <a:pt x="9" y="3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FF147879-A724-C373-FA44-4C7D20B406A2}"/>
              </a:ext>
            </a:extLst>
          </p:cNvPr>
          <p:cNvCxnSpPr>
            <a:cxnSpLocks/>
          </p:cNvCxnSpPr>
          <p:nvPr/>
        </p:nvCxnSpPr>
        <p:spPr>
          <a:xfrm>
            <a:off x="6401021" y="5261652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03640085-FCA1-731B-3CBE-0EE006FDA71A}"/>
              </a:ext>
            </a:extLst>
          </p:cNvPr>
          <p:cNvSpPr/>
          <p:nvPr/>
        </p:nvSpPr>
        <p:spPr>
          <a:xfrm>
            <a:off x="6992039" y="5627552"/>
            <a:ext cx="1072989" cy="904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</a:rPr>
              <a:t>通知短驳司机发货地点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通知叉车司机发货内容</a:t>
            </a: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4744E574-5F46-77B9-3103-1454AE830C0F}"/>
              </a:ext>
            </a:extLst>
          </p:cNvPr>
          <p:cNvCxnSpPr>
            <a:cxnSpLocks/>
          </p:cNvCxnSpPr>
          <p:nvPr/>
        </p:nvCxnSpPr>
        <p:spPr>
          <a:xfrm>
            <a:off x="7772620" y="5254397"/>
            <a:ext cx="59508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圆角矩形 139">
            <a:extLst>
              <a:ext uri="{FF2B5EF4-FFF2-40B4-BE49-F238E27FC236}">
                <a16:creationId xmlns:a16="http://schemas.microsoft.com/office/drawing/2014/main" id="{E690ABE9-BF10-4D2C-2CA3-D66E82BACEBC}"/>
              </a:ext>
            </a:extLst>
          </p:cNvPr>
          <p:cNvSpPr/>
          <p:nvPr/>
        </p:nvSpPr>
        <p:spPr>
          <a:xfrm>
            <a:off x="7010618" y="5045086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任务推送</a:t>
            </a:r>
          </a:p>
        </p:txBody>
      </p:sp>
      <p:sp>
        <p:nvSpPr>
          <p:cNvPr id="116" name="圆角矩形 139">
            <a:extLst>
              <a:ext uri="{FF2B5EF4-FFF2-40B4-BE49-F238E27FC236}">
                <a16:creationId xmlns:a16="http://schemas.microsoft.com/office/drawing/2014/main" id="{FC11BF52-1A46-B1BD-9B92-F98C5DEA1172}"/>
              </a:ext>
            </a:extLst>
          </p:cNvPr>
          <p:cNvSpPr/>
          <p:nvPr/>
        </p:nvSpPr>
        <p:spPr>
          <a:xfrm>
            <a:off x="5405561" y="5027342"/>
            <a:ext cx="1084078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任务分配</a:t>
            </a:r>
          </a:p>
        </p:txBody>
      </p:sp>
      <p:sp>
        <p:nvSpPr>
          <p:cNvPr id="117" name="圆角矩形 139">
            <a:extLst>
              <a:ext uri="{FF2B5EF4-FFF2-40B4-BE49-F238E27FC236}">
                <a16:creationId xmlns:a16="http://schemas.microsoft.com/office/drawing/2014/main" id="{CABACA96-8C3F-E8B3-00ED-1E7DC04D93C2}"/>
              </a:ext>
            </a:extLst>
          </p:cNvPr>
          <p:cNvSpPr/>
          <p:nvPr/>
        </p:nvSpPr>
        <p:spPr>
          <a:xfrm>
            <a:off x="8426625" y="4992639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装货</a:t>
            </a:r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1D66B1E2-6DF1-288D-BD13-29E6222F4384}"/>
              </a:ext>
            </a:extLst>
          </p:cNvPr>
          <p:cNvCxnSpPr>
            <a:cxnSpLocks/>
          </p:cNvCxnSpPr>
          <p:nvPr/>
        </p:nvCxnSpPr>
        <p:spPr>
          <a:xfrm>
            <a:off x="9420649" y="5211963"/>
            <a:ext cx="141401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角矩形 139">
            <a:extLst>
              <a:ext uri="{FF2B5EF4-FFF2-40B4-BE49-F238E27FC236}">
                <a16:creationId xmlns:a16="http://schemas.microsoft.com/office/drawing/2014/main" id="{F700E9BB-713D-C29F-1FC1-32D1FA549DBB}"/>
              </a:ext>
            </a:extLst>
          </p:cNvPr>
          <p:cNvSpPr/>
          <p:nvPr/>
        </p:nvSpPr>
        <p:spPr>
          <a:xfrm>
            <a:off x="11025130" y="4945198"/>
            <a:ext cx="962572" cy="432000"/>
          </a:xfrm>
          <a:prstGeom prst="roundRect">
            <a:avLst/>
          </a:prstGeom>
          <a:solidFill>
            <a:srgbClr val="D2B998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E4D6BED-AE0D-BD6F-150E-204D2D5A4890}"/>
              </a:ext>
            </a:extLst>
          </p:cNvPr>
          <p:cNvSpPr/>
          <p:nvPr/>
        </p:nvSpPr>
        <p:spPr>
          <a:xfrm>
            <a:off x="8351400" y="5675091"/>
            <a:ext cx="1080000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发货地点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4E0BC7DC-8C9B-BECA-0D4C-D9E926BB18D6}"/>
              </a:ext>
            </a:extLst>
          </p:cNvPr>
          <p:cNvSpPr/>
          <p:nvPr/>
        </p:nvSpPr>
        <p:spPr>
          <a:xfrm>
            <a:off x="10907702" y="5675091"/>
            <a:ext cx="1080000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收货地点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FC0880E-F048-EFC5-3149-DBD90C4885BE}"/>
              </a:ext>
            </a:extLst>
          </p:cNvPr>
          <p:cNvSpPr/>
          <p:nvPr/>
        </p:nvSpPr>
        <p:spPr>
          <a:xfrm>
            <a:off x="8331560" y="694966"/>
            <a:ext cx="3592195" cy="1468755"/>
          </a:xfrm>
          <a:prstGeom prst="rect">
            <a:avLst/>
          </a:prstGeom>
          <a:ln>
            <a:solidFill>
              <a:srgbClr val="D9AA27"/>
            </a:solidFill>
            <a:prstDash val="dash"/>
          </a:ln>
        </p:spPr>
        <p:txBody>
          <a:bodyPr wrap="square" lIns="83831" tIns="41916" rIns="83831" bIns="41916">
            <a:spAutoFit/>
          </a:bodyPr>
          <a:lstStyle/>
          <a:p>
            <a:pPr marL="285750" indent="-285750" algn="l" defTabSz="96774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覆盖仓库所有场景</a:t>
            </a:r>
          </a:p>
          <a:p>
            <a:pPr marL="285750" indent="-285750" algn="l" defTabSz="96774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各业务之间不再彼此孤立</a:t>
            </a:r>
          </a:p>
          <a:p>
            <a:pPr marL="285750" indent="-285750" algn="l" defTabSz="96774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  <a:defRPr/>
            </a:pPr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统一调度规划，各自执行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272F775-7904-BA4B-A5F1-B3CFF3C319F2}"/>
              </a:ext>
            </a:extLst>
          </p:cNvPr>
          <p:cNvSpPr/>
          <p:nvPr/>
        </p:nvSpPr>
        <p:spPr>
          <a:xfrm>
            <a:off x="685800" y="1181100"/>
            <a:ext cx="1265784" cy="792000"/>
          </a:xfrm>
          <a:prstGeom prst="rect">
            <a:avLst/>
          </a:prstGeom>
          <a:noFill/>
          <a:ln w="381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箭头: 右 124">
            <a:extLst>
              <a:ext uri="{FF2B5EF4-FFF2-40B4-BE49-F238E27FC236}">
                <a16:creationId xmlns:a16="http://schemas.microsoft.com/office/drawing/2014/main" id="{E712BD4C-A705-9140-5171-BFE078B834C1}"/>
              </a:ext>
            </a:extLst>
          </p:cNvPr>
          <p:cNvSpPr/>
          <p:nvPr/>
        </p:nvSpPr>
        <p:spPr>
          <a:xfrm>
            <a:off x="5405561" y="3766472"/>
            <a:ext cx="4238690" cy="273152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4A387DF-22FF-0B68-FB62-C93F8FD98274}"/>
              </a:ext>
            </a:extLst>
          </p:cNvPr>
          <p:cNvSpPr/>
          <p:nvPr/>
        </p:nvSpPr>
        <p:spPr>
          <a:xfrm>
            <a:off x="4135506" y="3368913"/>
            <a:ext cx="6840000" cy="720000"/>
          </a:xfrm>
          <a:prstGeom prst="rect">
            <a:avLst/>
          </a:prstGeom>
          <a:noFill/>
          <a:ln w="952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E75A9ECD-7832-7F7B-955C-7D459BE947A5}"/>
              </a:ext>
            </a:extLst>
          </p:cNvPr>
          <p:cNvSpPr/>
          <p:nvPr/>
        </p:nvSpPr>
        <p:spPr>
          <a:xfrm>
            <a:off x="4135506" y="4225365"/>
            <a:ext cx="6840000" cy="720000"/>
          </a:xfrm>
          <a:prstGeom prst="rect">
            <a:avLst/>
          </a:prstGeom>
          <a:noFill/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箭头: 右 127">
            <a:extLst>
              <a:ext uri="{FF2B5EF4-FFF2-40B4-BE49-F238E27FC236}">
                <a16:creationId xmlns:a16="http://schemas.microsoft.com/office/drawing/2014/main" id="{8EC3534F-1B14-8594-8393-3CD2FB0BC71F}"/>
              </a:ext>
            </a:extLst>
          </p:cNvPr>
          <p:cNvSpPr/>
          <p:nvPr/>
        </p:nvSpPr>
        <p:spPr>
          <a:xfrm>
            <a:off x="5418261" y="4591972"/>
            <a:ext cx="4238690" cy="273152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659FB32-9E4D-A441-E861-16AE0F9F757A}"/>
              </a:ext>
            </a:extLst>
          </p:cNvPr>
          <p:cNvSpPr/>
          <p:nvPr/>
        </p:nvSpPr>
        <p:spPr>
          <a:xfrm>
            <a:off x="632942" y="2948244"/>
            <a:ext cx="1512000" cy="1656000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标注: 线形 129">
            <a:extLst>
              <a:ext uri="{FF2B5EF4-FFF2-40B4-BE49-F238E27FC236}">
                <a16:creationId xmlns:a16="http://schemas.microsoft.com/office/drawing/2014/main" id="{B8CD72F9-41D5-AC62-C66C-5B0C004BB5F9}"/>
              </a:ext>
            </a:extLst>
          </p:cNvPr>
          <p:cNvSpPr/>
          <p:nvPr/>
        </p:nvSpPr>
        <p:spPr>
          <a:xfrm>
            <a:off x="2521356" y="3881528"/>
            <a:ext cx="1440000" cy="1007451"/>
          </a:xfrm>
          <a:prstGeom prst="borderCallout1">
            <a:avLst>
              <a:gd name="adj1" fmla="val 18750"/>
              <a:gd name="adj2" fmla="val -8333"/>
              <a:gd name="adj3" fmla="val -7387"/>
              <a:gd name="adj4" fmla="val -25212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26</a:t>
            </a:r>
            <a:r>
              <a:rPr lang="zh-CN" altLang="en-US" dirty="0"/>
              <a:t>年智慧物流园实施</a:t>
            </a:r>
          </a:p>
        </p:txBody>
      </p:sp>
      <p:sp>
        <p:nvSpPr>
          <p:cNvPr id="131" name="标注: 线形 130">
            <a:extLst>
              <a:ext uri="{FF2B5EF4-FFF2-40B4-BE49-F238E27FC236}">
                <a16:creationId xmlns:a16="http://schemas.microsoft.com/office/drawing/2014/main" id="{F2BB3822-5CC7-C1C3-55BD-A1974948A4D5}"/>
              </a:ext>
            </a:extLst>
          </p:cNvPr>
          <p:cNvSpPr/>
          <p:nvPr/>
        </p:nvSpPr>
        <p:spPr>
          <a:xfrm>
            <a:off x="2416615" y="1084549"/>
            <a:ext cx="900000" cy="432000"/>
          </a:xfrm>
          <a:prstGeom prst="borderCallout1">
            <a:avLst>
              <a:gd name="adj1" fmla="val 18750"/>
              <a:gd name="adj2" fmla="val -8333"/>
              <a:gd name="adj3" fmla="val 49938"/>
              <a:gd name="adj4" fmla="val -47456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已实现</a:t>
            </a:r>
          </a:p>
        </p:txBody>
      </p:sp>
      <p:sp>
        <p:nvSpPr>
          <p:cNvPr id="132" name="标注: 线形 131">
            <a:extLst>
              <a:ext uri="{FF2B5EF4-FFF2-40B4-BE49-F238E27FC236}">
                <a16:creationId xmlns:a16="http://schemas.microsoft.com/office/drawing/2014/main" id="{95F78299-6B3E-E1E5-1FC4-366DEBF2179A}"/>
              </a:ext>
            </a:extLst>
          </p:cNvPr>
          <p:cNvSpPr/>
          <p:nvPr/>
        </p:nvSpPr>
        <p:spPr>
          <a:xfrm>
            <a:off x="2521268" y="3880964"/>
            <a:ext cx="1440000" cy="1008000"/>
          </a:xfrm>
          <a:prstGeom prst="borderCallout1">
            <a:avLst>
              <a:gd name="adj1" fmla="val 108204"/>
              <a:gd name="adj2" fmla="val 26945"/>
              <a:gd name="adj3" fmla="val 208622"/>
              <a:gd name="adj4" fmla="val -19475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26</a:t>
            </a:r>
            <a:r>
              <a:rPr lang="zh-CN" altLang="en-US" dirty="0"/>
              <a:t>年智慧物流园实施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20F662-A303-78C0-1B7A-C83AAD1B63F7}"/>
              </a:ext>
            </a:extLst>
          </p:cNvPr>
          <p:cNvSpPr/>
          <p:nvPr/>
        </p:nvSpPr>
        <p:spPr>
          <a:xfrm>
            <a:off x="658342" y="5500944"/>
            <a:ext cx="1512000" cy="852531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DF6A04-8DF8-E7D5-0AA4-1765B44F27A9}"/>
              </a:ext>
            </a:extLst>
          </p:cNvPr>
          <p:cNvSpPr/>
          <p:nvPr/>
        </p:nvSpPr>
        <p:spPr>
          <a:xfrm>
            <a:off x="664970" y="6408228"/>
            <a:ext cx="1512000" cy="289801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线形 6">
            <a:extLst>
              <a:ext uri="{FF2B5EF4-FFF2-40B4-BE49-F238E27FC236}">
                <a16:creationId xmlns:a16="http://schemas.microsoft.com/office/drawing/2014/main" id="{BBAE5A71-0ED0-4B4A-1323-B5D76E28009D}"/>
              </a:ext>
            </a:extLst>
          </p:cNvPr>
          <p:cNvSpPr/>
          <p:nvPr/>
        </p:nvSpPr>
        <p:spPr>
          <a:xfrm>
            <a:off x="2544021" y="6181826"/>
            <a:ext cx="1440000" cy="504000"/>
          </a:xfrm>
          <a:prstGeom prst="borderCallout1">
            <a:avLst>
              <a:gd name="adj1" fmla="val 42469"/>
              <a:gd name="adj2" fmla="val 257"/>
              <a:gd name="adj3" fmla="val 61375"/>
              <a:gd name="adj4" fmla="val -25457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宁波先实施</a:t>
            </a:r>
          </a:p>
        </p:txBody>
      </p:sp>
    </p:spTree>
    <p:extLst>
      <p:ext uri="{BB962C8B-B14F-4D97-AF65-F5344CB8AC3E}">
        <p14:creationId xmlns:p14="http://schemas.microsoft.com/office/powerpoint/2010/main" val="53322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2B83-7004-E02C-3D14-EED110A8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18A8294-54AC-8F56-18AC-5E26D2E15EA2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端到端规划  提高现场作业效率降低成本</a:t>
            </a:r>
            <a:endParaRPr lang="zh-CN" altLang="en-US" sz="3733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8BE662-4A77-A56D-0433-96815CC5C4CF}"/>
              </a:ext>
            </a:extLst>
          </p:cNvPr>
          <p:cNvSpPr/>
          <p:nvPr/>
        </p:nvSpPr>
        <p:spPr>
          <a:xfrm>
            <a:off x="76912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用料需求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F7D2D1C-5F95-5BD3-1ED9-1CECD3B6B412}"/>
              </a:ext>
            </a:extLst>
          </p:cNvPr>
          <p:cNvSpPr/>
          <p:nvPr/>
        </p:nvSpPr>
        <p:spPr>
          <a:xfrm>
            <a:off x="1616860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请购需求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6669FDA-70CB-28CF-AAE1-0B5BE80DDE67}"/>
              </a:ext>
            </a:extLst>
          </p:cNvPr>
          <p:cNvSpPr/>
          <p:nvPr/>
        </p:nvSpPr>
        <p:spPr>
          <a:xfrm>
            <a:off x="3134659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7DD1C35-7E15-AA29-A72E-B3F5EB78C1B8}"/>
              </a:ext>
            </a:extLst>
          </p:cNvPr>
          <p:cNvSpPr/>
          <p:nvPr/>
        </p:nvSpPr>
        <p:spPr>
          <a:xfrm>
            <a:off x="4666533" y="1953594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D3FA96B-4E6B-83FB-8BE4-3D3DAF79E65E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1372912" y="2241594"/>
            <a:ext cx="24394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41C2259-1EB5-290A-E115-17BAAEBCE7CE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2912860" y="2241594"/>
            <a:ext cx="22179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81300BB-E5A8-9DC0-1B11-4B37DC63170F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4430659" y="2241594"/>
            <a:ext cx="2358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F829938-57BF-F147-9567-5EB397F891B3}"/>
              </a:ext>
            </a:extLst>
          </p:cNvPr>
          <p:cNvSpPr/>
          <p:nvPr/>
        </p:nvSpPr>
        <p:spPr>
          <a:xfrm>
            <a:off x="9337579" y="106299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F1D524A-FA79-BA69-F731-DB9C9F6F0529}"/>
              </a:ext>
            </a:extLst>
          </p:cNvPr>
          <p:cNvCxnSpPr>
            <a:cxnSpLocks/>
            <a:stCxn id="49" idx="2"/>
            <a:endCxn id="5" idx="0"/>
          </p:cNvCxnSpPr>
          <p:nvPr/>
        </p:nvCxnSpPr>
        <p:spPr>
          <a:xfrm>
            <a:off x="9985579" y="1638992"/>
            <a:ext cx="0" cy="3146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B7C4768-2A58-01A6-B191-E1A5EE8F732B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>
            <a:off x="5962533" y="2241594"/>
            <a:ext cx="18330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流程图: 预定义过程 1">
            <a:extLst>
              <a:ext uri="{FF2B5EF4-FFF2-40B4-BE49-F238E27FC236}">
                <a16:creationId xmlns:a16="http://schemas.microsoft.com/office/drawing/2014/main" id="{036F70CC-0CC4-0ADB-65EB-9B7F7813B0EF}"/>
              </a:ext>
            </a:extLst>
          </p:cNvPr>
          <p:cNvSpPr/>
          <p:nvPr/>
        </p:nvSpPr>
        <p:spPr>
          <a:xfrm>
            <a:off x="7795547" y="1791594"/>
            <a:ext cx="1296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84DDDA7-4B3B-20B3-48F5-5B975F172C99}"/>
              </a:ext>
            </a:extLst>
          </p:cNvPr>
          <p:cNvSpPr/>
          <p:nvPr/>
        </p:nvSpPr>
        <p:spPr>
          <a:xfrm>
            <a:off x="9337579" y="1953594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厂内库存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55428FB-6929-CA59-345B-EA5E052DA12C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9091547" y="2241594"/>
            <a:ext cx="24603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66A28144-975E-8CF7-60BA-823BD134516C}"/>
              </a:ext>
            </a:extLst>
          </p:cNvPr>
          <p:cNvCxnSpPr>
            <a:stCxn id="22" idx="0"/>
            <a:endCxn id="49" idx="1"/>
          </p:cNvCxnSpPr>
          <p:nvPr/>
        </p:nvCxnSpPr>
        <p:spPr>
          <a:xfrm rot="5400000" flipH="1" flipV="1">
            <a:off x="4729944" y="-2654040"/>
            <a:ext cx="602602" cy="861266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流程图: 预定义过程 23">
            <a:extLst>
              <a:ext uri="{FF2B5EF4-FFF2-40B4-BE49-F238E27FC236}">
                <a16:creationId xmlns:a16="http://schemas.microsoft.com/office/drawing/2014/main" id="{681ED4FE-2EA3-44C8-AE6B-1B46F0F88E6F}"/>
              </a:ext>
            </a:extLst>
          </p:cNvPr>
          <p:cNvSpPr/>
          <p:nvPr/>
        </p:nvSpPr>
        <p:spPr>
          <a:xfrm>
            <a:off x="10838590" y="1791594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4F71493-3A9E-E0FE-642E-ABE2FF4F2929}"/>
              </a:ext>
            </a:extLst>
          </p:cNvPr>
          <p:cNvCxnSpPr>
            <a:stCxn id="5" idx="3"/>
            <a:endCxn id="24" idx="1"/>
          </p:cNvCxnSpPr>
          <p:nvPr/>
        </p:nvCxnSpPr>
        <p:spPr>
          <a:xfrm>
            <a:off x="10633579" y="2241594"/>
            <a:ext cx="2050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39480AB-F668-AE5E-D25E-93AD0FDF33CF}"/>
              </a:ext>
            </a:extLst>
          </p:cNvPr>
          <p:cNvSpPr/>
          <p:nvPr/>
        </p:nvSpPr>
        <p:spPr>
          <a:xfrm>
            <a:off x="4666533" y="2926992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码头收货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73E5089-AFA3-FD01-375D-632222AA00DF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5314533" y="2529594"/>
            <a:ext cx="0" cy="39739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01C58C4-E010-FFB1-3E39-96E5428EAF19}"/>
              </a:ext>
            </a:extLst>
          </p:cNvPr>
          <p:cNvSpPr/>
          <p:nvPr/>
        </p:nvSpPr>
        <p:spPr>
          <a:xfrm>
            <a:off x="6150375" y="2926992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码头短驳预约进厂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3DFBBB1-9D3D-390B-4212-3D6869EB8238}"/>
              </a:ext>
            </a:extLst>
          </p:cNvPr>
          <p:cNvCxnSpPr>
            <a:stCxn id="45" idx="3"/>
            <a:endCxn id="2" idx="1"/>
          </p:cNvCxnSpPr>
          <p:nvPr/>
        </p:nvCxnSpPr>
        <p:spPr>
          <a:xfrm flipV="1">
            <a:off x="7446375" y="2241594"/>
            <a:ext cx="349172" cy="97339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C68D6CA-1475-DA1C-A518-6BFF7ABCE7CD}"/>
              </a:ext>
            </a:extLst>
          </p:cNvPr>
          <p:cNvCxnSpPr>
            <a:cxnSpLocks/>
            <a:stCxn id="34" idx="3"/>
            <a:endCxn id="45" idx="1"/>
          </p:cNvCxnSpPr>
          <p:nvPr/>
        </p:nvCxnSpPr>
        <p:spPr>
          <a:xfrm>
            <a:off x="5962533" y="3214992"/>
            <a:ext cx="18784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E1FA2CF-9DD9-DECA-5037-75250FE7FCED}"/>
              </a:ext>
            </a:extLst>
          </p:cNvPr>
          <p:cNvSpPr/>
          <p:nvPr/>
        </p:nvSpPr>
        <p:spPr>
          <a:xfrm>
            <a:off x="34220" y="545840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用料需求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170F590D-FF01-785C-B076-AF2471002378}"/>
              </a:ext>
            </a:extLst>
          </p:cNvPr>
          <p:cNvSpPr/>
          <p:nvPr/>
        </p:nvSpPr>
        <p:spPr>
          <a:xfrm>
            <a:off x="1597025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请购需求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B58B928-AB22-2E5F-7D34-662B54C1650A}"/>
              </a:ext>
            </a:extLst>
          </p:cNvPr>
          <p:cNvSpPr/>
          <p:nvPr/>
        </p:nvSpPr>
        <p:spPr>
          <a:xfrm>
            <a:off x="3199660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84C5D25-85BD-A9C7-50D8-D7E92B686857}"/>
              </a:ext>
            </a:extLst>
          </p:cNvPr>
          <p:cNvSpPr/>
          <p:nvPr/>
        </p:nvSpPr>
        <p:spPr>
          <a:xfrm>
            <a:off x="4783610" y="545112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AB82A08-4FF0-F9F7-BC3E-AC43A541B416}"/>
              </a:ext>
            </a:extLst>
          </p:cNvPr>
          <p:cNvSpPr/>
          <p:nvPr/>
        </p:nvSpPr>
        <p:spPr>
          <a:xfrm>
            <a:off x="8788700" y="4716731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EE818E22-859A-07A5-60D9-F1A67A62F330}"/>
              </a:ext>
            </a:extLst>
          </p:cNvPr>
          <p:cNvSpPr/>
          <p:nvPr/>
        </p:nvSpPr>
        <p:spPr>
          <a:xfrm>
            <a:off x="8788700" y="5379597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码头库存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0AD9FEC9-EA86-6814-9070-96D178A29B21}"/>
              </a:ext>
            </a:extLst>
          </p:cNvPr>
          <p:cNvSpPr/>
          <p:nvPr/>
        </p:nvSpPr>
        <p:spPr>
          <a:xfrm>
            <a:off x="8788700" y="6089448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厂内库存</a:t>
            </a:r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93922C38-6349-B9CD-C68F-61E55DB463B6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330220" y="5739120"/>
            <a:ext cx="266805" cy="728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2487CAD-E87C-165D-887C-BF3856B13882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2893025" y="5739120"/>
            <a:ext cx="30663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687FC0A-DE92-F882-EA4A-3DE62EAC66C7}"/>
              </a:ext>
            </a:extLst>
          </p:cNvPr>
          <p:cNvCxnSpPr>
            <a:stCxn id="89" idx="3"/>
            <a:endCxn id="90" idx="1"/>
          </p:cNvCxnSpPr>
          <p:nvPr/>
        </p:nvCxnSpPr>
        <p:spPr>
          <a:xfrm>
            <a:off x="4495660" y="5739120"/>
            <a:ext cx="2879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AA9CE990-B501-0165-BD21-4AEBF50B1B21}"/>
              </a:ext>
            </a:extLst>
          </p:cNvPr>
          <p:cNvCxnSpPr>
            <a:cxnSpLocks/>
            <a:stCxn id="101" idx="4"/>
            <a:endCxn id="91" idx="1"/>
          </p:cNvCxnSpPr>
          <p:nvPr/>
        </p:nvCxnSpPr>
        <p:spPr>
          <a:xfrm flipV="1">
            <a:off x="7692513" y="5004731"/>
            <a:ext cx="1096187" cy="65356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EC496FC4-FC3B-FBBF-AF27-E075F345755C}"/>
              </a:ext>
            </a:extLst>
          </p:cNvPr>
          <p:cNvCxnSpPr>
            <a:cxnSpLocks/>
            <a:stCxn id="101" idx="4"/>
            <a:endCxn id="93" idx="1"/>
          </p:cNvCxnSpPr>
          <p:nvPr/>
        </p:nvCxnSpPr>
        <p:spPr>
          <a:xfrm>
            <a:off x="7692513" y="5658300"/>
            <a:ext cx="1096187" cy="71914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FC7C2E47-63FB-77C3-97ED-9BC7DCBFDEDC}"/>
              </a:ext>
            </a:extLst>
          </p:cNvPr>
          <p:cNvSpPr/>
          <p:nvPr/>
        </p:nvSpPr>
        <p:spPr>
          <a:xfrm>
            <a:off x="6397322" y="3933262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3CAB535E-0F0E-E205-06F6-1CFE0040F4C0}"/>
              </a:ext>
            </a:extLst>
          </p:cNvPr>
          <p:cNvCxnSpPr>
            <a:cxnSpLocks/>
            <a:stCxn id="101" idx="4"/>
            <a:endCxn id="92" idx="1"/>
          </p:cNvCxnSpPr>
          <p:nvPr/>
        </p:nvCxnSpPr>
        <p:spPr>
          <a:xfrm>
            <a:off x="7692513" y="5658300"/>
            <a:ext cx="1096187" cy="92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流程图: 直接访问存储器 100">
            <a:extLst>
              <a:ext uri="{FF2B5EF4-FFF2-40B4-BE49-F238E27FC236}">
                <a16:creationId xmlns:a16="http://schemas.microsoft.com/office/drawing/2014/main" id="{E8905B9C-87BB-DD74-BC99-BA5CC220F3BA}"/>
              </a:ext>
            </a:extLst>
          </p:cNvPr>
          <p:cNvSpPr/>
          <p:nvPr/>
        </p:nvSpPr>
        <p:spPr>
          <a:xfrm>
            <a:off x="6396513" y="4740300"/>
            <a:ext cx="1296000" cy="1836000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0705226C-2E66-5E85-8F6E-AAA37EDC5ACE}"/>
              </a:ext>
            </a:extLst>
          </p:cNvPr>
          <p:cNvCxnSpPr>
            <a:cxnSpLocks/>
            <a:stCxn id="99" idx="2"/>
            <a:endCxn id="101" idx="0"/>
          </p:cNvCxnSpPr>
          <p:nvPr/>
        </p:nvCxnSpPr>
        <p:spPr>
          <a:xfrm flipH="1">
            <a:off x="7044513" y="4509262"/>
            <a:ext cx="809" cy="2310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B4EE1415-7731-0AF3-22E5-EE386C534D49}"/>
              </a:ext>
            </a:extLst>
          </p:cNvPr>
          <p:cNvCxnSpPr>
            <a:stCxn id="91" idx="3"/>
          </p:cNvCxnSpPr>
          <p:nvPr/>
        </p:nvCxnSpPr>
        <p:spPr>
          <a:xfrm>
            <a:off x="10084699" y="5004731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9B616E5B-689A-0DA9-E970-193251F9BCEA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10084700" y="5667597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1257BA0-51DA-C7AC-A079-66686705CA01}"/>
              </a:ext>
            </a:extLst>
          </p:cNvPr>
          <p:cNvCxnSpPr>
            <a:cxnSpLocks/>
            <a:stCxn id="93" idx="3"/>
            <a:endCxn id="107" idx="1"/>
          </p:cNvCxnSpPr>
          <p:nvPr/>
        </p:nvCxnSpPr>
        <p:spPr>
          <a:xfrm>
            <a:off x="10084700" y="6377448"/>
            <a:ext cx="468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流程图: 预定义过程 105">
            <a:extLst>
              <a:ext uri="{FF2B5EF4-FFF2-40B4-BE49-F238E27FC236}">
                <a16:creationId xmlns:a16="http://schemas.microsoft.com/office/drawing/2014/main" id="{1B9EAB07-C9BE-C97B-3E7A-FC8CA5B5B401}"/>
              </a:ext>
            </a:extLst>
          </p:cNvPr>
          <p:cNvSpPr/>
          <p:nvPr/>
        </p:nvSpPr>
        <p:spPr>
          <a:xfrm>
            <a:off x="10552699" y="4848787"/>
            <a:ext cx="1296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sp>
        <p:nvSpPr>
          <p:cNvPr id="107" name="流程图: 预定义过程 106">
            <a:extLst>
              <a:ext uri="{FF2B5EF4-FFF2-40B4-BE49-F238E27FC236}">
                <a16:creationId xmlns:a16="http://schemas.microsoft.com/office/drawing/2014/main" id="{80618EB0-7C1C-F1D4-90A1-34336A7D8C36}"/>
              </a:ext>
            </a:extLst>
          </p:cNvPr>
          <p:cNvSpPr/>
          <p:nvPr/>
        </p:nvSpPr>
        <p:spPr>
          <a:xfrm>
            <a:off x="10552700" y="5945448"/>
            <a:ext cx="1296000" cy="864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0FBC2DB5-822A-4DDF-6FA3-9AA311840C23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6079610" y="5739120"/>
            <a:ext cx="316903" cy="80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A8E2D0C6-BA7E-178D-7621-EE6B5273F6D6}"/>
              </a:ext>
            </a:extLst>
          </p:cNvPr>
          <p:cNvCxnSpPr>
            <a:stCxn id="87" idx="0"/>
            <a:endCxn id="99" idx="1"/>
          </p:cNvCxnSpPr>
          <p:nvPr/>
        </p:nvCxnSpPr>
        <p:spPr>
          <a:xfrm rot="5400000" flipH="1" flipV="1">
            <a:off x="2921201" y="1982281"/>
            <a:ext cx="1237140" cy="571510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295BAB10-EEFD-E9DA-0300-2867B3AD8C08}"/>
              </a:ext>
            </a:extLst>
          </p:cNvPr>
          <p:cNvCxnSpPr/>
          <p:nvPr/>
        </p:nvCxnSpPr>
        <p:spPr>
          <a:xfrm>
            <a:off x="76912" y="3668092"/>
            <a:ext cx="12115088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2A221638-A3AC-958D-17AA-1510DA8F78A7}"/>
              </a:ext>
            </a:extLst>
          </p:cNvPr>
          <p:cNvSpPr/>
          <p:nvPr/>
        </p:nvSpPr>
        <p:spPr>
          <a:xfrm>
            <a:off x="48781" y="843724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E6F9AB86-DA42-6D44-B7BB-7EE14597E250}"/>
              </a:ext>
            </a:extLst>
          </p:cNvPr>
          <p:cNvSpPr/>
          <p:nvPr/>
        </p:nvSpPr>
        <p:spPr>
          <a:xfrm>
            <a:off x="35625" y="3749040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57C00E4-4BA1-7AA1-02E3-5989B66D7E43}"/>
              </a:ext>
            </a:extLst>
          </p:cNvPr>
          <p:cNvSpPr/>
          <p:nvPr/>
        </p:nvSpPr>
        <p:spPr>
          <a:xfrm>
            <a:off x="7740013" y="1744094"/>
            <a:ext cx="1404000" cy="10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F27263A-F6A8-E1F5-3000-C36E9A5A01B9}"/>
              </a:ext>
            </a:extLst>
          </p:cNvPr>
          <p:cNvSpPr/>
          <p:nvPr/>
        </p:nvSpPr>
        <p:spPr>
          <a:xfrm>
            <a:off x="10766238" y="1742117"/>
            <a:ext cx="1404000" cy="10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DA36014-7B67-3A5C-AC74-29116575C476}"/>
              </a:ext>
            </a:extLst>
          </p:cNvPr>
          <p:cNvSpPr/>
          <p:nvPr/>
        </p:nvSpPr>
        <p:spPr>
          <a:xfrm>
            <a:off x="10493323" y="4782394"/>
            <a:ext cx="1404000" cy="20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40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C453EE-CF3B-4537-09A4-A1F2D26C8034}"/>
              </a:ext>
            </a:extLst>
          </p:cNvPr>
          <p:cNvSpPr/>
          <p:nvPr/>
        </p:nvSpPr>
        <p:spPr>
          <a:xfrm>
            <a:off x="5699234" y="1291969"/>
            <a:ext cx="1242000" cy="273455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495D55A-ED3F-1566-1CDF-06AA456FD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9" y="7872"/>
            <a:ext cx="11501541" cy="599559"/>
          </a:xfrm>
        </p:spPr>
        <p:txBody>
          <a:bodyPr>
            <a:noAutofit/>
          </a:bodyPr>
          <a:lstStyle/>
          <a:p>
            <a:pPr algn="l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前段业务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FE2ABCE-25C5-9C36-FB3E-4FFAE32BDA2F}"/>
              </a:ext>
            </a:extLst>
          </p:cNvPr>
          <p:cNvSpPr/>
          <p:nvPr/>
        </p:nvSpPr>
        <p:spPr>
          <a:xfrm>
            <a:off x="3901963" y="4629135"/>
            <a:ext cx="1620000" cy="18606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不配送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800A991-B66C-BB39-11CE-E91BCE1AAEAA}"/>
              </a:ext>
            </a:extLst>
          </p:cNvPr>
          <p:cNvSpPr/>
          <p:nvPr/>
        </p:nvSpPr>
        <p:spPr>
          <a:xfrm>
            <a:off x="3901963" y="695034"/>
            <a:ext cx="1620000" cy="33721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配送来源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1F321B-B492-22BB-4C95-FC8AC695B03E}"/>
              </a:ext>
            </a:extLst>
          </p:cNvPr>
          <p:cNvSpPr/>
          <p:nvPr/>
        </p:nvSpPr>
        <p:spPr>
          <a:xfrm>
            <a:off x="332509" y="3721873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AC3F3F-92F4-B3D6-ABDD-AC08E942C092}"/>
              </a:ext>
            </a:extLst>
          </p:cNvPr>
          <p:cNvSpPr/>
          <p:nvPr/>
        </p:nvSpPr>
        <p:spPr>
          <a:xfrm>
            <a:off x="4152652" y="1369692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D440CFF-AFFE-F271-8EB1-CD8F467A2E8B}"/>
              </a:ext>
            </a:extLst>
          </p:cNvPr>
          <p:cNvSpPr/>
          <p:nvPr/>
        </p:nvSpPr>
        <p:spPr>
          <a:xfrm>
            <a:off x="4152652" y="5137166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自行领料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DF3166-6F42-7F44-45DD-F043748748E5}"/>
              </a:ext>
            </a:extLst>
          </p:cNvPr>
          <p:cNvSpPr/>
          <p:nvPr/>
        </p:nvSpPr>
        <p:spPr>
          <a:xfrm>
            <a:off x="4152652" y="5839746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设备发料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032D64-7F82-E04A-9594-812DD2815590}"/>
              </a:ext>
            </a:extLst>
          </p:cNvPr>
          <p:cNvSpPr/>
          <p:nvPr/>
        </p:nvSpPr>
        <p:spPr>
          <a:xfrm>
            <a:off x="4152652" y="2042189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3C6E030-C922-A9EC-E0B1-38F609D5F454}"/>
              </a:ext>
            </a:extLst>
          </p:cNvPr>
          <p:cNvSpPr/>
          <p:nvPr/>
        </p:nvSpPr>
        <p:spPr>
          <a:xfrm>
            <a:off x="4152652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资材库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F8A951-DABF-812B-159A-D2099AC8B2A8}"/>
              </a:ext>
            </a:extLst>
          </p:cNvPr>
          <p:cNvSpPr/>
          <p:nvPr/>
        </p:nvSpPr>
        <p:spPr>
          <a:xfrm>
            <a:off x="4152652" y="3400521"/>
            <a:ext cx="1152000" cy="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46408431-E0DD-7B0E-3EDE-6EC170A72794}"/>
              </a:ext>
            </a:extLst>
          </p:cNvPr>
          <p:cNvCxnSpPr>
            <a:cxnSpLocks/>
            <a:stCxn id="24" idx="2"/>
            <a:endCxn id="9" idx="1"/>
          </p:cNvCxnSpPr>
          <p:nvPr/>
        </p:nvCxnSpPr>
        <p:spPr>
          <a:xfrm rot="16200000" flipH="1">
            <a:off x="3085044" y="4339557"/>
            <a:ext cx="605293" cy="15299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84A8760A-C355-8726-06E9-E9D7FD4998E3}"/>
              </a:ext>
            </a:extLst>
          </p:cNvPr>
          <p:cNvCxnSpPr>
            <a:cxnSpLocks/>
            <a:stCxn id="24" idx="2"/>
            <a:endCxn id="10" idx="1"/>
          </p:cNvCxnSpPr>
          <p:nvPr/>
        </p:nvCxnSpPr>
        <p:spPr>
          <a:xfrm rot="16200000" flipH="1">
            <a:off x="2733754" y="4690847"/>
            <a:ext cx="1307873" cy="15299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FCAB5DB-37D7-D90F-5FD3-44091C8A024B}"/>
              </a:ext>
            </a:extLst>
          </p:cNvPr>
          <p:cNvSpPr/>
          <p:nvPr/>
        </p:nvSpPr>
        <p:spPr>
          <a:xfrm>
            <a:off x="2995287" y="5800145"/>
            <a:ext cx="1231965" cy="3096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自动仓</a:t>
            </a:r>
          </a:p>
        </p:txBody>
      </p: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615E0545-C24E-4905-A64C-FAB6AF05429D}"/>
              </a:ext>
            </a:extLst>
          </p:cNvPr>
          <p:cNvSpPr/>
          <p:nvPr/>
        </p:nvSpPr>
        <p:spPr>
          <a:xfrm>
            <a:off x="1812729" y="3181873"/>
            <a:ext cx="1620000" cy="1620000"/>
          </a:xfrm>
          <a:prstGeom prst="flowChartDecisio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EA0D0364-9D2C-20DD-E4A8-70E78CFC99EA}"/>
              </a:ext>
            </a:extLst>
          </p:cNvPr>
          <p:cNvCxnSpPr>
            <a:cxnSpLocks/>
            <a:stCxn id="24" idx="3"/>
            <a:endCxn id="5" idx="1"/>
          </p:cNvCxnSpPr>
          <p:nvPr/>
        </p:nvCxnSpPr>
        <p:spPr>
          <a:xfrm flipV="1">
            <a:off x="3432729" y="2381113"/>
            <a:ext cx="469234" cy="16107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流程图: 文档 30">
            <a:extLst>
              <a:ext uri="{FF2B5EF4-FFF2-40B4-BE49-F238E27FC236}">
                <a16:creationId xmlns:a16="http://schemas.microsoft.com/office/drawing/2014/main" id="{19318CFD-805A-3735-1EE4-13C0921D8744}"/>
              </a:ext>
            </a:extLst>
          </p:cNvPr>
          <p:cNvSpPr/>
          <p:nvPr/>
        </p:nvSpPr>
        <p:spPr>
          <a:xfrm>
            <a:off x="2178587" y="1121653"/>
            <a:ext cx="878928" cy="776732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</a:t>
            </a:r>
          </a:p>
        </p:txBody>
      </p:sp>
      <p:sp>
        <p:nvSpPr>
          <p:cNvPr id="32" name="流程图: 文档 31">
            <a:extLst>
              <a:ext uri="{FF2B5EF4-FFF2-40B4-BE49-F238E27FC236}">
                <a16:creationId xmlns:a16="http://schemas.microsoft.com/office/drawing/2014/main" id="{ACBD1842-DDC2-7831-06E7-9A698CDCEEF5}"/>
              </a:ext>
            </a:extLst>
          </p:cNvPr>
          <p:cNvSpPr/>
          <p:nvPr/>
        </p:nvSpPr>
        <p:spPr>
          <a:xfrm>
            <a:off x="1169356" y="1121653"/>
            <a:ext cx="878928" cy="776732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免堆</a:t>
            </a:r>
          </a:p>
        </p:txBody>
      </p:sp>
      <p:sp>
        <p:nvSpPr>
          <p:cNvPr id="33" name="流程图: 文档 32">
            <a:extLst>
              <a:ext uri="{FF2B5EF4-FFF2-40B4-BE49-F238E27FC236}">
                <a16:creationId xmlns:a16="http://schemas.microsoft.com/office/drawing/2014/main" id="{B889AF9B-AAFE-BC96-20DC-F2802A513F4C}"/>
              </a:ext>
            </a:extLst>
          </p:cNvPr>
          <p:cNvSpPr/>
          <p:nvPr/>
        </p:nvSpPr>
        <p:spPr>
          <a:xfrm>
            <a:off x="122606" y="2623518"/>
            <a:ext cx="878928" cy="776732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配送作业成本</a:t>
            </a:r>
          </a:p>
        </p:txBody>
      </p:sp>
      <p:sp>
        <p:nvSpPr>
          <p:cNvPr id="34" name="流程图: 文档 33">
            <a:extLst>
              <a:ext uri="{FF2B5EF4-FFF2-40B4-BE49-F238E27FC236}">
                <a16:creationId xmlns:a16="http://schemas.microsoft.com/office/drawing/2014/main" id="{EF9060CF-65A1-D0A3-DD63-0EA994EDC361}"/>
              </a:ext>
            </a:extLst>
          </p:cNvPr>
          <p:cNvSpPr/>
          <p:nvPr/>
        </p:nvSpPr>
        <p:spPr>
          <a:xfrm>
            <a:off x="123187" y="1121653"/>
            <a:ext cx="878928" cy="776732"/>
          </a:xfrm>
          <a:prstGeom prst="flowChartDocumen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6FDB85C-7517-4FCF-4C9A-2DF42E967242}"/>
              </a:ext>
            </a:extLst>
          </p:cNvPr>
          <p:cNvCxnSpPr>
            <a:cxnSpLocks/>
            <a:stCxn id="34" idx="2"/>
          </p:cNvCxnSpPr>
          <p:nvPr/>
        </p:nvCxnSpPr>
        <p:spPr>
          <a:xfrm rot="16200000" flipH="1">
            <a:off x="893372" y="1516313"/>
            <a:ext cx="1398637" cy="20600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1B5F3555-22CE-BBD4-129A-B62ED3935ED1}"/>
              </a:ext>
            </a:extLst>
          </p:cNvPr>
          <p:cNvCxnSpPr>
            <a:cxnSpLocks/>
            <a:stCxn id="32" idx="2"/>
          </p:cNvCxnSpPr>
          <p:nvPr/>
        </p:nvCxnSpPr>
        <p:spPr>
          <a:xfrm rot="16200000" flipH="1">
            <a:off x="1416456" y="2039397"/>
            <a:ext cx="1398637" cy="10139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7FF3915E-0E4D-796C-E742-CA20CE87000E}"/>
              </a:ext>
            </a:extLst>
          </p:cNvPr>
          <p:cNvCxnSpPr>
            <a:cxnSpLocks/>
            <a:stCxn id="31" idx="2"/>
          </p:cNvCxnSpPr>
          <p:nvPr/>
        </p:nvCxnSpPr>
        <p:spPr>
          <a:xfrm rot="16200000" flipH="1">
            <a:off x="1921072" y="2544013"/>
            <a:ext cx="1398637" cy="46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6E087285-6E15-DCAC-74E3-644578E8954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01534" y="3011884"/>
            <a:ext cx="1621195" cy="2337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235CBEB-0440-C288-2E54-7D3AF12010A3}"/>
              </a:ext>
            </a:extLst>
          </p:cNvPr>
          <p:cNvSpPr/>
          <p:nvPr/>
        </p:nvSpPr>
        <p:spPr>
          <a:xfrm>
            <a:off x="9545649" y="1369692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预约号绑配送单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90AE17D-EA13-353A-55E7-1D7F902A2F7C}"/>
              </a:ext>
            </a:extLst>
          </p:cNvPr>
          <p:cNvSpPr/>
          <p:nvPr/>
        </p:nvSpPr>
        <p:spPr>
          <a:xfrm>
            <a:off x="9545649" y="2042189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预约号绑配送单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5F7F272-AD3B-BA17-2B85-901CD1B641AD}"/>
              </a:ext>
            </a:extLst>
          </p:cNvPr>
          <p:cNvSpPr/>
          <p:nvPr/>
        </p:nvSpPr>
        <p:spPr>
          <a:xfrm>
            <a:off x="9545649" y="2714685"/>
            <a:ext cx="1152000" cy="540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配送单绑配送单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8D408E3-DD7F-A7F7-FC72-61E31A8B7CB8}"/>
              </a:ext>
            </a:extLst>
          </p:cNvPr>
          <p:cNvSpPr/>
          <p:nvPr/>
        </p:nvSpPr>
        <p:spPr>
          <a:xfrm>
            <a:off x="8277735" y="3400521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送货预约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688ED43-D025-F871-AC97-9A506119AF30}"/>
              </a:ext>
            </a:extLst>
          </p:cNvPr>
          <p:cNvCxnSpPr>
            <a:stCxn id="7" idx="3"/>
            <a:endCxn id="42" idx="1"/>
          </p:cNvCxnSpPr>
          <p:nvPr/>
        </p:nvCxnSpPr>
        <p:spPr>
          <a:xfrm>
            <a:off x="5304652" y="1639692"/>
            <a:ext cx="42409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DC11D31-4357-60EB-A301-56DCD132EB47}"/>
              </a:ext>
            </a:extLst>
          </p:cNvPr>
          <p:cNvCxnSpPr>
            <a:cxnSpLocks/>
            <a:stCxn id="11" idx="3"/>
            <a:endCxn id="45" idx="1"/>
          </p:cNvCxnSpPr>
          <p:nvPr/>
        </p:nvCxnSpPr>
        <p:spPr>
          <a:xfrm>
            <a:off x="5304652" y="2312189"/>
            <a:ext cx="42409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9C7E43D0-C752-586F-A53E-9719D8061BF5}"/>
              </a:ext>
            </a:extLst>
          </p:cNvPr>
          <p:cNvCxnSpPr>
            <a:stCxn id="12" idx="3"/>
            <a:endCxn id="46" idx="1"/>
          </p:cNvCxnSpPr>
          <p:nvPr/>
        </p:nvCxnSpPr>
        <p:spPr>
          <a:xfrm flipV="1">
            <a:off x="5304652" y="2984685"/>
            <a:ext cx="4240997" cy="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1A921C0-03F1-8068-217F-96D71D672A32}"/>
              </a:ext>
            </a:extLst>
          </p:cNvPr>
          <p:cNvCxnSpPr>
            <a:stCxn id="14" idx="3"/>
            <a:endCxn id="47" idx="1"/>
          </p:cNvCxnSpPr>
          <p:nvPr/>
        </p:nvCxnSpPr>
        <p:spPr>
          <a:xfrm>
            <a:off x="5304652" y="3670521"/>
            <a:ext cx="2973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3C8464A-6553-4660-26C3-445DEC6584DD}"/>
              </a:ext>
            </a:extLst>
          </p:cNvPr>
          <p:cNvSpPr/>
          <p:nvPr/>
        </p:nvSpPr>
        <p:spPr>
          <a:xfrm>
            <a:off x="5752364" y="2042189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短驳计划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E73A8DC-F543-C171-CCA2-B78A3FF3944B}"/>
              </a:ext>
            </a:extLst>
          </p:cNvPr>
          <p:cNvSpPr/>
          <p:nvPr/>
        </p:nvSpPr>
        <p:spPr>
          <a:xfrm>
            <a:off x="5752364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拣配计划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EFA53C3-9869-E9B5-241D-1BA991529307}"/>
              </a:ext>
            </a:extLst>
          </p:cNvPr>
          <p:cNvSpPr/>
          <p:nvPr/>
        </p:nvSpPr>
        <p:spPr>
          <a:xfrm>
            <a:off x="6995646" y="3400521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</a:p>
        </p:txBody>
      </p:sp>
      <p:sp>
        <p:nvSpPr>
          <p:cNvPr id="59" name="流程图: 预定义过程 58">
            <a:extLst>
              <a:ext uri="{FF2B5EF4-FFF2-40B4-BE49-F238E27FC236}">
                <a16:creationId xmlns:a16="http://schemas.microsoft.com/office/drawing/2014/main" id="{C088A4A5-2ED4-C374-3071-55E2456E88FA}"/>
              </a:ext>
            </a:extLst>
          </p:cNvPr>
          <p:cNvSpPr/>
          <p:nvPr/>
        </p:nvSpPr>
        <p:spPr>
          <a:xfrm>
            <a:off x="11041644" y="1501894"/>
            <a:ext cx="1080000" cy="90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D6CCF10E-F3BC-0885-830D-80276E78588B}"/>
              </a:ext>
            </a:extLst>
          </p:cNvPr>
          <p:cNvCxnSpPr>
            <a:stCxn id="42" idx="3"/>
            <a:endCxn id="59" idx="1"/>
          </p:cNvCxnSpPr>
          <p:nvPr/>
        </p:nvCxnSpPr>
        <p:spPr>
          <a:xfrm>
            <a:off x="10697649" y="1639692"/>
            <a:ext cx="343995" cy="3122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16E5C951-C9BC-344B-2DFA-8F060660A699}"/>
              </a:ext>
            </a:extLst>
          </p:cNvPr>
          <p:cNvCxnSpPr>
            <a:cxnSpLocks/>
            <a:stCxn id="45" idx="3"/>
            <a:endCxn id="59" idx="1"/>
          </p:cNvCxnSpPr>
          <p:nvPr/>
        </p:nvCxnSpPr>
        <p:spPr>
          <a:xfrm flipV="1">
            <a:off x="10697649" y="1951894"/>
            <a:ext cx="343995" cy="3602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流程图: 预定义过程 67">
            <a:extLst>
              <a:ext uri="{FF2B5EF4-FFF2-40B4-BE49-F238E27FC236}">
                <a16:creationId xmlns:a16="http://schemas.microsoft.com/office/drawing/2014/main" id="{305D792A-3851-BB0A-79BA-2E52E10BDBC1}"/>
              </a:ext>
            </a:extLst>
          </p:cNvPr>
          <p:cNvSpPr/>
          <p:nvPr/>
        </p:nvSpPr>
        <p:spPr>
          <a:xfrm>
            <a:off x="11041644" y="2534850"/>
            <a:ext cx="1080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78FC66B-24C0-BFD9-0308-8A582AB4F394}"/>
              </a:ext>
            </a:extLst>
          </p:cNvPr>
          <p:cNvCxnSpPr>
            <a:stCxn id="46" idx="3"/>
            <a:endCxn id="68" idx="1"/>
          </p:cNvCxnSpPr>
          <p:nvPr/>
        </p:nvCxnSpPr>
        <p:spPr>
          <a:xfrm>
            <a:off x="10697649" y="2984685"/>
            <a:ext cx="343995" cy="1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BFF68BBC-C0D6-5D75-20E6-8043564ED184}"/>
              </a:ext>
            </a:extLst>
          </p:cNvPr>
          <p:cNvSpPr txBox="1"/>
          <p:nvPr/>
        </p:nvSpPr>
        <p:spPr>
          <a:xfrm>
            <a:off x="5234236" y="303835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流程图: 接点 72">
            <a:extLst>
              <a:ext uri="{FF2B5EF4-FFF2-40B4-BE49-F238E27FC236}">
                <a16:creationId xmlns:a16="http://schemas.microsoft.com/office/drawing/2014/main" id="{6A0CD15D-5CAE-1787-43B5-3AEB993429D2}"/>
              </a:ext>
            </a:extLst>
          </p:cNvPr>
          <p:cNvSpPr/>
          <p:nvPr/>
        </p:nvSpPr>
        <p:spPr>
          <a:xfrm>
            <a:off x="5609234" y="2042369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1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75" name="流程图: 接点 74">
            <a:extLst>
              <a:ext uri="{FF2B5EF4-FFF2-40B4-BE49-F238E27FC236}">
                <a16:creationId xmlns:a16="http://schemas.microsoft.com/office/drawing/2014/main" id="{677A750F-833E-9AD5-0034-EDD4EED434B7}"/>
              </a:ext>
            </a:extLst>
          </p:cNvPr>
          <p:cNvSpPr/>
          <p:nvPr/>
        </p:nvSpPr>
        <p:spPr>
          <a:xfrm>
            <a:off x="6418523" y="5192106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流程图: 接点 75">
            <a:extLst>
              <a:ext uri="{FF2B5EF4-FFF2-40B4-BE49-F238E27FC236}">
                <a16:creationId xmlns:a16="http://schemas.microsoft.com/office/drawing/2014/main" id="{937B9F05-3134-F5E3-2D51-0040FA3AA9E0}"/>
              </a:ext>
            </a:extLst>
          </p:cNvPr>
          <p:cNvSpPr/>
          <p:nvPr/>
        </p:nvSpPr>
        <p:spPr>
          <a:xfrm>
            <a:off x="6418523" y="6008820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流程图: 接点 76">
            <a:extLst>
              <a:ext uri="{FF2B5EF4-FFF2-40B4-BE49-F238E27FC236}">
                <a16:creationId xmlns:a16="http://schemas.microsoft.com/office/drawing/2014/main" id="{CD8BBF0E-32D6-2E2F-00FB-3E786875306B}"/>
              </a:ext>
            </a:extLst>
          </p:cNvPr>
          <p:cNvSpPr/>
          <p:nvPr/>
        </p:nvSpPr>
        <p:spPr>
          <a:xfrm>
            <a:off x="6418523" y="4372005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流程图: 接点 77">
            <a:extLst>
              <a:ext uri="{FF2B5EF4-FFF2-40B4-BE49-F238E27FC236}">
                <a16:creationId xmlns:a16="http://schemas.microsoft.com/office/drawing/2014/main" id="{BCB1489A-47A6-2767-1368-F32BF624603F}"/>
              </a:ext>
            </a:extLst>
          </p:cNvPr>
          <p:cNvSpPr/>
          <p:nvPr/>
        </p:nvSpPr>
        <p:spPr>
          <a:xfrm>
            <a:off x="5609234" y="2715872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2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862E772-7C30-A3DC-0162-C47D3D3AC9B4}"/>
              </a:ext>
            </a:extLst>
          </p:cNvPr>
          <p:cNvSpPr/>
          <p:nvPr/>
        </p:nvSpPr>
        <p:spPr>
          <a:xfrm>
            <a:off x="6898418" y="4068237"/>
            <a:ext cx="5084471" cy="787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码头预约进厂场景：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从码头仓库配送者，先创短驳计划触发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预约号，车队派车送货进厂；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其他由系统依免堆到期日前，创建预约号，车队送货进厂。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E258364-9978-06BC-8A66-CC016291CE7D}"/>
              </a:ext>
            </a:extLst>
          </p:cNvPr>
          <p:cNvSpPr/>
          <p:nvPr/>
        </p:nvSpPr>
        <p:spPr>
          <a:xfrm>
            <a:off x="6898418" y="4888338"/>
            <a:ext cx="5084471" cy="787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厂内配送场景：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从资材库配送者，创建拣配行项目，厂内安排车辆配送；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配送单作为当班配送作业依据。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5DFF0D9-A2E9-CA71-E059-B8B614D2B100}"/>
              </a:ext>
            </a:extLst>
          </p:cNvPr>
          <p:cNvSpPr/>
          <p:nvPr/>
        </p:nvSpPr>
        <p:spPr>
          <a:xfrm>
            <a:off x="6898418" y="5705052"/>
            <a:ext cx="5084471" cy="10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紧急叫料驱动：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库存＜领料单需求，系统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触发供应商送货预约；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各厂可找临近工厂供应商，以库存驾驶舱驱动预约送货。</a:t>
            </a: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2DB33F4-D822-C2B7-09F8-E36B17C9BE59}"/>
              </a:ext>
            </a:extLst>
          </p:cNvPr>
          <p:cNvSpPr/>
          <p:nvPr/>
        </p:nvSpPr>
        <p:spPr>
          <a:xfrm>
            <a:off x="6995646" y="2042189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通知车队派车送货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84E36486-94FE-2010-FED0-04D21173D9E1}"/>
              </a:ext>
            </a:extLst>
          </p:cNvPr>
          <p:cNvSpPr/>
          <p:nvPr/>
        </p:nvSpPr>
        <p:spPr>
          <a:xfrm>
            <a:off x="8277735" y="2042189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</a:t>
            </a:r>
          </a:p>
        </p:txBody>
      </p:sp>
      <p:sp>
        <p:nvSpPr>
          <p:cNvPr id="90" name="流程图: 接点 89">
            <a:extLst>
              <a:ext uri="{FF2B5EF4-FFF2-40B4-BE49-F238E27FC236}">
                <a16:creationId xmlns:a16="http://schemas.microsoft.com/office/drawing/2014/main" id="{C45C7547-4519-44A8-0530-9EC06C563F0B}"/>
              </a:ext>
            </a:extLst>
          </p:cNvPr>
          <p:cNvSpPr/>
          <p:nvPr/>
        </p:nvSpPr>
        <p:spPr>
          <a:xfrm>
            <a:off x="9876010" y="3394171"/>
            <a:ext cx="540000" cy="540000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FCF32BC-7C77-466D-FBAD-AFABB0B711A3}"/>
              </a:ext>
            </a:extLst>
          </p:cNvPr>
          <p:cNvCxnSpPr>
            <a:stCxn id="47" idx="3"/>
            <a:endCxn id="90" idx="2"/>
          </p:cNvCxnSpPr>
          <p:nvPr/>
        </p:nvCxnSpPr>
        <p:spPr>
          <a:xfrm flipV="1">
            <a:off x="9429735" y="3664171"/>
            <a:ext cx="446275" cy="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流程图: 接点 92">
            <a:extLst>
              <a:ext uri="{FF2B5EF4-FFF2-40B4-BE49-F238E27FC236}">
                <a16:creationId xmlns:a16="http://schemas.microsoft.com/office/drawing/2014/main" id="{4D6F4AA9-40A4-1AF2-8E4A-5146426ECD88}"/>
              </a:ext>
            </a:extLst>
          </p:cNvPr>
          <p:cNvSpPr/>
          <p:nvPr/>
        </p:nvSpPr>
        <p:spPr>
          <a:xfrm>
            <a:off x="3250127" y="761114"/>
            <a:ext cx="540000" cy="540000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2526AA69-EA38-8DC2-E68C-53DC51E0F65C}"/>
              </a:ext>
            </a:extLst>
          </p:cNvPr>
          <p:cNvCxnSpPr>
            <a:stCxn id="93" idx="4"/>
            <a:endCxn id="7" idx="1"/>
          </p:cNvCxnSpPr>
          <p:nvPr/>
        </p:nvCxnSpPr>
        <p:spPr>
          <a:xfrm rot="16200000" flipH="1">
            <a:off x="3667100" y="1154140"/>
            <a:ext cx="338578" cy="6325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B8C44C70-42AE-6D7E-0BE3-E029798DA667}"/>
              </a:ext>
            </a:extLst>
          </p:cNvPr>
          <p:cNvCxnSpPr>
            <a:stCxn id="6" idx="3"/>
            <a:endCxn id="24" idx="1"/>
          </p:cNvCxnSpPr>
          <p:nvPr/>
        </p:nvCxnSpPr>
        <p:spPr>
          <a:xfrm>
            <a:off x="1484509" y="3991873"/>
            <a:ext cx="328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CDFEC448-E13F-DE3C-D386-A997F42F3236}"/>
              </a:ext>
            </a:extLst>
          </p:cNvPr>
          <p:cNvSpPr/>
          <p:nvPr/>
        </p:nvSpPr>
        <p:spPr>
          <a:xfrm>
            <a:off x="6995646" y="2717918"/>
            <a:ext cx="1152000" cy="54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拣配行项目单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42D750-FF54-3B7E-02C4-B903EEB8FCA4}"/>
              </a:ext>
            </a:extLst>
          </p:cNvPr>
          <p:cNvSpPr/>
          <p:nvPr/>
        </p:nvSpPr>
        <p:spPr>
          <a:xfrm>
            <a:off x="5752364" y="1341349"/>
            <a:ext cx="1152000" cy="540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供应商送货计划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D14B850-0BAE-92AB-C23D-5706E610764C}"/>
              </a:ext>
            </a:extLst>
          </p:cNvPr>
          <p:cNvSpPr/>
          <p:nvPr/>
        </p:nvSpPr>
        <p:spPr>
          <a:xfrm>
            <a:off x="5752364" y="3400521"/>
            <a:ext cx="1152000" cy="540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紧急叫料计划</a:t>
            </a:r>
          </a:p>
        </p:txBody>
      </p:sp>
      <p:sp>
        <p:nvSpPr>
          <p:cNvPr id="80" name="流程图: 接点 79">
            <a:extLst>
              <a:ext uri="{FF2B5EF4-FFF2-40B4-BE49-F238E27FC236}">
                <a16:creationId xmlns:a16="http://schemas.microsoft.com/office/drawing/2014/main" id="{2C59C8CA-8DFE-26AA-79FD-126919BB18AD}"/>
              </a:ext>
            </a:extLst>
          </p:cNvPr>
          <p:cNvSpPr/>
          <p:nvPr/>
        </p:nvSpPr>
        <p:spPr>
          <a:xfrm>
            <a:off x="5609234" y="3380284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3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9B6C3E-3C88-8772-9AEC-A9BDD8EA2061}"/>
              </a:ext>
            </a:extLst>
          </p:cNvPr>
          <p:cNvSpPr/>
          <p:nvPr/>
        </p:nvSpPr>
        <p:spPr>
          <a:xfrm>
            <a:off x="5707813" y="794452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一、创建计划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4E22982-4351-21E8-1F03-20F3EAB7F65B}"/>
              </a:ext>
            </a:extLst>
          </p:cNvPr>
          <p:cNvSpPr/>
          <p:nvPr/>
        </p:nvSpPr>
        <p:spPr>
          <a:xfrm>
            <a:off x="9541316" y="1311254"/>
            <a:ext cx="1152000" cy="201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C79352-A911-320C-0111-EE155FA4E621}"/>
              </a:ext>
            </a:extLst>
          </p:cNvPr>
          <p:cNvSpPr/>
          <p:nvPr/>
        </p:nvSpPr>
        <p:spPr>
          <a:xfrm>
            <a:off x="9378892" y="794452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二、创建任务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88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7882-4114-1A8D-7012-21E91139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A15471B-99FD-1982-0790-400A771192C3}"/>
              </a:ext>
            </a:extLst>
          </p:cNvPr>
          <p:cNvSpPr/>
          <p:nvPr/>
        </p:nvSpPr>
        <p:spPr>
          <a:xfrm>
            <a:off x="3683222" y="2719288"/>
            <a:ext cx="1584000" cy="21885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61E201-8275-899B-889A-A98DA7B77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39771"/>
            <a:ext cx="11639764" cy="599559"/>
          </a:xfrm>
        </p:spPr>
        <p:txBody>
          <a:bodyPr>
            <a:noAutofit/>
          </a:bodyPr>
          <a:lstStyle/>
          <a:p>
            <a:pPr algn="l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后段业务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D35A188-833C-5C52-B071-80C9BB249B64}"/>
              </a:ext>
            </a:extLst>
          </p:cNvPr>
          <p:cNvSpPr/>
          <p:nvPr/>
        </p:nvSpPr>
        <p:spPr>
          <a:xfrm>
            <a:off x="5769075" y="226410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送货进厂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0262E1B-31BD-96D3-2E97-904B85C4EDD8}"/>
              </a:ext>
            </a:extLst>
          </p:cNvPr>
          <p:cNvSpPr/>
          <p:nvPr/>
        </p:nvSpPr>
        <p:spPr>
          <a:xfrm>
            <a:off x="5769075" y="3096023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码头短驳预约进厂</a:t>
            </a:r>
          </a:p>
        </p:txBody>
      </p:sp>
      <p:sp>
        <p:nvSpPr>
          <p:cNvPr id="5" name="流程图: 预定义过程 4">
            <a:extLst>
              <a:ext uri="{FF2B5EF4-FFF2-40B4-BE49-F238E27FC236}">
                <a16:creationId xmlns:a16="http://schemas.microsoft.com/office/drawing/2014/main" id="{F704FC3F-84FA-472F-8AEC-6D7908937387}"/>
              </a:ext>
            </a:extLst>
          </p:cNvPr>
          <p:cNvSpPr/>
          <p:nvPr/>
        </p:nvSpPr>
        <p:spPr>
          <a:xfrm>
            <a:off x="7580351" y="2428309"/>
            <a:ext cx="1296000" cy="1080000"/>
          </a:xfrm>
          <a:prstGeom prst="flowChartPredefinedProcess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采购收货作业</a:t>
            </a: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D9BB20D-47CF-40BE-13A7-275BDBC1400B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7065075" y="2552100"/>
            <a:ext cx="515276" cy="41620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46C559A9-238D-DE41-45EB-CF48E6C993A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065075" y="2968309"/>
            <a:ext cx="515276" cy="415714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菱形 7">
            <a:extLst>
              <a:ext uri="{FF2B5EF4-FFF2-40B4-BE49-F238E27FC236}">
                <a16:creationId xmlns:a16="http://schemas.microsoft.com/office/drawing/2014/main" id="{A5946516-9138-DDEE-2E15-BAE6CCD786A0}"/>
              </a:ext>
            </a:extLst>
          </p:cNvPr>
          <p:cNvSpPr/>
          <p:nvPr/>
        </p:nvSpPr>
        <p:spPr>
          <a:xfrm>
            <a:off x="9261298" y="2334246"/>
            <a:ext cx="1656000" cy="1296000"/>
          </a:xfrm>
          <a:prstGeom prst="diamond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绑配送单号？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0C81205-6EF0-67F1-7414-8B9DBCA45C9B}"/>
              </a:ext>
            </a:extLst>
          </p:cNvPr>
          <p:cNvSpPr/>
          <p:nvPr/>
        </p:nvSpPr>
        <p:spPr>
          <a:xfrm>
            <a:off x="10571549" y="1534019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依采购收货策略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F59DAE-93C2-620C-E435-5F9A18848246}"/>
              </a:ext>
            </a:extLst>
          </p:cNvPr>
          <p:cNvSpPr/>
          <p:nvPr/>
        </p:nvSpPr>
        <p:spPr>
          <a:xfrm>
            <a:off x="10031058" y="2069969"/>
            <a:ext cx="350032" cy="3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1B69D29-AE76-BA47-A763-9228BE901729}"/>
              </a:ext>
            </a:extLst>
          </p:cNvPr>
          <p:cNvSpPr/>
          <p:nvPr/>
        </p:nvSpPr>
        <p:spPr>
          <a:xfrm>
            <a:off x="10571549" y="4080737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依配送地点卸货</a:t>
            </a:r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F8B7256B-D5E2-4CC3-809D-481E2D101E86}"/>
              </a:ext>
            </a:extLst>
          </p:cNvPr>
          <p:cNvCxnSpPr>
            <a:stCxn id="8" idx="2"/>
            <a:endCxn id="12" idx="1"/>
          </p:cNvCxnSpPr>
          <p:nvPr/>
        </p:nvCxnSpPr>
        <p:spPr>
          <a:xfrm rot="16200000" flipH="1">
            <a:off x="9961178" y="3758365"/>
            <a:ext cx="738491" cy="48225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6DEB954-0692-E7D4-127D-FDDAC29CF39B}"/>
              </a:ext>
            </a:extLst>
          </p:cNvPr>
          <p:cNvSpPr/>
          <p:nvPr/>
        </p:nvSpPr>
        <p:spPr>
          <a:xfrm>
            <a:off x="10019337" y="3670169"/>
            <a:ext cx="350032" cy="3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C8E51A-3012-3DE2-2DA9-249818D561E2}"/>
              </a:ext>
            </a:extLst>
          </p:cNvPr>
          <p:cNvSpPr/>
          <p:nvPr/>
        </p:nvSpPr>
        <p:spPr>
          <a:xfrm>
            <a:off x="165100" y="3382643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455A344-8D48-495B-6BA4-986FFD8261F3}"/>
              </a:ext>
            </a:extLst>
          </p:cNvPr>
          <p:cNvSpPr/>
          <p:nvPr/>
        </p:nvSpPr>
        <p:spPr>
          <a:xfrm>
            <a:off x="1845856" y="1582643"/>
            <a:ext cx="1620000" cy="41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配送来源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861356-D272-5095-4CBF-40A67315C94E}"/>
              </a:ext>
            </a:extLst>
          </p:cNvPr>
          <p:cNvSpPr/>
          <p:nvPr/>
        </p:nvSpPr>
        <p:spPr>
          <a:xfrm>
            <a:off x="2027214" y="226410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4D7F790-E638-F4F7-6600-E26A51A2F26C}"/>
              </a:ext>
            </a:extLst>
          </p:cNvPr>
          <p:cNvSpPr/>
          <p:nvPr/>
        </p:nvSpPr>
        <p:spPr>
          <a:xfrm>
            <a:off x="2027214" y="309602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码头库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3603E4-638A-4C10-5EFE-F9E81BC32D03}"/>
              </a:ext>
            </a:extLst>
          </p:cNvPr>
          <p:cNvSpPr/>
          <p:nvPr/>
        </p:nvSpPr>
        <p:spPr>
          <a:xfrm>
            <a:off x="2027214" y="409908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69ECBB-1E70-0A0B-679F-237DA0964803}"/>
              </a:ext>
            </a:extLst>
          </p:cNvPr>
          <p:cNvSpPr/>
          <p:nvPr/>
        </p:nvSpPr>
        <p:spPr>
          <a:xfrm>
            <a:off x="2027214" y="4985697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9CEDDF4-777B-164B-58FA-C0CDA4D07AC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1461100" y="3670643"/>
            <a:ext cx="3847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13EC4D5-47D2-3689-6681-A7BDAFE4DADF}"/>
              </a:ext>
            </a:extLst>
          </p:cNvPr>
          <p:cNvCxnSpPr>
            <a:stCxn id="17" idx="3"/>
            <a:endCxn id="3" idx="1"/>
          </p:cNvCxnSpPr>
          <p:nvPr/>
        </p:nvCxnSpPr>
        <p:spPr>
          <a:xfrm>
            <a:off x="3323214" y="2552100"/>
            <a:ext cx="244586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FEC8258-66D1-83B2-3B25-12D9B54EA6CC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>
          <a:xfrm>
            <a:off x="3323214" y="3384023"/>
            <a:ext cx="51249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00DDDAC-A1FE-8B71-8043-BA64C6E07C73}"/>
              </a:ext>
            </a:extLst>
          </p:cNvPr>
          <p:cNvSpPr/>
          <p:nvPr/>
        </p:nvSpPr>
        <p:spPr>
          <a:xfrm>
            <a:off x="3835708" y="409908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拣配计划</a:t>
            </a:r>
          </a:p>
        </p:txBody>
      </p:sp>
      <p:sp>
        <p:nvSpPr>
          <p:cNvPr id="25" name="流程图: 预定义过程 24">
            <a:extLst>
              <a:ext uri="{FF2B5EF4-FFF2-40B4-BE49-F238E27FC236}">
                <a16:creationId xmlns:a16="http://schemas.microsoft.com/office/drawing/2014/main" id="{224755D9-9E29-E1EB-2F37-542BAB665ECB}"/>
              </a:ext>
            </a:extLst>
          </p:cNvPr>
          <p:cNvSpPr/>
          <p:nvPr/>
        </p:nvSpPr>
        <p:spPr>
          <a:xfrm>
            <a:off x="7580351" y="3847083"/>
            <a:ext cx="1296000" cy="108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BA05747-E9E7-2110-37DF-6348F5EA76CD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3323214" y="4387083"/>
            <a:ext cx="51249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BABE110-270E-F6C5-CA05-AFC7AF45352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5131708" y="4387083"/>
            <a:ext cx="24486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4040C21-BA9B-BADF-8E39-3040EAE48541}"/>
              </a:ext>
            </a:extLst>
          </p:cNvPr>
          <p:cNvCxnSpPr>
            <a:stCxn id="25" idx="3"/>
            <a:endCxn id="12" idx="1"/>
          </p:cNvCxnSpPr>
          <p:nvPr/>
        </p:nvCxnSpPr>
        <p:spPr>
          <a:xfrm flipV="1">
            <a:off x="8876351" y="4368737"/>
            <a:ext cx="1695198" cy="183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9FDC4B5-7F65-A437-4550-270D9458DE16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8876351" y="2968309"/>
            <a:ext cx="384947" cy="139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A2A5B0B4-F59E-8AAF-AB3D-05416ECE315A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rot="5400000" flipH="1" flipV="1">
            <a:off x="10074310" y="1837008"/>
            <a:ext cx="512227" cy="48225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B8CCED5-2959-04B1-B6F7-04BA5BF63258}"/>
              </a:ext>
            </a:extLst>
          </p:cNvPr>
          <p:cNvSpPr/>
          <p:nvPr/>
        </p:nvSpPr>
        <p:spPr>
          <a:xfrm>
            <a:off x="3835708" y="309602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短驳计划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AC5DF4D-B5AC-2B0E-A92B-A3F1AA6EC4F9}"/>
              </a:ext>
            </a:extLst>
          </p:cNvPr>
          <p:cNvCxnSpPr>
            <a:cxnSpLocks/>
            <a:stCxn id="41" idx="3"/>
            <a:endCxn id="4" idx="1"/>
          </p:cNvCxnSpPr>
          <p:nvPr/>
        </p:nvCxnSpPr>
        <p:spPr>
          <a:xfrm>
            <a:off x="5131708" y="3384023"/>
            <a:ext cx="6373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C13F5DEE-FE6E-5ABF-2C38-0EEF02920CF1}"/>
              </a:ext>
            </a:extLst>
          </p:cNvPr>
          <p:cNvSpPr/>
          <p:nvPr/>
        </p:nvSpPr>
        <p:spPr>
          <a:xfrm>
            <a:off x="4390034" y="2310557"/>
            <a:ext cx="180000" cy="18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ptos Black" panose="020B0004020202020204" pitchFamily="34" charset="0"/>
                <a:ea typeface="Cambria" panose="02040503050406030204" pitchFamily="18" charset="0"/>
              </a:rPr>
              <a:t>1</a:t>
            </a:r>
            <a:endParaRPr lang="zh-CN" altLang="en-US" sz="1600" dirty="0">
              <a:latin typeface="Aptos Black" panose="020B0004020202020204" pitchFamily="34" charset="0"/>
            </a:endParaRPr>
          </a:p>
        </p:txBody>
      </p:sp>
      <p:sp>
        <p:nvSpPr>
          <p:cNvPr id="47" name="流程图: 接点 46">
            <a:extLst>
              <a:ext uri="{FF2B5EF4-FFF2-40B4-BE49-F238E27FC236}">
                <a16:creationId xmlns:a16="http://schemas.microsoft.com/office/drawing/2014/main" id="{94E6F41C-7728-3360-C324-7D9D67A9D6DF}"/>
              </a:ext>
            </a:extLst>
          </p:cNvPr>
          <p:cNvSpPr/>
          <p:nvPr/>
        </p:nvSpPr>
        <p:spPr>
          <a:xfrm>
            <a:off x="6016563" y="5466110"/>
            <a:ext cx="360000" cy="36000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2A3FCD-769D-B69C-E3F0-8F5FC5BFEB57}"/>
              </a:ext>
            </a:extLst>
          </p:cNvPr>
          <p:cNvSpPr/>
          <p:nvPr/>
        </p:nvSpPr>
        <p:spPr>
          <a:xfrm>
            <a:off x="6466618" y="5321368"/>
            <a:ext cx="5425552" cy="11250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供应商送货预约场景：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目前供应商预约送货是由供应商线下与相关部门讨论后再去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预约；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未来可评估，由库存驾驶舱与生产需求来触发供应商送货时机。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42B9EF-682A-304F-5027-6E26AFB6A827}"/>
              </a:ext>
            </a:extLst>
          </p:cNvPr>
          <p:cNvSpPr/>
          <p:nvPr/>
        </p:nvSpPr>
        <p:spPr>
          <a:xfrm>
            <a:off x="10502459" y="1441423"/>
            <a:ext cx="1440000" cy="327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309ADE-E688-781D-9831-DCE43DADEED7}"/>
              </a:ext>
            </a:extLst>
          </p:cNvPr>
          <p:cNvSpPr/>
          <p:nvPr/>
        </p:nvSpPr>
        <p:spPr>
          <a:xfrm>
            <a:off x="10330423" y="1004930"/>
            <a:ext cx="1534235" cy="42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三、执行任务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03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82455" y="84101"/>
            <a:ext cx="11952424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 </a:t>
            </a:r>
            <a:r>
              <a:rPr lang="zh-CN" altLang="en-US" sz="32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业务作业流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4F78BC9-1B40-45F4-A0C8-C4DEF9B7E713}"/>
              </a:ext>
            </a:extLst>
          </p:cNvPr>
          <p:cNvSpPr/>
          <p:nvPr/>
        </p:nvSpPr>
        <p:spPr>
          <a:xfrm>
            <a:off x="573148" y="840511"/>
            <a:ext cx="2665812" cy="35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现 场 部 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2014D1-FAB8-4832-8302-3756F2F6DCDF}"/>
              </a:ext>
            </a:extLst>
          </p:cNvPr>
          <p:cNvSpPr/>
          <p:nvPr/>
        </p:nvSpPr>
        <p:spPr>
          <a:xfrm>
            <a:off x="6561256" y="799770"/>
            <a:ext cx="3273860" cy="41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资     材     部     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CCA2C16-84AD-44BE-A077-C2793C142E08}"/>
              </a:ext>
            </a:extLst>
          </p:cNvPr>
          <p:cNvCxnSpPr/>
          <p:nvPr/>
        </p:nvCxnSpPr>
        <p:spPr>
          <a:xfrm>
            <a:off x="137795" y="1253500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D08266D4-A38C-4B83-B949-AECF7CCDBAF1}"/>
              </a:ext>
            </a:extLst>
          </p:cNvPr>
          <p:cNvSpPr/>
          <p:nvPr/>
        </p:nvSpPr>
        <p:spPr>
          <a:xfrm>
            <a:off x="6438480" y="3147159"/>
            <a:ext cx="1921877" cy="61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码头短驳计划；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2B834A59-8014-4308-9036-91BBF0A32357}"/>
              </a:ext>
            </a:extLst>
          </p:cNvPr>
          <p:cNvSpPr/>
          <p:nvPr/>
        </p:nvSpPr>
        <p:spPr>
          <a:xfrm>
            <a:off x="667538" y="1453558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106" name="圆角矩形 139">
            <a:extLst>
              <a:ext uri="{FF2B5EF4-FFF2-40B4-BE49-F238E27FC236}">
                <a16:creationId xmlns:a16="http://schemas.microsoft.com/office/drawing/2014/main" id="{9B816546-5600-413B-B20F-CDA19C30DD4D}"/>
              </a:ext>
            </a:extLst>
          </p:cNvPr>
          <p:cNvSpPr/>
          <p:nvPr/>
        </p:nvSpPr>
        <p:spPr>
          <a:xfrm>
            <a:off x="5618459" y="2646560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</a:p>
        </p:txBody>
      </p:sp>
      <p:sp>
        <p:nvSpPr>
          <p:cNvPr id="2" name="流程图: 决策 1">
            <a:extLst>
              <a:ext uri="{FF2B5EF4-FFF2-40B4-BE49-F238E27FC236}">
                <a16:creationId xmlns:a16="http://schemas.microsoft.com/office/drawing/2014/main" id="{DAAA37FF-D82D-4582-8B47-B1A3482DD0DA}"/>
              </a:ext>
            </a:extLst>
          </p:cNvPr>
          <p:cNvSpPr/>
          <p:nvPr/>
        </p:nvSpPr>
        <p:spPr>
          <a:xfrm>
            <a:off x="8740196" y="4733949"/>
            <a:ext cx="1504113" cy="1324280"/>
          </a:xfrm>
          <a:prstGeom prst="flowChartDecision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多车次配送</a:t>
            </a:r>
          </a:p>
        </p:txBody>
      </p:sp>
      <p:sp>
        <p:nvSpPr>
          <p:cNvPr id="117" name="圆角矩形 139">
            <a:extLst>
              <a:ext uri="{FF2B5EF4-FFF2-40B4-BE49-F238E27FC236}">
                <a16:creationId xmlns:a16="http://schemas.microsoft.com/office/drawing/2014/main" id="{AD8A8D1C-C2AB-4FAD-B9ED-63744B01B562}"/>
              </a:ext>
            </a:extLst>
          </p:cNvPr>
          <p:cNvSpPr/>
          <p:nvPr/>
        </p:nvSpPr>
        <p:spPr>
          <a:xfrm>
            <a:off x="8844252" y="2646560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在库库存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971122-25DF-4F69-AF29-ECD190B04705}"/>
              </a:ext>
            </a:extLst>
          </p:cNvPr>
          <p:cNvCxnSpPr>
            <a:cxnSpLocks/>
            <a:stCxn id="71" idx="3"/>
            <a:endCxn id="32" idx="1"/>
          </p:cNvCxnSpPr>
          <p:nvPr/>
        </p:nvCxnSpPr>
        <p:spPr>
          <a:xfrm>
            <a:off x="1963538" y="1741558"/>
            <a:ext cx="4989058" cy="106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B07A95BD-3DB7-48E0-BDA5-108B1A86BFA5}"/>
              </a:ext>
            </a:extLst>
          </p:cNvPr>
          <p:cNvCxnSpPr>
            <a:cxnSpLocks/>
            <a:stCxn id="32" idx="2"/>
            <a:endCxn id="117" idx="0"/>
          </p:cNvCxnSpPr>
          <p:nvPr/>
        </p:nvCxnSpPr>
        <p:spPr>
          <a:xfrm rot="16200000" flipH="1">
            <a:off x="8387497" y="1541804"/>
            <a:ext cx="518371" cy="169114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E0352AE6-ED60-4EDC-90D9-8BACF09D067D}"/>
              </a:ext>
            </a:extLst>
          </p:cNvPr>
          <p:cNvCxnSpPr>
            <a:cxnSpLocks/>
            <a:stCxn id="32" idx="2"/>
            <a:endCxn id="106" idx="0"/>
          </p:cNvCxnSpPr>
          <p:nvPr/>
        </p:nvCxnSpPr>
        <p:spPr>
          <a:xfrm rot="5400000">
            <a:off x="6774601" y="1620048"/>
            <a:ext cx="518371" cy="153465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圆角矩形 139">
            <a:extLst>
              <a:ext uri="{FF2B5EF4-FFF2-40B4-BE49-F238E27FC236}">
                <a16:creationId xmlns:a16="http://schemas.microsoft.com/office/drawing/2014/main" id="{96E13DCD-DB56-462E-8989-8334978C542B}"/>
              </a:ext>
            </a:extLst>
          </p:cNvPr>
          <p:cNvSpPr/>
          <p:nvPr/>
        </p:nvSpPr>
        <p:spPr>
          <a:xfrm>
            <a:off x="667538" y="5108089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现场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</a:t>
            </a:r>
          </a:p>
        </p:txBody>
      </p:sp>
      <p:cxnSp>
        <p:nvCxnSpPr>
          <p:cNvPr id="130" name="连接符: 肘形 129">
            <a:extLst>
              <a:ext uri="{FF2B5EF4-FFF2-40B4-BE49-F238E27FC236}">
                <a16:creationId xmlns:a16="http://schemas.microsoft.com/office/drawing/2014/main" id="{513BEBFA-82F0-4972-A4AD-666F66682B28}"/>
              </a:ext>
            </a:extLst>
          </p:cNvPr>
          <p:cNvCxnSpPr>
            <a:stCxn id="106" idx="1"/>
            <a:endCxn id="128" idx="0"/>
          </p:cNvCxnSpPr>
          <p:nvPr/>
        </p:nvCxnSpPr>
        <p:spPr>
          <a:xfrm rot="10800000" flipV="1">
            <a:off x="1315539" y="2934559"/>
            <a:ext cx="4302921" cy="2173529"/>
          </a:xfrm>
          <a:prstGeom prst="bentConnector2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3F736DF-47B7-40B5-83ED-3B71E33EE47F}"/>
              </a:ext>
            </a:extLst>
          </p:cNvPr>
          <p:cNvCxnSpPr>
            <a:cxnSpLocks/>
            <a:stCxn id="117" idx="2"/>
            <a:endCxn id="34" idx="0"/>
          </p:cNvCxnSpPr>
          <p:nvPr/>
        </p:nvCxnSpPr>
        <p:spPr>
          <a:xfrm>
            <a:off x="9492252" y="3222560"/>
            <a:ext cx="1" cy="4986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8C29548-25FA-4CF1-A57C-F01D6152D62A}"/>
              </a:ext>
            </a:extLst>
          </p:cNvPr>
          <p:cNvCxnSpPr>
            <a:cxnSpLocks/>
            <a:stCxn id="34" idx="2"/>
            <a:endCxn id="2" idx="0"/>
          </p:cNvCxnSpPr>
          <p:nvPr/>
        </p:nvCxnSpPr>
        <p:spPr>
          <a:xfrm>
            <a:off x="9492253" y="4473147"/>
            <a:ext cx="0" cy="2608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9ACFF81-1436-4C48-8109-E2E16324B63B}"/>
              </a:ext>
            </a:extLst>
          </p:cNvPr>
          <p:cNvCxnSpPr>
            <a:cxnSpLocks/>
            <a:stCxn id="2" idx="1"/>
            <a:endCxn id="128" idx="3"/>
          </p:cNvCxnSpPr>
          <p:nvPr/>
        </p:nvCxnSpPr>
        <p:spPr>
          <a:xfrm flipH="1">
            <a:off x="1963538" y="5396089"/>
            <a:ext cx="6776658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D1172858-9A25-49AA-BD17-082BD3A3B4D0}"/>
              </a:ext>
            </a:extLst>
          </p:cNvPr>
          <p:cNvCxnSpPr>
            <a:stCxn id="2" idx="2"/>
            <a:endCxn id="128" idx="2"/>
          </p:cNvCxnSpPr>
          <p:nvPr/>
        </p:nvCxnSpPr>
        <p:spPr>
          <a:xfrm rot="5400000" flipH="1">
            <a:off x="5216826" y="1782802"/>
            <a:ext cx="374140" cy="8176715"/>
          </a:xfrm>
          <a:prstGeom prst="bentConnector3">
            <a:avLst>
              <a:gd name="adj1" fmla="val -61100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圆角矩形 139">
            <a:extLst>
              <a:ext uri="{FF2B5EF4-FFF2-40B4-BE49-F238E27FC236}">
                <a16:creationId xmlns:a16="http://schemas.microsoft.com/office/drawing/2014/main" id="{63A79F7D-DBC3-4BEC-98EA-2108C8359723}"/>
              </a:ext>
            </a:extLst>
          </p:cNvPr>
          <p:cNvSpPr/>
          <p:nvPr/>
        </p:nvSpPr>
        <p:spPr>
          <a:xfrm>
            <a:off x="1481877" y="380918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CB1FFF91-6F48-4F2C-8A33-D4E5C88C986D}"/>
              </a:ext>
            </a:extLst>
          </p:cNvPr>
          <p:cNvCxnSpPr>
            <a:cxnSpLocks/>
            <a:stCxn id="148" idx="3"/>
            <a:endCxn id="34" idx="1"/>
          </p:cNvCxnSpPr>
          <p:nvPr/>
        </p:nvCxnSpPr>
        <p:spPr>
          <a:xfrm>
            <a:off x="2777877" y="4097182"/>
            <a:ext cx="5865860" cy="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F59537D9-A200-46C9-98F7-CD47D0547F62}"/>
              </a:ext>
            </a:extLst>
          </p:cNvPr>
          <p:cNvSpPr/>
          <p:nvPr/>
        </p:nvSpPr>
        <p:spPr>
          <a:xfrm>
            <a:off x="2021877" y="4446221"/>
            <a:ext cx="2688346" cy="43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大单多次配送，朝线上提交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7E10816E-93D0-44C8-96FE-FA4FF56E0F84}"/>
              </a:ext>
            </a:extLst>
          </p:cNvPr>
          <p:cNvSpPr/>
          <p:nvPr/>
        </p:nvSpPr>
        <p:spPr>
          <a:xfrm>
            <a:off x="7594631" y="5001006"/>
            <a:ext cx="1278734" cy="48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一次配送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D1BB6CF-4910-407B-8921-4B408DDA8628}"/>
              </a:ext>
            </a:extLst>
          </p:cNvPr>
          <p:cNvSpPr/>
          <p:nvPr/>
        </p:nvSpPr>
        <p:spPr>
          <a:xfrm>
            <a:off x="7996751" y="5904602"/>
            <a:ext cx="1278734" cy="48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多次配送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05469A-4FF8-4A02-A0C9-F5698FCD22C7}"/>
              </a:ext>
            </a:extLst>
          </p:cNvPr>
          <p:cNvSpPr/>
          <p:nvPr/>
        </p:nvSpPr>
        <p:spPr>
          <a:xfrm>
            <a:off x="9988898" y="4446221"/>
            <a:ext cx="2060917" cy="75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制定当班配送任务；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按时触发执行任务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801A1552-2397-43B2-8D3F-1B3170DE3244}"/>
              </a:ext>
            </a:extLst>
          </p:cNvPr>
          <p:cNvSpPr/>
          <p:nvPr/>
        </p:nvSpPr>
        <p:spPr>
          <a:xfrm>
            <a:off x="3238960" y="2563271"/>
            <a:ext cx="1276098" cy="735774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预约进厂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A12286-6A03-4CD9-BA5E-0AB3FA741327}"/>
              </a:ext>
            </a:extLst>
          </p:cNvPr>
          <p:cNvSpPr/>
          <p:nvPr/>
        </p:nvSpPr>
        <p:spPr>
          <a:xfrm>
            <a:off x="3101876" y="3311644"/>
            <a:ext cx="3053223" cy="73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码头短驳任务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作为短驳车队预约基础；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触发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预约方案需讨论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流程图: 存储数据 33">
            <a:extLst>
              <a:ext uri="{FF2B5EF4-FFF2-40B4-BE49-F238E27FC236}">
                <a16:creationId xmlns:a16="http://schemas.microsoft.com/office/drawing/2014/main" id="{D5D186AC-331D-423D-B486-D8A1710E1C5B}"/>
              </a:ext>
            </a:extLst>
          </p:cNvPr>
          <p:cNvSpPr/>
          <p:nvPr/>
        </p:nvSpPr>
        <p:spPr>
          <a:xfrm>
            <a:off x="8643737" y="3721218"/>
            <a:ext cx="1697031" cy="751929"/>
          </a:xfrm>
          <a:prstGeom prst="flowChartOnlineStorag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厂内配送任务安排</a:t>
            </a:r>
          </a:p>
        </p:txBody>
      </p:sp>
      <p:sp>
        <p:nvSpPr>
          <p:cNvPr id="32" name="流程图: 存储数据 31">
            <a:extLst>
              <a:ext uri="{FF2B5EF4-FFF2-40B4-BE49-F238E27FC236}">
                <a16:creationId xmlns:a16="http://schemas.microsoft.com/office/drawing/2014/main" id="{0DF417F0-38D9-44E5-BB8A-890D2C47EB1F}"/>
              </a:ext>
            </a:extLst>
          </p:cNvPr>
          <p:cNvSpPr/>
          <p:nvPr/>
        </p:nvSpPr>
        <p:spPr>
          <a:xfrm>
            <a:off x="6952596" y="1376260"/>
            <a:ext cx="1697031" cy="751929"/>
          </a:xfrm>
          <a:prstGeom prst="flowChartOnlineStorag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决定货物安排</a:t>
            </a:r>
          </a:p>
        </p:txBody>
      </p:sp>
      <p:sp>
        <p:nvSpPr>
          <p:cNvPr id="36" name="圆角矩形 139">
            <a:extLst>
              <a:ext uri="{FF2B5EF4-FFF2-40B4-BE49-F238E27FC236}">
                <a16:creationId xmlns:a16="http://schemas.microsoft.com/office/drawing/2014/main" id="{F24C5D0C-1131-4139-8435-BF6FC1953A4F}"/>
              </a:ext>
            </a:extLst>
          </p:cNvPr>
          <p:cNvSpPr/>
          <p:nvPr/>
        </p:nvSpPr>
        <p:spPr>
          <a:xfrm>
            <a:off x="922771" y="1872991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F4DB32-C844-798E-EF70-48B445848467}"/>
              </a:ext>
            </a:extLst>
          </p:cNvPr>
          <p:cNvSpPr/>
          <p:nvPr/>
        </p:nvSpPr>
        <p:spPr>
          <a:xfrm>
            <a:off x="9988898" y="4473147"/>
            <a:ext cx="2060917" cy="634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C6219A-070D-FD86-B23A-4D68E76116F3}"/>
              </a:ext>
            </a:extLst>
          </p:cNvPr>
          <p:cNvSpPr/>
          <p:nvPr/>
        </p:nvSpPr>
        <p:spPr>
          <a:xfrm>
            <a:off x="8599573" y="1419479"/>
            <a:ext cx="2532715" cy="75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计算最佳供货计划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A32D4F-D083-C7A2-F301-6D66E64A0492}"/>
              </a:ext>
            </a:extLst>
          </p:cNvPr>
          <p:cNvSpPr/>
          <p:nvPr/>
        </p:nvSpPr>
        <p:spPr>
          <a:xfrm>
            <a:off x="8620839" y="1510203"/>
            <a:ext cx="2088000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8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DC50CA2-DCC3-AC7B-E1D7-CB8168E71FA3}"/>
              </a:ext>
            </a:extLst>
          </p:cNvPr>
          <p:cNvSpPr/>
          <p:nvPr/>
        </p:nvSpPr>
        <p:spPr>
          <a:xfrm>
            <a:off x="93729" y="3180335"/>
            <a:ext cx="11970675" cy="363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34699" y="43610"/>
            <a:ext cx="8881710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界面一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领料需求的货源来源与数量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F306A8-A296-4519-9762-628ED3E1D942}"/>
              </a:ext>
            </a:extLst>
          </p:cNvPr>
          <p:cNvSpPr/>
          <p:nvPr/>
        </p:nvSpPr>
        <p:spPr>
          <a:xfrm>
            <a:off x="1499902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BED22AB-26B2-477A-A75A-B283A2F3F30D}"/>
              </a:ext>
            </a:extLst>
          </p:cNvPr>
          <p:cNvSpPr/>
          <p:nvPr/>
        </p:nvSpPr>
        <p:spPr>
          <a:xfrm>
            <a:off x="2813323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7084584-0171-4C51-9C0F-7247C1127887}"/>
              </a:ext>
            </a:extLst>
          </p:cNvPr>
          <p:cNvSpPr/>
          <p:nvPr/>
        </p:nvSpPr>
        <p:spPr>
          <a:xfrm>
            <a:off x="5307839" y="1924688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78B3BFB-DA19-4108-ACEB-397096AF3A7B}"/>
              </a:ext>
            </a:extLst>
          </p:cNvPr>
          <p:cNvSpPr/>
          <p:nvPr/>
        </p:nvSpPr>
        <p:spPr>
          <a:xfrm>
            <a:off x="4111381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E548F0-DD64-4FF0-BD69-3BFA5CAA3D95}"/>
              </a:ext>
            </a:extLst>
          </p:cNvPr>
          <p:cNvSpPr/>
          <p:nvPr/>
        </p:nvSpPr>
        <p:spPr>
          <a:xfrm>
            <a:off x="5313182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500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14B2541-FE94-4D92-89F9-C03CFF6CFC75}"/>
              </a:ext>
            </a:extLst>
          </p:cNvPr>
          <p:cNvSpPr/>
          <p:nvPr/>
        </p:nvSpPr>
        <p:spPr>
          <a:xfrm>
            <a:off x="6504297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已交数量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4DF1335-854F-49C7-8FAA-B04F01F324EE}"/>
              </a:ext>
            </a:extLst>
          </p:cNvPr>
          <p:cNvSpPr/>
          <p:nvPr/>
        </p:nvSpPr>
        <p:spPr>
          <a:xfrm>
            <a:off x="6574921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CA651AB-ABCE-4287-B82D-16E85B3B8EBA}"/>
              </a:ext>
            </a:extLst>
          </p:cNvPr>
          <p:cNvSpPr/>
          <p:nvPr/>
        </p:nvSpPr>
        <p:spPr>
          <a:xfrm>
            <a:off x="7700755" y="1924688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已安排配送总量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1B88804-9160-418E-98B3-959148435E9A}"/>
              </a:ext>
            </a:extLst>
          </p:cNvPr>
          <p:cNvSpPr/>
          <p:nvPr/>
        </p:nvSpPr>
        <p:spPr>
          <a:xfrm>
            <a:off x="7766036" y="2591940"/>
            <a:ext cx="1080000" cy="36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120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10828622" y="4468277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4DC9466-F907-47FA-AE60-CFAD1BEF23BA}"/>
              </a:ext>
            </a:extLst>
          </p:cNvPr>
          <p:cNvSpPr/>
          <p:nvPr/>
        </p:nvSpPr>
        <p:spPr>
          <a:xfrm>
            <a:off x="9518496" y="4468277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21" name="流程图: 合并 20">
            <a:extLst>
              <a:ext uri="{FF2B5EF4-FFF2-40B4-BE49-F238E27FC236}">
                <a16:creationId xmlns:a16="http://schemas.microsoft.com/office/drawing/2014/main" id="{80695127-78CF-46E1-848C-D4BC2A9A0505}"/>
              </a:ext>
            </a:extLst>
          </p:cNvPr>
          <p:cNvSpPr/>
          <p:nvPr/>
        </p:nvSpPr>
        <p:spPr>
          <a:xfrm>
            <a:off x="1506747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标注: 下箭头 77">
            <a:extLst>
              <a:ext uri="{FF2B5EF4-FFF2-40B4-BE49-F238E27FC236}">
                <a16:creationId xmlns:a16="http://schemas.microsoft.com/office/drawing/2014/main" id="{71F92815-2116-4AC6-A096-E2DBC5F64AA0}"/>
              </a:ext>
            </a:extLst>
          </p:cNvPr>
          <p:cNvSpPr/>
          <p:nvPr/>
        </p:nvSpPr>
        <p:spPr>
          <a:xfrm>
            <a:off x="2721880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用户可单独输入料号带出该料号配送需求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203DEF4-9894-4D76-B92F-A76C1070D7C1}"/>
              </a:ext>
            </a:extLst>
          </p:cNvPr>
          <p:cNvSpPr/>
          <p:nvPr/>
        </p:nvSpPr>
        <p:spPr>
          <a:xfrm>
            <a:off x="5923846" y="755540"/>
            <a:ext cx="2378326" cy="590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当用户输入单号显示该单任务目前情况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BEBFC82-5BBA-4BE9-9B66-395F8838C2AF}"/>
              </a:ext>
            </a:extLst>
          </p:cNvPr>
          <p:cNvSpPr/>
          <p:nvPr/>
        </p:nvSpPr>
        <p:spPr>
          <a:xfrm>
            <a:off x="8840692" y="1924688"/>
            <a:ext cx="1080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尚需安排任务需求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4F0FD9D-53F3-4A8C-A1E1-4210D513DDEB}"/>
              </a:ext>
            </a:extLst>
          </p:cNvPr>
          <p:cNvSpPr/>
          <p:nvPr/>
        </p:nvSpPr>
        <p:spPr>
          <a:xfrm>
            <a:off x="8840692" y="2581756"/>
            <a:ext cx="1080000" cy="360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1BAA34-13D1-438D-B49F-C275914C8EB5}"/>
              </a:ext>
            </a:extLst>
          </p:cNvPr>
          <p:cNvSpPr/>
          <p:nvPr/>
        </p:nvSpPr>
        <p:spPr>
          <a:xfrm>
            <a:off x="113830" y="2998778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0402245-E1F6-49B0-A3F7-3DBE3536626D}"/>
              </a:ext>
            </a:extLst>
          </p:cNvPr>
          <p:cNvSpPr/>
          <p:nvPr/>
        </p:nvSpPr>
        <p:spPr>
          <a:xfrm>
            <a:off x="30282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7F09322-6EBC-4E71-8B42-E046BDFE29A2}"/>
              </a:ext>
            </a:extLst>
          </p:cNvPr>
          <p:cNvSpPr/>
          <p:nvPr/>
        </p:nvSpPr>
        <p:spPr>
          <a:xfrm>
            <a:off x="6082508" y="4468277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库存数量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217DBCF-506E-48C6-A9D4-1C3A7EDB5EBA}"/>
              </a:ext>
            </a:extLst>
          </p:cNvPr>
          <p:cNvSpPr/>
          <p:nvPr/>
        </p:nvSpPr>
        <p:spPr>
          <a:xfrm>
            <a:off x="150218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7436D9F-6CC7-46E0-959E-266CF763148C}"/>
              </a:ext>
            </a:extLst>
          </p:cNvPr>
          <p:cNvSpPr/>
          <p:nvPr/>
        </p:nvSpPr>
        <p:spPr>
          <a:xfrm>
            <a:off x="7231403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已安排转储量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E582F96-FF29-483E-A888-F7D73269CB31}"/>
              </a:ext>
            </a:extLst>
          </p:cNvPr>
          <p:cNvSpPr/>
          <p:nvPr/>
        </p:nvSpPr>
        <p:spPr>
          <a:xfrm>
            <a:off x="8375818" y="4468277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尚可安排库存量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E1676DA1-8F89-494B-BCEE-72B71FB159B6}"/>
              </a:ext>
            </a:extLst>
          </p:cNvPr>
          <p:cNvSpPr/>
          <p:nvPr/>
        </p:nvSpPr>
        <p:spPr>
          <a:xfrm>
            <a:off x="6022570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291AC6EF-C8F4-4160-8AA4-17844E0F6C21}"/>
              </a:ext>
            </a:extLst>
          </p:cNvPr>
          <p:cNvSpPr/>
          <p:nvPr/>
        </p:nvSpPr>
        <p:spPr>
          <a:xfrm>
            <a:off x="7295197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0C38B16-D6A2-4397-8122-524CE5AFA979}"/>
              </a:ext>
            </a:extLst>
          </p:cNvPr>
          <p:cNvSpPr/>
          <p:nvPr/>
        </p:nvSpPr>
        <p:spPr>
          <a:xfrm>
            <a:off x="8439612" y="506997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E8D543F3-D290-4909-9058-EFCF5C4D7826}"/>
              </a:ext>
            </a:extLst>
          </p:cNvPr>
          <p:cNvSpPr/>
          <p:nvPr/>
        </p:nvSpPr>
        <p:spPr>
          <a:xfrm>
            <a:off x="1505734" y="506273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E561E9C5-CB40-4F2A-AC9E-EF0E153F23E8}"/>
              </a:ext>
            </a:extLst>
          </p:cNvPr>
          <p:cNvSpPr/>
          <p:nvPr/>
        </p:nvSpPr>
        <p:spPr>
          <a:xfrm>
            <a:off x="2649016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料号、批次号、仓位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76D70682-CC70-485C-8D44-42515963283F}"/>
              </a:ext>
            </a:extLst>
          </p:cNvPr>
          <p:cNvSpPr/>
          <p:nvPr/>
        </p:nvSpPr>
        <p:spPr>
          <a:xfrm>
            <a:off x="3791318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收货日期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FA5FC5CF-632B-4DC3-92A3-07D0BEF6389A}"/>
              </a:ext>
            </a:extLst>
          </p:cNvPr>
          <p:cNvSpPr/>
          <p:nvPr/>
        </p:nvSpPr>
        <p:spPr>
          <a:xfrm>
            <a:off x="4932554" y="4468277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免堆免箱日期</a:t>
            </a:r>
          </a:p>
        </p:txBody>
      </p:sp>
      <p:sp>
        <p:nvSpPr>
          <p:cNvPr id="88" name="标注: 下箭头 87">
            <a:extLst>
              <a:ext uri="{FF2B5EF4-FFF2-40B4-BE49-F238E27FC236}">
                <a16:creationId xmlns:a16="http://schemas.microsoft.com/office/drawing/2014/main" id="{27D6B5C0-082B-4B2C-B32B-E5686995789C}"/>
              </a:ext>
            </a:extLst>
          </p:cNvPr>
          <p:cNvSpPr/>
          <p:nvPr/>
        </p:nvSpPr>
        <p:spPr>
          <a:xfrm>
            <a:off x="1379202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B04A13C0-64E7-4BA8-9F13-883C8822004A}"/>
              </a:ext>
            </a:extLst>
          </p:cNvPr>
          <p:cNvSpPr/>
          <p:nvPr/>
        </p:nvSpPr>
        <p:spPr>
          <a:xfrm rot="5400000">
            <a:off x="6690840" y="-620516"/>
            <a:ext cx="576000" cy="447965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流程图: 合并 88">
            <a:extLst>
              <a:ext uri="{FF2B5EF4-FFF2-40B4-BE49-F238E27FC236}">
                <a16:creationId xmlns:a16="http://schemas.microsoft.com/office/drawing/2014/main" id="{03C92B84-2178-444A-88DF-04AF65337B11}"/>
              </a:ext>
            </a:extLst>
          </p:cNvPr>
          <p:cNvSpPr/>
          <p:nvPr/>
        </p:nvSpPr>
        <p:spPr>
          <a:xfrm>
            <a:off x="285328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左大括号 90">
            <a:extLst>
              <a:ext uri="{FF2B5EF4-FFF2-40B4-BE49-F238E27FC236}">
                <a16:creationId xmlns:a16="http://schemas.microsoft.com/office/drawing/2014/main" id="{E1BB3AA3-06A7-44F1-A8E5-6FED756A94BF}"/>
              </a:ext>
            </a:extLst>
          </p:cNvPr>
          <p:cNvSpPr/>
          <p:nvPr/>
        </p:nvSpPr>
        <p:spPr>
          <a:xfrm rot="5400000">
            <a:off x="4068070" y="1921185"/>
            <a:ext cx="576000" cy="4420733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FA8F2AB-A4B6-477F-928C-789AA25EEC33}"/>
              </a:ext>
            </a:extLst>
          </p:cNvPr>
          <p:cNvSpPr/>
          <p:nvPr/>
        </p:nvSpPr>
        <p:spPr>
          <a:xfrm>
            <a:off x="2628376" y="3483612"/>
            <a:ext cx="4030144" cy="521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显示字段负责工厂整理后提出讨论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C48A5D0F-C645-47B1-9F37-D35A1725D5DA}"/>
              </a:ext>
            </a:extLst>
          </p:cNvPr>
          <p:cNvSpPr/>
          <p:nvPr/>
        </p:nvSpPr>
        <p:spPr>
          <a:xfrm>
            <a:off x="6039754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AE356AB0-069F-4647-9708-2235D48DEEA0}"/>
              </a:ext>
            </a:extLst>
          </p:cNvPr>
          <p:cNvSpPr/>
          <p:nvPr/>
        </p:nvSpPr>
        <p:spPr>
          <a:xfrm>
            <a:off x="7312381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60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ECAF63DD-A714-4A3C-B789-051D54266DDE}"/>
              </a:ext>
            </a:extLst>
          </p:cNvPr>
          <p:cNvSpPr/>
          <p:nvPr/>
        </p:nvSpPr>
        <p:spPr>
          <a:xfrm>
            <a:off x="8456796" y="556036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240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BC4E72BE-6BD1-4B91-9FEE-E060D083CC6C}"/>
              </a:ext>
            </a:extLst>
          </p:cNvPr>
          <p:cNvSpPr/>
          <p:nvPr/>
        </p:nvSpPr>
        <p:spPr>
          <a:xfrm>
            <a:off x="1505734" y="555312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号库</a:t>
            </a:r>
          </a:p>
        </p:txBody>
      </p:sp>
      <p:sp>
        <p:nvSpPr>
          <p:cNvPr id="97" name="标注: 下箭头 96">
            <a:extLst>
              <a:ext uri="{FF2B5EF4-FFF2-40B4-BE49-F238E27FC236}">
                <a16:creationId xmlns:a16="http://schemas.microsoft.com/office/drawing/2014/main" id="{46A96372-0DF4-4A26-87F6-602E72548F81}"/>
              </a:ext>
            </a:extLst>
          </p:cNvPr>
          <p:cNvSpPr/>
          <p:nvPr/>
        </p:nvSpPr>
        <p:spPr>
          <a:xfrm>
            <a:off x="10738446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98" name="标注: 下箭头 97">
            <a:extLst>
              <a:ext uri="{FF2B5EF4-FFF2-40B4-BE49-F238E27FC236}">
                <a16:creationId xmlns:a16="http://schemas.microsoft.com/office/drawing/2014/main" id="{DC417729-1850-4F83-B835-B3EF5FE30E0F}"/>
              </a:ext>
            </a:extLst>
          </p:cNvPr>
          <p:cNvSpPr/>
          <p:nvPr/>
        </p:nvSpPr>
        <p:spPr>
          <a:xfrm>
            <a:off x="9380231" y="3348420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系统根据作业成本最低决定发货来源</a:t>
            </a: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669AAC97-F6B6-4C4C-A29D-F35CF068949B}"/>
              </a:ext>
            </a:extLst>
          </p:cNvPr>
          <p:cNvSpPr/>
          <p:nvPr/>
        </p:nvSpPr>
        <p:spPr>
          <a:xfrm>
            <a:off x="960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40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30E3EEDF-B941-4746-B8EE-8B731C7C17DE}"/>
              </a:ext>
            </a:extLst>
          </p:cNvPr>
          <p:cNvSpPr/>
          <p:nvPr/>
        </p:nvSpPr>
        <p:spPr>
          <a:xfrm>
            <a:off x="961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215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A94EEB24-CE42-4E00-BADA-36FD15F4552C}"/>
              </a:ext>
            </a:extLst>
          </p:cNvPr>
          <p:cNvSpPr/>
          <p:nvPr/>
        </p:nvSpPr>
        <p:spPr>
          <a:xfrm>
            <a:off x="1043364" y="1449885"/>
            <a:ext cx="2196000" cy="25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筛选条件由各厂讨论订之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07BB75-6ECF-0EF6-CBB8-4A96FC7FCAB9}"/>
              </a:ext>
            </a:extLst>
          </p:cNvPr>
          <p:cNvSpPr/>
          <p:nvPr/>
        </p:nvSpPr>
        <p:spPr>
          <a:xfrm>
            <a:off x="6053925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CC082D-9DAE-6B55-73DD-BB7A493131E1}"/>
              </a:ext>
            </a:extLst>
          </p:cNvPr>
          <p:cNvSpPr/>
          <p:nvPr/>
        </p:nvSpPr>
        <p:spPr>
          <a:xfrm>
            <a:off x="7326552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E325693-32E8-4E32-A03C-D7F9A905C809}"/>
              </a:ext>
            </a:extLst>
          </p:cNvPr>
          <p:cNvSpPr/>
          <p:nvPr/>
        </p:nvSpPr>
        <p:spPr>
          <a:xfrm>
            <a:off x="8470967" y="6025257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4A2699-3106-730D-2392-31418DA33A65}"/>
              </a:ext>
            </a:extLst>
          </p:cNvPr>
          <p:cNvSpPr/>
          <p:nvPr/>
        </p:nvSpPr>
        <p:spPr>
          <a:xfrm>
            <a:off x="1505734" y="5992611"/>
            <a:ext cx="1440000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CEC7610-1C31-7981-D53E-B741E8EECD89}"/>
              </a:ext>
            </a:extLst>
          </p:cNvPr>
          <p:cNvSpPr/>
          <p:nvPr/>
        </p:nvSpPr>
        <p:spPr>
          <a:xfrm>
            <a:off x="963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24B3209-5695-259F-474C-CBF54A983571}"/>
              </a:ext>
            </a:extLst>
          </p:cNvPr>
          <p:cNvSpPr/>
          <p:nvPr/>
        </p:nvSpPr>
        <p:spPr>
          <a:xfrm>
            <a:off x="9553395" y="5106221"/>
            <a:ext cx="2355227" cy="1656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系统默认，可修改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611A39-3898-EC8A-6329-8AB9D2EF2C39}"/>
              </a:ext>
            </a:extLst>
          </p:cNvPr>
          <p:cNvSpPr/>
          <p:nvPr/>
        </p:nvSpPr>
        <p:spPr>
          <a:xfrm>
            <a:off x="10872094" y="507352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78C1C13-3BD6-47E8-B4D5-5CF4BAD7758A}"/>
              </a:ext>
            </a:extLst>
          </p:cNvPr>
          <p:cNvSpPr/>
          <p:nvPr/>
        </p:nvSpPr>
        <p:spPr>
          <a:xfrm>
            <a:off x="10889278" y="556391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6444629-0AC3-4904-26EE-5FD7790CC975}"/>
              </a:ext>
            </a:extLst>
          </p:cNvPr>
          <p:cNvSpPr/>
          <p:nvPr/>
        </p:nvSpPr>
        <p:spPr>
          <a:xfrm>
            <a:off x="10903449" y="6028801"/>
            <a:ext cx="1074657" cy="432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1CE0BAC-E38F-6815-F75D-EFFCC543981A}"/>
              </a:ext>
            </a:extLst>
          </p:cNvPr>
          <p:cNvSpPr/>
          <p:nvPr/>
        </p:nvSpPr>
        <p:spPr>
          <a:xfrm>
            <a:off x="137404" y="192468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4EA0CC3F-DC25-0C9C-6A0A-C7CE0705A459}"/>
              </a:ext>
            </a:extLst>
          </p:cNvPr>
          <p:cNvSpPr/>
          <p:nvPr/>
        </p:nvSpPr>
        <p:spPr>
          <a:xfrm>
            <a:off x="20589" y="788935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用户输入领料单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带出配送需求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流程图: 合并 16">
            <a:extLst>
              <a:ext uri="{FF2B5EF4-FFF2-40B4-BE49-F238E27FC236}">
                <a16:creationId xmlns:a16="http://schemas.microsoft.com/office/drawing/2014/main" id="{4C1C3562-9275-EDD1-5E52-7B29FB2146EA}"/>
              </a:ext>
            </a:extLst>
          </p:cNvPr>
          <p:cNvSpPr/>
          <p:nvPr/>
        </p:nvSpPr>
        <p:spPr>
          <a:xfrm>
            <a:off x="221325" y="2581756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600B61E-1B1F-5EE7-DD58-85DE5241902B}"/>
              </a:ext>
            </a:extLst>
          </p:cNvPr>
          <p:cNvSpPr/>
          <p:nvPr/>
        </p:nvSpPr>
        <p:spPr>
          <a:xfrm>
            <a:off x="10503592" y="1924688"/>
            <a:ext cx="1512000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执行试算</a:t>
            </a:r>
          </a:p>
        </p:txBody>
      </p:sp>
      <p:sp>
        <p:nvSpPr>
          <p:cNvPr id="19" name="标注: 下箭头 18">
            <a:extLst>
              <a:ext uri="{FF2B5EF4-FFF2-40B4-BE49-F238E27FC236}">
                <a16:creationId xmlns:a16="http://schemas.microsoft.com/office/drawing/2014/main" id="{1EDDB07F-FF60-D1DD-F2C3-2512CE5DD9C5}"/>
              </a:ext>
            </a:extLst>
          </p:cNvPr>
          <p:cNvSpPr/>
          <p:nvPr/>
        </p:nvSpPr>
        <p:spPr>
          <a:xfrm>
            <a:off x="10634478" y="815493"/>
            <a:ext cx="1296000" cy="108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点前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试算明天配送计划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3FC7C9-1CB5-3598-3C37-A6F50D2E1789}"/>
              </a:ext>
            </a:extLst>
          </p:cNvPr>
          <p:cNvSpPr/>
          <p:nvPr/>
        </p:nvSpPr>
        <p:spPr>
          <a:xfrm>
            <a:off x="10427326" y="676828"/>
            <a:ext cx="1656000" cy="1980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16E9594-3FDA-B92F-6AF1-1F6950844715}"/>
              </a:ext>
            </a:extLst>
          </p:cNvPr>
          <p:cNvSpPr/>
          <p:nvPr/>
        </p:nvSpPr>
        <p:spPr>
          <a:xfrm>
            <a:off x="302828" y="322286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2045BCD-FFC9-A938-90D1-13FC06337DD0}"/>
              </a:ext>
            </a:extLst>
          </p:cNvPr>
          <p:cNvSpPr/>
          <p:nvPr/>
        </p:nvSpPr>
        <p:spPr>
          <a:xfrm>
            <a:off x="302828" y="3841370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</p:spTree>
    <p:extLst>
      <p:ext uri="{BB962C8B-B14F-4D97-AF65-F5344CB8AC3E}">
        <p14:creationId xmlns:p14="http://schemas.microsoft.com/office/powerpoint/2010/main" val="290628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DC4FEA25-484B-F484-30B0-00B72E62C415}"/>
              </a:ext>
            </a:extLst>
          </p:cNvPr>
          <p:cNvSpPr/>
          <p:nvPr/>
        </p:nvSpPr>
        <p:spPr>
          <a:xfrm>
            <a:off x="51198" y="1662691"/>
            <a:ext cx="12096000" cy="38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32661" y="0"/>
            <a:ext cx="12006963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界面二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 确认 仓储任务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重点在资材库配送的拆单合理性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F306A8-A296-4519-9762-628ED3E1D942}"/>
              </a:ext>
            </a:extLst>
          </p:cNvPr>
          <p:cNvSpPr/>
          <p:nvPr/>
        </p:nvSpPr>
        <p:spPr>
          <a:xfrm>
            <a:off x="200368" y="170890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配送需求日期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BED22AB-26B2-477A-A75A-B283A2F3F30D}"/>
              </a:ext>
            </a:extLst>
          </p:cNvPr>
          <p:cNvSpPr/>
          <p:nvPr/>
        </p:nvSpPr>
        <p:spPr>
          <a:xfrm>
            <a:off x="1446000" y="170890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配送需求单号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7084584-0171-4C51-9C0F-7247C1127887}"/>
              </a:ext>
            </a:extLst>
          </p:cNvPr>
          <p:cNvSpPr/>
          <p:nvPr/>
        </p:nvSpPr>
        <p:spPr>
          <a:xfrm>
            <a:off x="102369" y="2350509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配送需求总量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78B3BFB-DA19-4108-ACEB-397096AF3A7B}"/>
              </a:ext>
            </a:extLst>
          </p:cNvPr>
          <p:cNvSpPr/>
          <p:nvPr/>
        </p:nvSpPr>
        <p:spPr>
          <a:xfrm>
            <a:off x="3910824" y="170890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036FC7D-8793-49AE-92D0-724BC967470D}"/>
              </a:ext>
            </a:extLst>
          </p:cNvPr>
          <p:cNvSpPr/>
          <p:nvPr/>
        </p:nvSpPr>
        <p:spPr>
          <a:xfrm>
            <a:off x="235392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任务号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65795D5-56E9-4BB7-AF7B-2A566BFD70E5}"/>
              </a:ext>
            </a:extLst>
          </p:cNvPr>
          <p:cNvSpPr/>
          <p:nvPr/>
        </p:nvSpPr>
        <p:spPr>
          <a:xfrm>
            <a:off x="4606011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D033027-6586-48D4-B068-18CBD94AACB7}"/>
              </a:ext>
            </a:extLst>
          </p:cNvPr>
          <p:cNvSpPr/>
          <p:nvPr/>
        </p:nvSpPr>
        <p:spPr>
          <a:xfrm>
            <a:off x="347820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配送单号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E605734-0D1F-44EF-8E4D-A4D1CF82893C}"/>
              </a:ext>
            </a:extLst>
          </p:cNvPr>
          <p:cNvSpPr/>
          <p:nvPr/>
        </p:nvSpPr>
        <p:spPr>
          <a:xfrm>
            <a:off x="91084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E548F0-DD64-4FF0-BD69-3BFA5CAA3D95}"/>
              </a:ext>
            </a:extLst>
          </p:cNvPr>
          <p:cNvSpPr/>
          <p:nvPr/>
        </p:nvSpPr>
        <p:spPr>
          <a:xfrm>
            <a:off x="102369" y="29624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6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dirty="0">
              <a:solidFill>
                <a:schemeClr val="accent6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D19F59-FD88-4726-8FEF-7144CDECE7CD}"/>
              </a:ext>
            </a:extLst>
          </p:cNvPr>
          <p:cNvSpPr/>
          <p:nvPr/>
        </p:nvSpPr>
        <p:spPr>
          <a:xfrm>
            <a:off x="235392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FB0C5B7-FFD5-4BFC-A67F-3AD9DA150BE9}"/>
              </a:ext>
            </a:extLst>
          </p:cNvPr>
          <p:cNvSpPr/>
          <p:nvPr/>
        </p:nvSpPr>
        <p:spPr>
          <a:xfrm>
            <a:off x="235392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963EE18-00F4-4072-9CDA-CC6530EB0B38}"/>
              </a:ext>
            </a:extLst>
          </p:cNvPr>
          <p:cNvSpPr/>
          <p:nvPr/>
        </p:nvSpPr>
        <p:spPr>
          <a:xfrm>
            <a:off x="235392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286CFC7-2B16-4A1F-9AB2-885F52E044D6}"/>
              </a:ext>
            </a:extLst>
          </p:cNvPr>
          <p:cNvSpPr/>
          <p:nvPr/>
        </p:nvSpPr>
        <p:spPr>
          <a:xfrm>
            <a:off x="4606011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C27BB5-529A-4453-B49B-31D825978AB5}"/>
              </a:ext>
            </a:extLst>
          </p:cNvPr>
          <p:cNvSpPr/>
          <p:nvPr/>
        </p:nvSpPr>
        <p:spPr>
          <a:xfrm>
            <a:off x="4606011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码头仓库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8C24F7B-879B-4790-B3B9-3CC8607E3A56}"/>
              </a:ext>
            </a:extLst>
          </p:cNvPr>
          <p:cNvSpPr/>
          <p:nvPr/>
        </p:nvSpPr>
        <p:spPr>
          <a:xfrm>
            <a:off x="4606011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7E23D08-17BE-4752-950F-C43CE96B89A4}"/>
              </a:ext>
            </a:extLst>
          </p:cNvPr>
          <p:cNvSpPr/>
          <p:nvPr/>
        </p:nvSpPr>
        <p:spPr>
          <a:xfrm>
            <a:off x="347820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PS0001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D428E67-932F-4B84-8D55-F591B9815D12}"/>
              </a:ext>
            </a:extLst>
          </p:cNvPr>
          <p:cNvSpPr/>
          <p:nvPr/>
        </p:nvSpPr>
        <p:spPr>
          <a:xfrm>
            <a:off x="347820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PS0002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7EBA61E-324A-4534-983A-B086C94EE6CD}"/>
              </a:ext>
            </a:extLst>
          </p:cNvPr>
          <p:cNvSpPr/>
          <p:nvPr/>
        </p:nvSpPr>
        <p:spPr>
          <a:xfrm>
            <a:off x="347820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PS0003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78521C2-92CA-4148-9556-E9538102EA61}"/>
              </a:ext>
            </a:extLst>
          </p:cNvPr>
          <p:cNvSpPr/>
          <p:nvPr/>
        </p:nvSpPr>
        <p:spPr>
          <a:xfrm>
            <a:off x="91084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D103E57-37AF-4E95-9F11-D3AA1E42B04B}"/>
              </a:ext>
            </a:extLst>
          </p:cNvPr>
          <p:cNvSpPr/>
          <p:nvPr/>
        </p:nvSpPr>
        <p:spPr>
          <a:xfrm>
            <a:off x="91084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B7E56CD-DA42-4832-8321-41EA74BDE5DE}"/>
              </a:ext>
            </a:extLst>
          </p:cNvPr>
          <p:cNvSpPr/>
          <p:nvPr/>
        </p:nvSpPr>
        <p:spPr>
          <a:xfrm>
            <a:off x="91084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30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CA651AB-ABCE-4287-B82D-16E85B3B8EBA}"/>
              </a:ext>
            </a:extLst>
          </p:cNvPr>
          <p:cNvSpPr/>
          <p:nvPr/>
        </p:nvSpPr>
        <p:spPr>
          <a:xfrm>
            <a:off x="1225981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配送任务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总量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1B88804-9160-418E-98B3-959148435E9A}"/>
              </a:ext>
            </a:extLst>
          </p:cNvPr>
          <p:cNvSpPr/>
          <p:nvPr/>
        </p:nvSpPr>
        <p:spPr>
          <a:xfrm>
            <a:off x="1225981" y="2962464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11366220" y="2350509"/>
            <a:ext cx="730193" cy="5760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确认执行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C9DB8AC3-FD0A-4820-BE91-623BCB9472F1}"/>
              </a:ext>
            </a:extLst>
          </p:cNvPr>
          <p:cNvSpPr/>
          <p:nvPr/>
        </p:nvSpPr>
        <p:spPr>
          <a:xfrm>
            <a:off x="191383" y="5479768"/>
            <a:ext cx="11906887" cy="12934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考量最小配送单位数量，系统可设置配送需求数量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容差值，允许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配送任务总量 ≧ 配送需求总量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仓储任务号状态为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“进厂前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供应商送货、码头短驳进厂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“创建拣配行项目前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，可取消任务，其他状态则在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配送进度查询作业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仅可对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发货者，进行 配送任务数量 修改。 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3CE15F-C293-431C-88DA-19F935D8160B}"/>
              </a:ext>
            </a:extLst>
          </p:cNvPr>
          <p:cNvSpPr/>
          <p:nvPr/>
        </p:nvSpPr>
        <p:spPr>
          <a:xfrm>
            <a:off x="135096" y="1501050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5A43CE9-8850-44BC-BB64-2F0B790ACB1B}"/>
              </a:ext>
            </a:extLst>
          </p:cNvPr>
          <p:cNvSpPr/>
          <p:nvPr/>
        </p:nvSpPr>
        <p:spPr>
          <a:xfrm>
            <a:off x="179102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933BFA3-EBEB-44AE-AF89-7217323ED865}"/>
              </a:ext>
            </a:extLst>
          </p:cNvPr>
          <p:cNvSpPr/>
          <p:nvPr/>
        </p:nvSpPr>
        <p:spPr>
          <a:xfrm>
            <a:off x="2643926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41BC959-60EC-4BDF-8802-570CF5F27FDF}"/>
              </a:ext>
            </a:extLst>
          </p:cNvPr>
          <p:cNvSpPr/>
          <p:nvPr/>
        </p:nvSpPr>
        <p:spPr>
          <a:xfrm>
            <a:off x="3852093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结单判断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81F7AE5-6C58-4217-AC4B-76F91674B80D}"/>
              </a:ext>
            </a:extLst>
          </p:cNvPr>
          <p:cNvSpPr/>
          <p:nvPr/>
        </p:nvSpPr>
        <p:spPr>
          <a:xfrm>
            <a:off x="10120729" y="783690"/>
            <a:ext cx="1918895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CC9F481-DA7E-4559-85EA-8A1777C2DD00}"/>
              </a:ext>
            </a:extLst>
          </p:cNvPr>
          <p:cNvSpPr/>
          <p:nvPr/>
        </p:nvSpPr>
        <p:spPr>
          <a:xfrm>
            <a:off x="509261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开单日期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15B1F52-C1AB-47BC-94C3-A65C41080E7C}"/>
              </a:ext>
            </a:extLst>
          </p:cNvPr>
          <p:cNvSpPr/>
          <p:nvPr/>
        </p:nvSpPr>
        <p:spPr>
          <a:xfrm>
            <a:off x="6355478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BDEE9BB-7D6C-4D45-B7F8-019D93152FE5}"/>
              </a:ext>
            </a:extLst>
          </p:cNvPr>
          <p:cNvSpPr/>
          <p:nvPr/>
        </p:nvSpPr>
        <p:spPr>
          <a:xfrm>
            <a:off x="7525517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AB241355-BDE0-42E2-BF9C-811A5B0AE62C}"/>
              </a:ext>
            </a:extLst>
          </p:cNvPr>
          <p:cNvSpPr/>
          <p:nvPr/>
        </p:nvSpPr>
        <p:spPr>
          <a:xfrm>
            <a:off x="8722275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送货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到门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自提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D2CD252-0B0D-0288-5308-251AB80A9439}"/>
              </a:ext>
            </a:extLst>
          </p:cNvPr>
          <p:cNvSpPr/>
          <p:nvPr/>
        </p:nvSpPr>
        <p:spPr>
          <a:xfrm>
            <a:off x="10226095" y="2350509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实际数量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B7B1F1-FBAF-52AE-3D26-DF27A6B2B719}"/>
              </a:ext>
            </a:extLst>
          </p:cNvPr>
          <p:cNvSpPr/>
          <p:nvPr/>
        </p:nvSpPr>
        <p:spPr>
          <a:xfrm>
            <a:off x="102260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ACFD6-71CE-F245-6171-673E5001E059}"/>
              </a:ext>
            </a:extLst>
          </p:cNvPr>
          <p:cNvSpPr/>
          <p:nvPr/>
        </p:nvSpPr>
        <p:spPr>
          <a:xfrm>
            <a:off x="10226095" y="3569709"/>
            <a:ext cx="1080000" cy="576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DB4B67-BF52-3067-CF8A-ED6BFFEF5FC8}"/>
              </a:ext>
            </a:extLst>
          </p:cNvPr>
          <p:cNvSpPr/>
          <p:nvPr/>
        </p:nvSpPr>
        <p:spPr>
          <a:xfrm>
            <a:off x="10226095" y="4181664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BA6BAEA-FBDB-EDFA-B67E-1B819558790A}"/>
              </a:ext>
            </a:extLst>
          </p:cNvPr>
          <p:cNvSpPr/>
          <p:nvPr/>
        </p:nvSpPr>
        <p:spPr>
          <a:xfrm>
            <a:off x="5730295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仓储任务状态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0C39B9-3DA5-A186-D8F6-23F1C6F0E560}"/>
              </a:ext>
            </a:extLst>
          </p:cNvPr>
          <p:cNvSpPr/>
          <p:nvPr/>
        </p:nvSpPr>
        <p:spPr>
          <a:xfrm>
            <a:off x="5730295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8BF15C-5457-40EA-6E24-3CDC32A645E8}"/>
              </a:ext>
            </a:extLst>
          </p:cNvPr>
          <p:cNvSpPr/>
          <p:nvPr/>
        </p:nvSpPr>
        <p:spPr>
          <a:xfrm>
            <a:off x="5730295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进厂前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2F5455-5C6B-3607-FC65-15798C7F3671}"/>
              </a:ext>
            </a:extLst>
          </p:cNvPr>
          <p:cNvSpPr/>
          <p:nvPr/>
        </p:nvSpPr>
        <p:spPr>
          <a:xfrm>
            <a:off x="5730295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作业中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637DB58-3D59-78FA-8BEC-A104B37336AE}"/>
              </a:ext>
            </a:extLst>
          </p:cNvPr>
          <p:cNvSpPr/>
          <p:nvPr/>
        </p:nvSpPr>
        <p:spPr>
          <a:xfrm>
            <a:off x="1424734" y="763236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EBCF991-A7BE-9B3F-35A2-D1F45524621D}"/>
              </a:ext>
            </a:extLst>
          </p:cNvPr>
          <p:cNvSpPr/>
          <p:nvPr/>
        </p:nvSpPr>
        <p:spPr>
          <a:xfrm>
            <a:off x="2665192" y="170890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CE388EF-F0DB-4E7E-7F7B-5AE24D060E8A}"/>
              </a:ext>
            </a:extLst>
          </p:cNvPr>
          <p:cNvSpPr/>
          <p:nvPr/>
        </p:nvSpPr>
        <p:spPr>
          <a:xfrm>
            <a:off x="79788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C03647-0D93-0F3E-16FB-61758F585246}"/>
              </a:ext>
            </a:extLst>
          </p:cNvPr>
          <p:cNvSpPr/>
          <p:nvPr/>
        </p:nvSpPr>
        <p:spPr>
          <a:xfrm>
            <a:off x="79788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337C5E-256A-6245-37DB-1A5FA6C1174B}"/>
              </a:ext>
            </a:extLst>
          </p:cNvPr>
          <p:cNvSpPr/>
          <p:nvPr/>
        </p:nvSpPr>
        <p:spPr>
          <a:xfrm>
            <a:off x="79788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85501B-5C1C-5437-DC79-3BCDE9442D7B}"/>
              </a:ext>
            </a:extLst>
          </p:cNvPr>
          <p:cNvSpPr/>
          <p:nvPr/>
        </p:nvSpPr>
        <p:spPr>
          <a:xfrm>
            <a:off x="79788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5565D90-C78C-8862-E50A-DFAF1E32AF60}"/>
              </a:ext>
            </a:extLst>
          </p:cNvPr>
          <p:cNvSpPr/>
          <p:nvPr/>
        </p:nvSpPr>
        <p:spPr>
          <a:xfrm>
            <a:off x="11131962" y="2962464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03DB361-98BE-FD8D-285A-80161482B17A}"/>
              </a:ext>
            </a:extLst>
          </p:cNvPr>
          <p:cNvSpPr/>
          <p:nvPr/>
        </p:nvSpPr>
        <p:spPr>
          <a:xfrm>
            <a:off x="11131962" y="356970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550CECA-5E7C-1AAC-F254-DD7008EDE652}"/>
              </a:ext>
            </a:extLst>
          </p:cNvPr>
          <p:cNvSpPr/>
          <p:nvPr/>
        </p:nvSpPr>
        <p:spPr>
          <a:xfrm>
            <a:off x="11131962" y="4244493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143A995-65F1-39ED-8737-60E3E6BACF57}"/>
              </a:ext>
            </a:extLst>
          </p:cNvPr>
          <p:cNvSpPr/>
          <p:nvPr/>
        </p:nvSpPr>
        <p:spPr>
          <a:xfrm>
            <a:off x="6848559" y="2350509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D46D12-3D32-7CF8-B3CC-763AA69C89B8}"/>
              </a:ext>
            </a:extLst>
          </p:cNvPr>
          <p:cNvSpPr/>
          <p:nvPr/>
        </p:nvSpPr>
        <p:spPr>
          <a:xfrm>
            <a:off x="6848559" y="2962464"/>
            <a:ext cx="108000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3A1190-BC2C-834D-08BD-2D9DEB2610BD}"/>
              </a:ext>
            </a:extLst>
          </p:cNvPr>
          <p:cNvSpPr/>
          <p:nvPr/>
        </p:nvSpPr>
        <p:spPr>
          <a:xfrm>
            <a:off x="6848559" y="3569709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62C31F-BDDB-0C2C-52FE-154060BA4601}"/>
              </a:ext>
            </a:extLst>
          </p:cNvPr>
          <p:cNvSpPr/>
          <p:nvPr/>
        </p:nvSpPr>
        <p:spPr>
          <a:xfrm>
            <a:off x="6848559" y="4181664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1CBEB9-0D35-75EC-DF60-DF9C4A10541D}"/>
              </a:ext>
            </a:extLst>
          </p:cNvPr>
          <p:cNvSpPr/>
          <p:nvPr/>
        </p:nvSpPr>
        <p:spPr>
          <a:xfrm>
            <a:off x="102369" y="3569709"/>
            <a:ext cx="1080000" cy="576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已完成配送数量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CAE8EA3-2F37-D5C1-AECD-F1A22928CDB8}"/>
              </a:ext>
            </a:extLst>
          </p:cNvPr>
          <p:cNvSpPr/>
          <p:nvPr/>
        </p:nvSpPr>
        <p:spPr>
          <a:xfrm>
            <a:off x="102369" y="4181664"/>
            <a:ext cx="1074657" cy="5750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5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19</a:t>
            </a:r>
            <a:endParaRPr lang="zh-CN" altLang="en-US" sz="2800" dirty="0">
              <a:solidFill>
                <a:schemeClr val="accent5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标注: 下箭头 21">
            <a:extLst>
              <a:ext uri="{FF2B5EF4-FFF2-40B4-BE49-F238E27FC236}">
                <a16:creationId xmlns:a16="http://schemas.microsoft.com/office/drawing/2014/main" id="{539DC3FC-BD3B-4B52-B727-0A03D3C4850F}"/>
              </a:ext>
            </a:extLst>
          </p:cNvPr>
          <p:cNvSpPr/>
          <p:nvPr/>
        </p:nvSpPr>
        <p:spPr>
          <a:xfrm>
            <a:off x="10783862" y="1472507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决定是否执行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E7FED9-6F2B-6C6F-A8C5-631210A98233}"/>
              </a:ext>
            </a:extLst>
          </p:cNvPr>
          <p:cNvSpPr/>
          <p:nvPr/>
        </p:nvSpPr>
        <p:spPr>
          <a:xfrm>
            <a:off x="235746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2ECC75-72D3-BC7F-3407-E179E704373D}"/>
              </a:ext>
            </a:extLst>
          </p:cNvPr>
          <p:cNvSpPr/>
          <p:nvPr/>
        </p:nvSpPr>
        <p:spPr>
          <a:xfrm>
            <a:off x="4609550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厂内资材库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4B01A1-4078-3B85-D889-5314DD550828}"/>
              </a:ext>
            </a:extLst>
          </p:cNvPr>
          <p:cNvSpPr/>
          <p:nvPr/>
        </p:nvSpPr>
        <p:spPr>
          <a:xfrm>
            <a:off x="348174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PS0004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3BAA91-3EBB-926F-E803-3F5B46273184}"/>
              </a:ext>
            </a:extLst>
          </p:cNvPr>
          <p:cNvSpPr/>
          <p:nvPr/>
        </p:nvSpPr>
        <p:spPr>
          <a:xfrm>
            <a:off x="91120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25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CFFF5F1-032A-5C2A-8F36-84837ABA1DB0}"/>
              </a:ext>
            </a:extLst>
          </p:cNvPr>
          <p:cNvSpPr/>
          <p:nvPr/>
        </p:nvSpPr>
        <p:spPr>
          <a:xfrm>
            <a:off x="11382851" y="3644357"/>
            <a:ext cx="684000" cy="169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0EBA4C-A87F-02F9-7011-FF12114525A3}"/>
              </a:ext>
            </a:extLst>
          </p:cNvPr>
          <p:cNvSpPr/>
          <p:nvPr/>
        </p:nvSpPr>
        <p:spPr>
          <a:xfrm>
            <a:off x="10229634" y="4801900"/>
            <a:ext cx="1080000" cy="5760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-</a:t>
            </a:r>
            <a:endParaRPr lang="zh-CN" altLang="en-US" sz="2800" dirty="0">
              <a:solidFill>
                <a:schemeClr val="tx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2348BC5-3BDA-2114-CE0F-1CBF5347A3CD}"/>
              </a:ext>
            </a:extLst>
          </p:cNvPr>
          <p:cNvSpPr/>
          <p:nvPr/>
        </p:nvSpPr>
        <p:spPr>
          <a:xfrm>
            <a:off x="5733834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创建拣配行项目前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7926D45-623C-6115-CF60-2F77418B040B}"/>
              </a:ext>
            </a:extLst>
          </p:cNvPr>
          <p:cNvSpPr/>
          <p:nvPr/>
        </p:nvSpPr>
        <p:spPr>
          <a:xfrm>
            <a:off x="79823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早班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D09934F-33D8-87A0-F44E-B48AD08DEECA}"/>
              </a:ext>
            </a:extLst>
          </p:cNvPr>
          <p:cNvSpPr/>
          <p:nvPr/>
        </p:nvSpPr>
        <p:spPr>
          <a:xfrm>
            <a:off x="11135501" y="4864729"/>
            <a:ext cx="1080000" cy="576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Y</a:t>
            </a:r>
            <a:endParaRPr lang="zh-CN" altLang="en-US" sz="2400" dirty="0">
              <a:solidFill>
                <a:srgbClr val="FF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C70FB00-06B1-EA66-DD5E-EDC7ADF88788}"/>
              </a:ext>
            </a:extLst>
          </p:cNvPr>
          <p:cNvSpPr/>
          <p:nvPr/>
        </p:nvSpPr>
        <p:spPr>
          <a:xfrm>
            <a:off x="6852098" y="4801900"/>
            <a:ext cx="1080000" cy="57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下午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2E7EFDE-4C2C-988F-47FB-E2C73570ACFD}"/>
              </a:ext>
            </a:extLst>
          </p:cNvPr>
          <p:cNvSpPr/>
          <p:nvPr/>
        </p:nvSpPr>
        <p:spPr>
          <a:xfrm>
            <a:off x="53927" y="2307956"/>
            <a:ext cx="2299998" cy="1296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F4879A6-FAF1-4EB0-998A-8C29FFBE4C1F}"/>
              </a:ext>
            </a:extLst>
          </p:cNvPr>
          <p:cNvSpPr/>
          <p:nvPr/>
        </p:nvSpPr>
        <p:spPr>
          <a:xfrm>
            <a:off x="9058858" y="4138853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E400B846-476D-0E56-DD87-CBA42A5ADDB9}"/>
              </a:ext>
            </a:extLst>
          </p:cNvPr>
          <p:cNvSpPr/>
          <p:nvPr/>
        </p:nvSpPr>
        <p:spPr>
          <a:xfrm>
            <a:off x="4575443" y="4153028"/>
            <a:ext cx="1160001" cy="1218097"/>
          </a:xfrm>
          <a:prstGeom prst="round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C221B1BB-4A21-9A92-693B-32B312735129}"/>
              </a:ext>
            </a:extLst>
          </p:cNvPr>
          <p:cNvSpPr/>
          <p:nvPr/>
        </p:nvSpPr>
        <p:spPr>
          <a:xfrm>
            <a:off x="5719881" y="476455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299276F-5229-BE68-14EC-D682B6FBE05C}"/>
              </a:ext>
            </a:extLst>
          </p:cNvPr>
          <p:cNvSpPr/>
          <p:nvPr/>
        </p:nvSpPr>
        <p:spPr>
          <a:xfrm>
            <a:off x="5699727" y="3543963"/>
            <a:ext cx="1116000" cy="61200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标注: 下箭头 80">
            <a:extLst>
              <a:ext uri="{FF2B5EF4-FFF2-40B4-BE49-F238E27FC236}">
                <a16:creationId xmlns:a16="http://schemas.microsoft.com/office/drawing/2014/main" id="{000CEDA9-DAAA-4CC2-3252-C58592A71BAA}"/>
              </a:ext>
            </a:extLst>
          </p:cNvPr>
          <p:cNvSpPr/>
          <p:nvPr/>
        </p:nvSpPr>
        <p:spPr>
          <a:xfrm>
            <a:off x="8894810" y="1433515"/>
            <a:ext cx="1364302" cy="9000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每天下午</a:t>
            </a:r>
            <a:r>
              <a:rPr lang="en-US" altLang="zh-CN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决定是否修改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8B1D67A-9E0F-468D-8B29-75859EE8C5F2}"/>
              </a:ext>
            </a:extLst>
          </p:cNvPr>
          <p:cNvSpPr/>
          <p:nvPr/>
        </p:nvSpPr>
        <p:spPr>
          <a:xfrm>
            <a:off x="5084368" y="170890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货源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</p:spTree>
    <p:extLst>
      <p:ext uri="{BB962C8B-B14F-4D97-AF65-F5344CB8AC3E}">
        <p14:creationId xmlns:p14="http://schemas.microsoft.com/office/powerpoint/2010/main" val="934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1" grpId="0" animBg="1"/>
      <p:bldP spid="2" grpId="0" animBg="1"/>
      <p:bldP spid="75" grpId="0" animBg="1"/>
      <p:bldP spid="79" grpId="0" animBg="1"/>
      <p:bldP spid="8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6C8C240-0245-4830-1362-CDE3A97BC7E9}"/>
              </a:ext>
            </a:extLst>
          </p:cNvPr>
          <p:cNvSpPr/>
          <p:nvPr/>
        </p:nvSpPr>
        <p:spPr>
          <a:xfrm>
            <a:off x="97864" y="2213794"/>
            <a:ext cx="11880000" cy="3017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E24BC54-A797-4BD1-9919-7E6E47E655FF}"/>
              </a:ext>
            </a:extLst>
          </p:cNvPr>
          <p:cNvSpPr/>
          <p:nvPr/>
        </p:nvSpPr>
        <p:spPr>
          <a:xfrm>
            <a:off x="177230" y="43610"/>
            <a:ext cx="11465421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界面三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厂内配送作业操作界面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进度查询与操作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180E070-DBFB-4CB8-8037-35B2976CF9F6}"/>
              </a:ext>
            </a:extLst>
          </p:cNvPr>
          <p:cNvSpPr/>
          <p:nvPr/>
        </p:nvSpPr>
        <p:spPr>
          <a:xfrm>
            <a:off x="7344397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收货地点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1BAA34-13D1-438D-B49F-C275914C8EB5}"/>
              </a:ext>
            </a:extLst>
          </p:cNvPr>
          <p:cNvSpPr/>
          <p:nvPr/>
        </p:nvSpPr>
        <p:spPr>
          <a:xfrm>
            <a:off x="113830" y="2035347"/>
            <a:ext cx="1188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0402245-E1F6-49B0-A3F7-3DBE3536626D}"/>
              </a:ext>
            </a:extLst>
          </p:cNvPr>
          <p:cNvSpPr/>
          <p:nvPr/>
        </p:nvSpPr>
        <p:spPr>
          <a:xfrm>
            <a:off x="2799570" y="2721721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发货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库存地点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07F09322-6EBC-4E71-8B42-E046BDFE29A2}"/>
              </a:ext>
            </a:extLst>
          </p:cNvPr>
          <p:cNvSpPr/>
          <p:nvPr/>
        </p:nvSpPr>
        <p:spPr>
          <a:xfrm>
            <a:off x="5063852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设备工具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217DBCF-506E-48C6-A9D4-1C3A7EDB5EBA}"/>
              </a:ext>
            </a:extLst>
          </p:cNvPr>
          <p:cNvSpPr/>
          <p:nvPr/>
        </p:nvSpPr>
        <p:spPr>
          <a:xfrm>
            <a:off x="1667880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配送单号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7436D9F-6CC7-46E0-959E-266CF763148C}"/>
              </a:ext>
            </a:extLst>
          </p:cNvPr>
          <p:cNvSpPr/>
          <p:nvPr/>
        </p:nvSpPr>
        <p:spPr>
          <a:xfrm>
            <a:off x="6215505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E582F96-FF29-483E-A888-F7D73269CB31}"/>
              </a:ext>
            </a:extLst>
          </p:cNvPr>
          <p:cNvSpPr/>
          <p:nvPr/>
        </p:nvSpPr>
        <p:spPr>
          <a:xfrm>
            <a:off x="8473687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配送数量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76D70682-CC70-485C-8D44-42515963283F}"/>
              </a:ext>
            </a:extLst>
          </p:cNvPr>
          <p:cNvSpPr/>
          <p:nvPr/>
        </p:nvSpPr>
        <p:spPr>
          <a:xfrm>
            <a:off x="2799570" y="3369278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料号、批次号</a:t>
            </a:r>
          </a:p>
        </p:txBody>
      </p:sp>
      <p:sp>
        <p:nvSpPr>
          <p:cNvPr id="91" name="左大括号 90">
            <a:extLst>
              <a:ext uri="{FF2B5EF4-FFF2-40B4-BE49-F238E27FC236}">
                <a16:creationId xmlns:a16="http://schemas.microsoft.com/office/drawing/2014/main" id="{E1BB3AA3-06A7-44F1-A8E5-6FED756A94BF}"/>
              </a:ext>
            </a:extLst>
          </p:cNvPr>
          <p:cNvSpPr/>
          <p:nvPr/>
        </p:nvSpPr>
        <p:spPr>
          <a:xfrm rot="5400000">
            <a:off x="2584408" y="1615152"/>
            <a:ext cx="314161" cy="1984620"/>
          </a:xfrm>
          <a:prstGeom prst="leftBrace">
            <a:avLst>
              <a:gd name="adj1" fmla="val 4409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FA8F2AB-A4B6-477F-928C-789AA25EEC33}"/>
              </a:ext>
            </a:extLst>
          </p:cNvPr>
          <p:cNvSpPr/>
          <p:nvPr/>
        </p:nvSpPr>
        <p:spPr>
          <a:xfrm>
            <a:off x="911105" y="4057752"/>
            <a:ext cx="3106776" cy="52194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。。。。。。。。。。。。。。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B6DE6BE8-C0BE-4A80-9C61-0BFE030D1DA5}"/>
              </a:ext>
            </a:extLst>
          </p:cNvPr>
          <p:cNvSpPr/>
          <p:nvPr/>
        </p:nvSpPr>
        <p:spPr>
          <a:xfrm>
            <a:off x="137253" y="4022399"/>
            <a:ext cx="540000" cy="540000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±</a:t>
            </a:r>
            <a:endParaRPr lang="zh-CN" altLang="en-US" sz="3600" dirty="0"/>
          </a:p>
        </p:txBody>
      </p:sp>
      <p:sp>
        <p:nvSpPr>
          <p:cNvPr id="60" name="标注: 下箭头 59">
            <a:extLst>
              <a:ext uri="{FF2B5EF4-FFF2-40B4-BE49-F238E27FC236}">
                <a16:creationId xmlns:a16="http://schemas.microsoft.com/office/drawing/2014/main" id="{0D3B1294-0274-4CAA-BE4E-0C22EDFE2361}"/>
              </a:ext>
            </a:extLst>
          </p:cNvPr>
          <p:cNvSpPr/>
          <p:nvPr/>
        </p:nvSpPr>
        <p:spPr>
          <a:xfrm>
            <a:off x="5029200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选择设备机具</a:t>
            </a:r>
          </a:p>
        </p:txBody>
      </p:sp>
      <p:sp>
        <p:nvSpPr>
          <p:cNvPr id="61" name="标注: 下箭头 60">
            <a:extLst>
              <a:ext uri="{FF2B5EF4-FFF2-40B4-BE49-F238E27FC236}">
                <a16:creationId xmlns:a16="http://schemas.microsoft.com/office/drawing/2014/main" id="{11EF7E45-0550-45AD-91FD-4BAD1DD8BBEA}"/>
              </a:ext>
            </a:extLst>
          </p:cNvPr>
          <p:cNvSpPr/>
          <p:nvPr/>
        </p:nvSpPr>
        <p:spPr>
          <a:xfrm>
            <a:off x="6182994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一天分三班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A37AACA1-F24A-40A7-9A92-EA60590E058C}"/>
              </a:ext>
            </a:extLst>
          </p:cNvPr>
          <p:cNvSpPr/>
          <p:nvPr/>
        </p:nvSpPr>
        <p:spPr>
          <a:xfrm>
            <a:off x="1453312" y="2213794"/>
            <a:ext cx="2490037" cy="27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显示字段各厂讨论订之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86547D5-1BBE-4E9C-88ED-C17C2DAB349A}"/>
              </a:ext>
            </a:extLst>
          </p:cNvPr>
          <p:cNvSpPr/>
          <p:nvPr/>
        </p:nvSpPr>
        <p:spPr>
          <a:xfrm>
            <a:off x="559395" y="4352873"/>
            <a:ext cx="2350202" cy="4316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取消选定之仓储任务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7E3647DD-D8C6-4000-BD52-B28D80A6E272}"/>
              </a:ext>
            </a:extLst>
          </p:cNvPr>
          <p:cNvSpPr/>
          <p:nvPr/>
        </p:nvSpPr>
        <p:spPr>
          <a:xfrm>
            <a:off x="5082460" y="4089691"/>
            <a:ext cx="1116000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平叉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8F36B93-310C-4FAA-9D90-08D690D3C11D}"/>
              </a:ext>
            </a:extLst>
          </p:cNvPr>
          <p:cNvSpPr/>
          <p:nvPr/>
        </p:nvSpPr>
        <p:spPr>
          <a:xfrm>
            <a:off x="6235777" y="4089691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中班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733BD19-6D2C-4A15-9FB2-C7E1504F46EB}"/>
              </a:ext>
            </a:extLst>
          </p:cNvPr>
          <p:cNvSpPr/>
          <p:nvPr/>
        </p:nvSpPr>
        <p:spPr>
          <a:xfrm>
            <a:off x="8508097" y="4089691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15228611-2E84-4A84-B886-D419E91A6799}"/>
              </a:ext>
            </a:extLst>
          </p:cNvPr>
          <p:cNvSpPr/>
          <p:nvPr/>
        </p:nvSpPr>
        <p:spPr>
          <a:xfrm>
            <a:off x="7259101" y="4001555"/>
            <a:ext cx="1209407" cy="6750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号纸机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号卸货点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208013-2E41-4383-AA71-1361E98B3F48}"/>
              </a:ext>
            </a:extLst>
          </p:cNvPr>
          <p:cNvSpPr/>
          <p:nvPr/>
        </p:nvSpPr>
        <p:spPr>
          <a:xfrm>
            <a:off x="206037" y="3522324"/>
            <a:ext cx="250143" cy="297711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C21AB6-4202-2B15-665D-CED96679A55F}"/>
              </a:ext>
            </a:extLst>
          </p:cNvPr>
          <p:cNvSpPr/>
          <p:nvPr/>
        </p:nvSpPr>
        <p:spPr>
          <a:xfrm>
            <a:off x="531345" y="3369278"/>
            <a:ext cx="1080000" cy="5760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任务号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539CAC9-0FDD-657E-710B-0DAE3EFDE706}"/>
              </a:ext>
            </a:extLst>
          </p:cNvPr>
          <p:cNvSpPr/>
          <p:nvPr/>
        </p:nvSpPr>
        <p:spPr>
          <a:xfrm>
            <a:off x="1499902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领料单号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A7C7A7-8D4A-5BD8-3DFE-4FBBFC38969A}"/>
              </a:ext>
            </a:extLst>
          </p:cNvPr>
          <p:cNvSpPr/>
          <p:nvPr/>
        </p:nvSpPr>
        <p:spPr>
          <a:xfrm>
            <a:off x="2813323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料号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BFE8D14-F785-2566-0457-217BBCB4235A}"/>
              </a:ext>
            </a:extLst>
          </p:cNvPr>
          <p:cNvSpPr/>
          <p:nvPr/>
        </p:nvSpPr>
        <p:spPr>
          <a:xfrm>
            <a:off x="5307839" y="893325"/>
            <a:ext cx="1080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B3FC4C7-20FE-2C17-1800-165AF11E310F}"/>
              </a:ext>
            </a:extLst>
          </p:cNvPr>
          <p:cNvSpPr/>
          <p:nvPr/>
        </p:nvSpPr>
        <p:spPr>
          <a:xfrm>
            <a:off x="4111381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7FFF75-7BCC-7856-27CB-6FE83F4CB1A3}"/>
              </a:ext>
            </a:extLst>
          </p:cNvPr>
          <p:cNvSpPr/>
          <p:nvPr/>
        </p:nvSpPr>
        <p:spPr>
          <a:xfrm>
            <a:off x="5313182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500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1A9564-ACBB-766D-ADFA-7001659F9114}"/>
              </a:ext>
            </a:extLst>
          </p:cNvPr>
          <p:cNvSpPr/>
          <p:nvPr/>
        </p:nvSpPr>
        <p:spPr>
          <a:xfrm>
            <a:off x="6504297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已交数量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2DFEA7-7B73-FA95-8BD5-CC6F172BF5F5}"/>
              </a:ext>
            </a:extLst>
          </p:cNvPr>
          <p:cNvSpPr/>
          <p:nvPr/>
        </p:nvSpPr>
        <p:spPr>
          <a:xfrm>
            <a:off x="6574921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100</a:t>
            </a:r>
            <a:endParaRPr lang="zh-CN" altLang="en-US" sz="280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8226A20-D7E6-8D79-56AE-E5E76B38023C}"/>
              </a:ext>
            </a:extLst>
          </p:cNvPr>
          <p:cNvSpPr/>
          <p:nvPr/>
        </p:nvSpPr>
        <p:spPr>
          <a:xfrm>
            <a:off x="7700755" y="893325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已安排配送总量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DFF5595-D0E8-6A23-884C-CF212CB2171B}"/>
              </a:ext>
            </a:extLst>
          </p:cNvPr>
          <p:cNvSpPr/>
          <p:nvPr/>
        </p:nvSpPr>
        <p:spPr>
          <a:xfrm>
            <a:off x="7766036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120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流程图: 合并 18">
            <a:extLst>
              <a:ext uri="{FF2B5EF4-FFF2-40B4-BE49-F238E27FC236}">
                <a16:creationId xmlns:a16="http://schemas.microsoft.com/office/drawing/2014/main" id="{440202F4-96B2-595A-BE2E-207D3164B1FE}"/>
              </a:ext>
            </a:extLst>
          </p:cNvPr>
          <p:cNvSpPr/>
          <p:nvPr/>
        </p:nvSpPr>
        <p:spPr>
          <a:xfrm>
            <a:off x="1506747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7C12C75-BED2-1E97-E378-6F4AFCD3ACED}"/>
              </a:ext>
            </a:extLst>
          </p:cNvPr>
          <p:cNvSpPr/>
          <p:nvPr/>
        </p:nvSpPr>
        <p:spPr>
          <a:xfrm>
            <a:off x="8845170" y="893325"/>
            <a:ext cx="1080000" cy="57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尚需安排任务需求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5F16210-0E21-C291-3DA9-C31A473EA8DE}"/>
              </a:ext>
            </a:extLst>
          </p:cNvPr>
          <p:cNvSpPr/>
          <p:nvPr/>
        </p:nvSpPr>
        <p:spPr>
          <a:xfrm>
            <a:off x="8910451" y="1497077"/>
            <a:ext cx="1074657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00B050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280</a:t>
            </a:r>
            <a:endParaRPr lang="zh-CN" altLang="en-US" sz="2800" dirty="0">
              <a:solidFill>
                <a:srgbClr val="00B05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流程图: 合并 25">
            <a:extLst>
              <a:ext uri="{FF2B5EF4-FFF2-40B4-BE49-F238E27FC236}">
                <a16:creationId xmlns:a16="http://schemas.microsoft.com/office/drawing/2014/main" id="{3037BBF8-A11C-AF58-CA7D-70118B0AA36F}"/>
              </a:ext>
            </a:extLst>
          </p:cNvPr>
          <p:cNvSpPr/>
          <p:nvPr/>
        </p:nvSpPr>
        <p:spPr>
          <a:xfrm>
            <a:off x="2853285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C04C048-4366-7175-34C8-5C8872C45CA2}"/>
              </a:ext>
            </a:extLst>
          </p:cNvPr>
          <p:cNvSpPr/>
          <p:nvPr/>
        </p:nvSpPr>
        <p:spPr>
          <a:xfrm>
            <a:off x="137404" y="893325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</a:t>
            </a:r>
          </a:p>
        </p:txBody>
      </p:sp>
      <p:sp>
        <p:nvSpPr>
          <p:cNvPr id="30" name="流程图: 合并 29">
            <a:extLst>
              <a:ext uri="{FF2B5EF4-FFF2-40B4-BE49-F238E27FC236}">
                <a16:creationId xmlns:a16="http://schemas.microsoft.com/office/drawing/2014/main" id="{9FCF1D13-2432-123A-1002-6FBA8A5A647E}"/>
              </a:ext>
            </a:extLst>
          </p:cNvPr>
          <p:cNvSpPr/>
          <p:nvPr/>
        </p:nvSpPr>
        <p:spPr>
          <a:xfrm>
            <a:off x="221325" y="1550393"/>
            <a:ext cx="392797" cy="301658"/>
          </a:xfrm>
          <a:prstGeom prst="flowChartMerg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C515739-5AD9-B8BF-4C00-C07FC904583F}"/>
              </a:ext>
            </a:extLst>
          </p:cNvPr>
          <p:cNvSpPr/>
          <p:nvPr/>
        </p:nvSpPr>
        <p:spPr>
          <a:xfrm>
            <a:off x="1667334" y="2721721"/>
            <a:ext cx="1080000" cy="57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关联单据编号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33879AF-4917-A704-D47F-79DD8623717F}"/>
              </a:ext>
            </a:extLst>
          </p:cNvPr>
          <p:cNvSpPr/>
          <p:nvPr/>
        </p:nvSpPr>
        <p:spPr>
          <a:xfrm>
            <a:off x="10759427" y="3369278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任务状态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576E07C-4354-02FB-91C2-D67A750F0F49}"/>
              </a:ext>
            </a:extLst>
          </p:cNvPr>
          <p:cNvSpPr/>
          <p:nvPr/>
        </p:nvSpPr>
        <p:spPr>
          <a:xfrm>
            <a:off x="10793039" y="4057880"/>
            <a:ext cx="1099191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作业中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38A03E2-EFA3-2F87-88F1-09A6837E846A}"/>
              </a:ext>
            </a:extLst>
          </p:cNvPr>
          <p:cNvSpPr/>
          <p:nvPr/>
        </p:nvSpPr>
        <p:spPr>
          <a:xfrm>
            <a:off x="509345" y="5352462"/>
            <a:ext cx="10331146" cy="13334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仅可对任务状态为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“进厂前、创建拣配行项目前”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进行取消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取消任务后，可从第一阶段重新创建配送需求，另也可从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直接创建 拣配行项目对应配送单。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如要变更 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设备工具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作业班别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，可在此直接修改变更。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3F072B3-44CD-1117-091C-AE85B93D8A2F}"/>
              </a:ext>
            </a:extLst>
          </p:cNvPr>
          <p:cNvSpPr/>
          <p:nvPr/>
        </p:nvSpPr>
        <p:spPr>
          <a:xfrm>
            <a:off x="3946252" y="3369278"/>
            <a:ext cx="1080000" cy="576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</a:p>
        </p:txBody>
      </p:sp>
      <p:sp>
        <p:nvSpPr>
          <p:cNvPr id="40" name="标注: 下箭头 39">
            <a:extLst>
              <a:ext uri="{FF2B5EF4-FFF2-40B4-BE49-F238E27FC236}">
                <a16:creationId xmlns:a16="http://schemas.microsoft.com/office/drawing/2014/main" id="{5199FED4-5BF3-2CF8-04FA-367B18834A2A}"/>
              </a:ext>
            </a:extLst>
          </p:cNvPr>
          <p:cNvSpPr/>
          <p:nvPr/>
        </p:nvSpPr>
        <p:spPr>
          <a:xfrm>
            <a:off x="3911600" y="2219628"/>
            <a:ext cx="1080000" cy="1080000"/>
          </a:xfrm>
          <a:prstGeom prst="downArrow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选择设备机具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D8DB952-6EEF-2DAC-4CA7-B8C933DBAAD6}"/>
              </a:ext>
            </a:extLst>
          </p:cNvPr>
          <p:cNvSpPr/>
          <p:nvPr/>
        </p:nvSpPr>
        <p:spPr>
          <a:xfrm>
            <a:off x="3926760" y="4089691"/>
            <a:ext cx="1152000" cy="413177"/>
          </a:xfrm>
          <a:prstGeom prst="roundRect">
            <a:avLst/>
          </a:prstGeom>
          <a:noFill/>
          <a:ln w="381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平叉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B954F70-6FD2-0F26-D33F-0330DF208202}"/>
              </a:ext>
            </a:extLst>
          </p:cNvPr>
          <p:cNvSpPr/>
          <p:nvPr/>
        </p:nvSpPr>
        <p:spPr>
          <a:xfrm>
            <a:off x="9617697" y="3369278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预计完成时间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3DD4F08-F659-632C-1B90-6BEB9D906682}"/>
              </a:ext>
            </a:extLst>
          </p:cNvPr>
          <p:cNvSpPr/>
          <p:nvPr/>
        </p:nvSpPr>
        <p:spPr>
          <a:xfrm>
            <a:off x="9612492" y="2721721"/>
            <a:ext cx="1080000" cy="576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4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4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预计开始时间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EE5915-4A45-5876-0973-0858FEFD4101}"/>
              </a:ext>
            </a:extLst>
          </p:cNvPr>
          <p:cNvSpPr/>
          <p:nvPr/>
        </p:nvSpPr>
        <p:spPr>
          <a:xfrm>
            <a:off x="10692492" y="3221665"/>
            <a:ext cx="1209407" cy="1281203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3FCAC31-2A80-0713-9FDC-8AA8DAB08C89}"/>
              </a:ext>
            </a:extLst>
          </p:cNvPr>
          <p:cNvSpPr/>
          <p:nvPr/>
        </p:nvSpPr>
        <p:spPr>
          <a:xfrm>
            <a:off x="3912389" y="4061271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3B9260-E744-1021-A165-4B3A7FD28C6C}"/>
              </a:ext>
            </a:extLst>
          </p:cNvPr>
          <p:cNvSpPr/>
          <p:nvPr/>
        </p:nvSpPr>
        <p:spPr>
          <a:xfrm>
            <a:off x="5063852" y="4039695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DB98C51-8B95-3E70-4FAB-3E7BD29B776D}"/>
              </a:ext>
            </a:extLst>
          </p:cNvPr>
          <p:cNvSpPr/>
          <p:nvPr/>
        </p:nvSpPr>
        <p:spPr>
          <a:xfrm>
            <a:off x="6215505" y="4057752"/>
            <a:ext cx="1080000" cy="54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7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54F78BC9-1B40-45F4-A0C8-C4DEF9B7E713}"/>
              </a:ext>
            </a:extLst>
          </p:cNvPr>
          <p:cNvSpPr/>
          <p:nvPr/>
        </p:nvSpPr>
        <p:spPr>
          <a:xfrm>
            <a:off x="573148" y="794007"/>
            <a:ext cx="143954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缴库部门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2014D1-FAB8-4832-8302-3756F2F6DCDF}"/>
              </a:ext>
            </a:extLst>
          </p:cNvPr>
          <p:cNvSpPr/>
          <p:nvPr/>
        </p:nvSpPr>
        <p:spPr>
          <a:xfrm>
            <a:off x="6561256" y="752097"/>
            <a:ext cx="149098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CCA2C16-84AD-44BE-A077-C2793C142E08}"/>
              </a:ext>
            </a:extLst>
          </p:cNvPr>
          <p:cNvCxnSpPr>
            <a:cxnSpLocks/>
          </p:cNvCxnSpPr>
          <p:nvPr/>
        </p:nvCxnSpPr>
        <p:spPr>
          <a:xfrm flipV="1">
            <a:off x="137795" y="1196359"/>
            <a:ext cx="11925675" cy="10636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2B834A59-8014-4308-9036-91BBF0A32357}"/>
              </a:ext>
            </a:extLst>
          </p:cNvPr>
          <p:cNvSpPr/>
          <p:nvPr/>
        </p:nvSpPr>
        <p:spPr>
          <a:xfrm>
            <a:off x="440944" y="1617247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缴库</a:t>
            </a:r>
          </a:p>
        </p:txBody>
      </p:sp>
      <p:sp>
        <p:nvSpPr>
          <p:cNvPr id="32" name="圆角矩形 139">
            <a:extLst>
              <a:ext uri="{FF2B5EF4-FFF2-40B4-BE49-F238E27FC236}">
                <a16:creationId xmlns:a16="http://schemas.microsoft.com/office/drawing/2014/main" id="{B7C12CF1-0C72-4C43-9895-23FE5E5D28E6}"/>
              </a:ext>
            </a:extLst>
          </p:cNvPr>
          <p:cNvSpPr/>
          <p:nvPr/>
        </p:nvSpPr>
        <p:spPr>
          <a:xfrm>
            <a:off x="1444964" y="5107202"/>
            <a:ext cx="851091" cy="432000"/>
          </a:xfrm>
          <a:prstGeom prst="round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黑体" panose="02010609060101010101" charset="-122"/>
                <a:ea typeface="黑体" panose="02010609060101010101" charset="-122"/>
              </a:rPr>
              <a:t>装货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F5BFF86-6A09-4896-BE06-ADEFFC9EC9E8}"/>
              </a:ext>
            </a:extLst>
          </p:cNvPr>
          <p:cNvSpPr/>
          <p:nvPr/>
        </p:nvSpPr>
        <p:spPr>
          <a:xfrm>
            <a:off x="728606" y="6004086"/>
            <a:ext cx="1080000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发货地点</a:t>
            </a:r>
          </a:p>
        </p:txBody>
      </p:sp>
      <p:sp>
        <p:nvSpPr>
          <p:cNvPr id="37" name="圆角矩形 139">
            <a:extLst>
              <a:ext uri="{FF2B5EF4-FFF2-40B4-BE49-F238E27FC236}">
                <a16:creationId xmlns:a16="http://schemas.microsoft.com/office/drawing/2014/main" id="{AA9DA845-5EAF-473E-8BC5-BB474CCCA965}"/>
              </a:ext>
            </a:extLst>
          </p:cNvPr>
          <p:cNvSpPr/>
          <p:nvPr/>
        </p:nvSpPr>
        <p:spPr>
          <a:xfrm>
            <a:off x="1879506" y="601961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通知装货叉车司机装货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34B2658-10CE-40E1-8E8B-C0726803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21" y="5323203"/>
            <a:ext cx="1072989" cy="603556"/>
          </a:xfrm>
          <a:prstGeom prst="rect">
            <a:avLst/>
          </a:prstGeom>
        </p:spPr>
      </p:pic>
      <p:sp>
        <p:nvSpPr>
          <p:cNvPr id="41" name="圆角矩形 139">
            <a:extLst>
              <a:ext uri="{FF2B5EF4-FFF2-40B4-BE49-F238E27FC236}">
                <a16:creationId xmlns:a16="http://schemas.microsoft.com/office/drawing/2014/main" id="{73C33D27-F690-48A3-9775-6E56BF0E04BD}"/>
              </a:ext>
            </a:extLst>
          </p:cNvPr>
          <p:cNvSpPr/>
          <p:nvPr/>
        </p:nvSpPr>
        <p:spPr>
          <a:xfrm>
            <a:off x="9128509" y="2929036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通知司机到发货点装货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831DD0C-6EE0-4624-A5C1-1DC6B00993EB}"/>
              </a:ext>
            </a:extLst>
          </p:cNvPr>
          <p:cNvSpPr/>
          <p:nvPr/>
        </p:nvSpPr>
        <p:spPr>
          <a:xfrm>
            <a:off x="9064236" y="2332071"/>
            <a:ext cx="2333866" cy="57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通知司机发货地点、缴库地点</a:t>
            </a: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39561FBB-FAD8-4267-8568-142DD4D78F85}"/>
              </a:ext>
            </a:extLst>
          </p:cNvPr>
          <p:cNvCxnSpPr>
            <a:cxnSpLocks/>
            <a:stCxn id="41" idx="2"/>
            <a:endCxn id="39" idx="0"/>
          </p:cNvCxnSpPr>
          <p:nvPr/>
        </p:nvCxnSpPr>
        <p:spPr>
          <a:xfrm rot="5400000">
            <a:off x="4646180" y="192873"/>
            <a:ext cx="1818167" cy="8442493"/>
          </a:xfrm>
          <a:prstGeom prst="bentConnector3">
            <a:avLst>
              <a:gd name="adj1" fmla="val 6047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流程图: 决策 47">
            <a:extLst>
              <a:ext uri="{FF2B5EF4-FFF2-40B4-BE49-F238E27FC236}">
                <a16:creationId xmlns:a16="http://schemas.microsoft.com/office/drawing/2014/main" id="{63A32E7C-1695-4BBB-9CF1-A688B612DFB3}"/>
              </a:ext>
            </a:extLst>
          </p:cNvPr>
          <p:cNvSpPr/>
          <p:nvPr/>
        </p:nvSpPr>
        <p:spPr>
          <a:xfrm>
            <a:off x="4354728" y="1243107"/>
            <a:ext cx="1504113" cy="1324280"/>
          </a:xfrm>
          <a:prstGeom prst="flowChartDecisi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缴资材库</a:t>
            </a:r>
          </a:p>
        </p:txBody>
      </p:sp>
      <p:sp>
        <p:nvSpPr>
          <p:cNvPr id="6" name="流程图: 存储数据 5">
            <a:extLst>
              <a:ext uri="{FF2B5EF4-FFF2-40B4-BE49-F238E27FC236}">
                <a16:creationId xmlns:a16="http://schemas.microsoft.com/office/drawing/2014/main" id="{6700DA9E-56B8-4277-9EEF-1BA2B5F3243C}"/>
              </a:ext>
            </a:extLst>
          </p:cNvPr>
          <p:cNvSpPr/>
          <p:nvPr/>
        </p:nvSpPr>
        <p:spPr>
          <a:xfrm>
            <a:off x="6222393" y="2793493"/>
            <a:ext cx="1789208" cy="842107"/>
          </a:xfrm>
          <a:prstGeom prst="flowChartOnlineStorag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厂内短驳任务安排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CADE85C-3FC5-4C3E-ACF7-3A28F52721B9}"/>
              </a:ext>
            </a:extLst>
          </p:cNvPr>
          <p:cNvCxnSpPr>
            <a:stCxn id="71" idx="3"/>
            <a:endCxn id="48" idx="1"/>
          </p:cNvCxnSpPr>
          <p:nvPr/>
        </p:nvCxnSpPr>
        <p:spPr>
          <a:xfrm>
            <a:off x="1736944" y="1905247"/>
            <a:ext cx="261778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2267EFB-1F20-420F-83AD-9A97AEA37B1C}"/>
              </a:ext>
            </a:extLst>
          </p:cNvPr>
          <p:cNvSpPr/>
          <p:nvPr/>
        </p:nvSpPr>
        <p:spPr>
          <a:xfrm>
            <a:off x="507046" y="4030645"/>
            <a:ext cx="1655325" cy="1962480"/>
          </a:xfrm>
          <a:prstGeom prst="round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436E7E0-4A09-448E-A6B2-9E5EEB4E987F}"/>
              </a:ext>
            </a:extLst>
          </p:cNvPr>
          <p:cNvSpPr/>
          <p:nvPr/>
        </p:nvSpPr>
        <p:spPr>
          <a:xfrm>
            <a:off x="596998" y="4089327"/>
            <a:ext cx="149098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现场</a:t>
            </a: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ACB29895-7A35-4561-B8D8-A0E0D74C5694}"/>
              </a:ext>
            </a:extLst>
          </p:cNvPr>
          <p:cNvCxnSpPr>
            <a:cxnSpLocks/>
            <a:stCxn id="48" idx="3"/>
            <a:endCxn id="6" idx="0"/>
          </p:cNvCxnSpPr>
          <p:nvPr/>
        </p:nvCxnSpPr>
        <p:spPr>
          <a:xfrm>
            <a:off x="5858841" y="1905247"/>
            <a:ext cx="1258156" cy="88824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C119673B-1A14-4907-A83C-916F28E84892}"/>
              </a:ext>
            </a:extLst>
          </p:cNvPr>
          <p:cNvCxnSpPr>
            <a:stCxn id="48" idx="2"/>
            <a:endCxn id="65" idx="0"/>
          </p:cNvCxnSpPr>
          <p:nvPr/>
        </p:nvCxnSpPr>
        <p:spPr>
          <a:xfrm rot="5400000">
            <a:off x="2463667" y="1446209"/>
            <a:ext cx="1521940" cy="376429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35B79B1D-8E6A-461D-B628-B952CD7F1E1D}"/>
              </a:ext>
            </a:extLst>
          </p:cNvPr>
          <p:cNvSpPr/>
          <p:nvPr/>
        </p:nvSpPr>
        <p:spPr>
          <a:xfrm>
            <a:off x="5758959" y="1524521"/>
            <a:ext cx="486209" cy="336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58616BA-4729-4E60-AAE1-244C3CD38B08}"/>
              </a:ext>
            </a:extLst>
          </p:cNvPr>
          <p:cNvSpPr/>
          <p:nvPr/>
        </p:nvSpPr>
        <p:spPr>
          <a:xfrm>
            <a:off x="4681888" y="2561475"/>
            <a:ext cx="486209" cy="336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  <p:sp>
        <p:nvSpPr>
          <p:cNvPr id="75" name="六边形 74">
            <a:extLst>
              <a:ext uri="{FF2B5EF4-FFF2-40B4-BE49-F238E27FC236}">
                <a16:creationId xmlns:a16="http://schemas.microsoft.com/office/drawing/2014/main" id="{3F589EDE-C1DE-41D1-8C84-75CC6FCF4E42}"/>
              </a:ext>
            </a:extLst>
          </p:cNvPr>
          <p:cNvSpPr/>
          <p:nvPr/>
        </p:nvSpPr>
        <p:spPr>
          <a:xfrm>
            <a:off x="4503520" y="4230560"/>
            <a:ext cx="1276098" cy="735774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空车过磅</a:t>
            </a: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2AE2D491-4D6D-48DD-80E7-8941034E3A6D}"/>
              </a:ext>
            </a:extLst>
          </p:cNvPr>
          <p:cNvCxnSpPr>
            <a:cxnSpLocks/>
            <a:stCxn id="6" idx="2"/>
            <a:endCxn id="75" idx="4"/>
          </p:cNvCxnSpPr>
          <p:nvPr/>
        </p:nvCxnSpPr>
        <p:spPr>
          <a:xfrm rot="5400000">
            <a:off x="5604751" y="2718314"/>
            <a:ext cx="594960" cy="242953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D2F2A43A-4BD8-4CE2-A906-188E25EA5ABA}"/>
              </a:ext>
            </a:extLst>
          </p:cNvPr>
          <p:cNvSpPr/>
          <p:nvPr/>
        </p:nvSpPr>
        <p:spPr>
          <a:xfrm>
            <a:off x="7190552" y="3665884"/>
            <a:ext cx="1986499" cy="676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缴库单位重量，触发短驳任务给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作为短驳车队过磅基础；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151">
            <a:extLst>
              <a:ext uri="{FF2B5EF4-FFF2-40B4-BE49-F238E27FC236}">
                <a16:creationId xmlns:a16="http://schemas.microsoft.com/office/drawing/2014/main" id="{9B73677E-89CA-46E3-9601-A4141D708A8E}"/>
              </a:ext>
            </a:extLst>
          </p:cNvPr>
          <p:cNvSpPr/>
          <p:nvPr/>
        </p:nvSpPr>
        <p:spPr>
          <a:xfrm>
            <a:off x="9206520" y="5441900"/>
            <a:ext cx="1080000" cy="432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缴库地点</a:t>
            </a:r>
          </a:p>
        </p:txBody>
      </p:sp>
      <p:sp>
        <p:nvSpPr>
          <p:cNvPr id="85" name="圆角矩形 139">
            <a:extLst>
              <a:ext uri="{FF2B5EF4-FFF2-40B4-BE49-F238E27FC236}">
                <a16:creationId xmlns:a16="http://schemas.microsoft.com/office/drawing/2014/main" id="{CB2DD374-3F32-4AEF-B399-43542CDE6F1E}"/>
              </a:ext>
            </a:extLst>
          </p:cNvPr>
          <p:cNvSpPr/>
          <p:nvPr/>
        </p:nvSpPr>
        <p:spPr>
          <a:xfrm>
            <a:off x="10198862" y="5128585"/>
            <a:ext cx="1381808" cy="540060"/>
          </a:xfrm>
          <a:prstGeom prst="round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卸货录影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2D3AA20-C48E-4FEB-9043-E3079BA5E4BD}"/>
              </a:ext>
            </a:extLst>
          </p:cNvPr>
          <p:cNvCxnSpPr>
            <a:cxnSpLocks/>
          </p:cNvCxnSpPr>
          <p:nvPr/>
        </p:nvCxnSpPr>
        <p:spPr>
          <a:xfrm flipV="1">
            <a:off x="2012693" y="5653458"/>
            <a:ext cx="7164358" cy="151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图片 92">
            <a:extLst>
              <a:ext uri="{FF2B5EF4-FFF2-40B4-BE49-F238E27FC236}">
                <a16:creationId xmlns:a16="http://schemas.microsoft.com/office/drawing/2014/main" id="{E9A1B008-FC72-42C2-A534-4EE28BA7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04" y="4838344"/>
            <a:ext cx="1072989" cy="603556"/>
          </a:xfrm>
          <a:prstGeom prst="rect">
            <a:avLst/>
          </a:prstGeom>
        </p:spPr>
      </p:pic>
      <p:sp>
        <p:nvSpPr>
          <p:cNvPr id="94" name="圆角矩形 139">
            <a:extLst>
              <a:ext uri="{FF2B5EF4-FFF2-40B4-BE49-F238E27FC236}">
                <a16:creationId xmlns:a16="http://schemas.microsoft.com/office/drawing/2014/main" id="{F150A9CD-2B5E-4504-850C-9FB01DC49E8C}"/>
              </a:ext>
            </a:extLst>
          </p:cNvPr>
          <p:cNvSpPr/>
          <p:nvPr/>
        </p:nvSpPr>
        <p:spPr>
          <a:xfrm>
            <a:off x="10012128" y="4554150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通知卸货叉车司机卸货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F3C625-72A5-4238-9281-F202DB70700B}"/>
              </a:ext>
            </a:extLst>
          </p:cNvPr>
          <p:cNvSpPr/>
          <p:nvPr/>
        </p:nvSpPr>
        <p:spPr>
          <a:xfrm>
            <a:off x="113622" y="39064"/>
            <a:ext cx="11284480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厂内缴库业务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待讨论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2F1F041-625D-4CCC-BBB0-6ECD9CA9CAD7}"/>
              </a:ext>
            </a:extLst>
          </p:cNvPr>
          <p:cNvSpPr/>
          <p:nvPr/>
        </p:nvSpPr>
        <p:spPr>
          <a:xfrm>
            <a:off x="4441275" y="4138818"/>
            <a:ext cx="1368000" cy="1944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85F97B9-A8EC-2FF4-93DB-7B7990199065}"/>
              </a:ext>
            </a:extLst>
          </p:cNvPr>
          <p:cNvCxnSpPr>
            <a:cxnSpLocks/>
            <a:stCxn id="6" idx="3"/>
            <a:endCxn id="41" idx="1"/>
          </p:cNvCxnSpPr>
          <p:nvPr/>
        </p:nvCxnSpPr>
        <p:spPr>
          <a:xfrm>
            <a:off x="7713400" y="3214547"/>
            <a:ext cx="1415109" cy="24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7F0971C-7A9A-CBC1-2DDB-442C0B4E07D9}"/>
              </a:ext>
            </a:extLst>
          </p:cNvPr>
          <p:cNvSpPr/>
          <p:nvPr/>
        </p:nvSpPr>
        <p:spPr>
          <a:xfrm>
            <a:off x="4223990" y="6034747"/>
            <a:ext cx="7356680" cy="6350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以重量为单位缴库者，要不要 过磅称重？ 还是发货出厂再过磅扣重 ？</a:t>
            </a:r>
            <a:endParaRPr lang="en-US" altLang="zh-CN" sz="160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六边形 77">
            <a:extLst>
              <a:ext uri="{FF2B5EF4-FFF2-40B4-BE49-F238E27FC236}">
                <a16:creationId xmlns:a16="http://schemas.microsoft.com/office/drawing/2014/main" id="{00C3AE98-53BE-4D9F-8FFC-069CD2C09112}"/>
              </a:ext>
            </a:extLst>
          </p:cNvPr>
          <p:cNvSpPr/>
          <p:nvPr/>
        </p:nvSpPr>
        <p:spPr>
          <a:xfrm>
            <a:off x="4503520" y="5285571"/>
            <a:ext cx="1276098" cy="735774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重车过磅</a:t>
            </a:r>
          </a:p>
        </p:txBody>
      </p:sp>
    </p:spTree>
    <p:extLst>
      <p:ext uri="{BB962C8B-B14F-4D97-AF65-F5344CB8AC3E}">
        <p14:creationId xmlns:p14="http://schemas.microsoft.com/office/powerpoint/2010/main" val="222360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83" grpId="0" animBg="1"/>
      <p:bldP spid="38" grpId="0" animBg="1"/>
      <p:bldP spid="2" grpId="0"/>
      <p:bldP spid="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CB8C-0E8F-FED1-C0B1-DF275DBD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ED9E332-249F-45D7-1584-B896287F4B09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</a:t>
            </a:r>
            <a:r>
              <a:rPr lang="en-US" altLang="zh-CN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733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端到端规划  打通前后作业（待讨论）</a:t>
            </a:r>
            <a:endParaRPr lang="zh-CN" altLang="en-US" sz="3733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945963-0CDF-7900-653C-535A1C851D41}"/>
              </a:ext>
            </a:extLst>
          </p:cNvPr>
          <p:cNvSpPr/>
          <p:nvPr/>
        </p:nvSpPr>
        <p:spPr>
          <a:xfrm>
            <a:off x="2044812" y="1147138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sp>
        <p:nvSpPr>
          <p:cNvPr id="24" name="流程图: 预定义过程 23">
            <a:extLst>
              <a:ext uri="{FF2B5EF4-FFF2-40B4-BE49-F238E27FC236}">
                <a16:creationId xmlns:a16="http://schemas.microsoft.com/office/drawing/2014/main" id="{5800F206-E4C4-E9F8-228D-CEDFF16F27A9}"/>
              </a:ext>
            </a:extLst>
          </p:cNvPr>
          <p:cNvSpPr/>
          <p:nvPr/>
        </p:nvSpPr>
        <p:spPr>
          <a:xfrm>
            <a:off x="2044812" y="2141592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68F71ED-A600-2CE1-46DA-37E10C74ACB7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692812" y="1723138"/>
            <a:ext cx="0" cy="418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ED840CC3-4AA9-90BA-314A-9CB6788274EB}"/>
              </a:ext>
            </a:extLst>
          </p:cNvPr>
          <p:cNvCxnSpPr/>
          <p:nvPr/>
        </p:nvCxnSpPr>
        <p:spPr>
          <a:xfrm>
            <a:off x="76912" y="3454262"/>
            <a:ext cx="12115088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AE5B00D4-7384-92A7-3E03-D2EED67328AD}"/>
              </a:ext>
            </a:extLst>
          </p:cNvPr>
          <p:cNvSpPr/>
          <p:nvPr/>
        </p:nvSpPr>
        <p:spPr>
          <a:xfrm>
            <a:off x="551273" y="2007567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B59EB72-A443-A682-34F3-B2691C17B288}"/>
              </a:ext>
            </a:extLst>
          </p:cNvPr>
          <p:cNvSpPr/>
          <p:nvPr/>
        </p:nvSpPr>
        <p:spPr>
          <a:xfrm>
            <a:off x="551273" y="4671455"/>
            <a:ext cx="1080000" cy="453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D32D28D-5BF1-9D46-E7B4-8BE2E3AE2B4E}"/>
              </a:ext>
            </a:extLst>
          </p:cNvPr>
          <p:cNvSpPr/>
          <p:nvPr/>
        </p:nvSpPr>
        <p:spPr>
          <a:xfrm>
            <a:off x="8739169" y="1147138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缴库需求</a:t>
            </a:r>
          </a:p>
        </p:txBody>
      </p:sp>
      <p:sp>
        <p:nvSpPr>
          <p:cNvPr id="4" name="流程图: 预定义过程 3">
            <a:extLst>
              <a:ext uri="{FF2B5EF4-FFF2-40B4-BE49-F238E27FC236}">
                <a16:creationId xmlns:a16="http://schemas.microsoft.com/office/drawing/2014/main" id="{81E10A3C-5031-143B-F740-C6E255B37264}"/>
              </a:ext>
            </a:extLst>
          </p:cNvPr>
          <p:cNvSpPr/>
          <p:nvPr/>
        </p:nvSpPr>
        <p:spPr>
          <a:xfrm>
            <a:off x="8739169" y="2129401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厂内缴库作业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DC7C13-CD2E-1B5A-54A2-A6461D005088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9387169" y="1723138"/>
            <a:ext cx="0" cy="4062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箭头: 左右 8">
            <a:extLst>
              <a:ext uri="{FF2B5EF4-FFF2-40B4-BE49-F238E27FC236}">
                <a16:creationId xmlns:a16="http://schemas.microsoft.com/office/drawing/2014/main" id="{11F484EC-D3E2-EBAE-1AA2-E8540B3697AB}"/>
              </a:ext>
            </a:extLst>
          </p:cNvPr>
          <p:cNvSpPr/>
          <p:nvPr/>
        </p:nvSpPr>
        <p:spPr>
          <a:xfrm>
            <a:off x="4116745" y="2269138"/>
            <a:ext cx="4032000" cy="620526"/>
          </a:xfrm>
          <a:prstGeom prst="leftRightArrow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没有关联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45DE38B-8E02-4549-6574-AAAC561F4297}"/>
              </a:ext>
            </a:extLst>
          </p:cNvPr>
          <p:cNvSpPr/>
          <p:nvPr/>
        </p:nvSpPr>
        <p:spPr>
          <a:xfrm>
            <a:off x="2044812" y="4189503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领用需求</a:t>
            </a:r>
          </a:p>
        </p:txBody>
      </p:sp>
      <p:sp>
        <p:nvSpPr>
          <p:cNvPr id="20" name="流程图: 预定义过程 19">
            <a:extLst>
              <a:ext uri="{FF2B5EF4-FFF2-40B4-BE49-F238E27FC236}">
                <a16:creationId xmlns:a16="http://schemas.microsoft.com/office/drawing/2014/main" id="{1532A1BD-D84C-C7D6-11B3-8AEE76939609}"/>
              </a:ext>
            </a:extLst>
          </p:cNvPr>
          <p:cNvSpPr/>
          <p:nvPr/>
        </p:nvSpPr>
        <p:spPr>
          <a:xfrm>
            <a:off x="2044812" y="5189592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厂内配送作业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A358B94-CAB3-2094-CEF6-6A4366C39837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692812" y="4771138"/>
            <a:ext cx="0" cy="418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FC13DA0-B8E6-6D3F-B13F-46497CDFCE82}"/>
              </a:ext>
            </a:extLst>
          </p:cNvPr>
          <p:cNvSpPr/>
          <p:nvPr/>
        </p:nvSpPr>
        <p:spPr>
          <a:xfrm>
            <a:off x="8739169" y="4189503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缴库需求</a:t>
            </a:r>
          </a:p>
        </p:txBody>
      </p:sp>
      <p:sp>
        <p:nvSpPr>
          <p:cNvPr id="29" name="流程图: 预定义过程 28">
            <a:extLst>
              <a:ext uri="{FF2B5EF4-FFF2-40B4-BE49-F238E27FC236}">
                <a16:creationId xmlns:a16="http://schemas.microsoft.com/office/drawing/2014/main" id="{02D52825-469F-BFC9-82C4-F593FECCC47E}"/>
              </a:ext>
            </a:extLst>
          </p:cNvPr>
          <p:cNvSpPr/>
          <p:nvPr/>
        </p:nvSpPr>
        <p:spPr>
          <a:xfrm>
            <a:off x="8739169" y="5177401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厂内缴库作业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6E7096F-44F2-06DC-208F-F0FD418EF76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387169" y="4771138"/>
            <a:ext cx="0" cy="4062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菱形 31">
            <a:extLst>
              <a:ext uri="{FF2B5EF4-FFF2-40B4-BE49-F238E27FC236}">
                <a16:creationId xmlns:a16="http://schemas.microsoft.com/office/drawing/2014/main" id="{9241613C-380C-B0D0-2D6F-B6BECD73334F}"/>
              </a:ext>
            </a:extLst>
          </p:cNvPr>
          <p:cNvSpPr/>
          <p:nvPr/>
        </p:nvSpPr>
        <p:spPr>
          <a:xfrm>
            <a:off x="4235451" y="3829503"/>
            <a:ext cx="1656000" cy="1296000"/>
          </a:xfrm>
          <a:prstGeom prst="diamond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以旧换新？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4AD2106-C263-889B-542A-A21C297AE26A}"/>
              </a:ext>
            </a:extLst>
          </p:cNvPr>
          <p:cNvCxnSpPr>
            <a:stCxn id="19" idx="3"/>
            <a:endCxn id="32" idx="1"/>
          </p:cNvCxnSpPr>
          <p:nvPr/>
        </p:nvCxnSpPr>
        <p:spPr>
          <a:xfrm>
            <a:off x="3340812" y="4477503"/>
            <a:ext cx="8946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109BCAF-256F-A296-C03A-01E263626FDC}"/>
              </a:ext>
            </a:extLst>
          </p:cNvPr>
          <p:cNvCxnSpPr>
            <a:cxnSpLocks/>
            <a:stCxn id="32" idx="3"/>
            <a:endCxn id="43" idx="1"/>
          </p:cNvCxnSpPr>
          <p:nvPr/>
        </p:nvCxnSpPr>
        <p:spPr>
          <a:xfrm>
            <a:off x="5891451" y="4477503"/>
            <a:ext cx="7758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372F127-576B-184A-EB75-DC676B817EEF}"/>
              </a:ext>
            </a:extLst>
          </p:cNvPr>
          <p:cNvSpPr/>
          <p:nvPr/>
        </p:nvSpPr>
        <p:spPr>
          <a:xfrm>
            <a:off x="6667310" y="4189503"/>
            <a:ext cx="1296000" cy="57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缴库计划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70C919E-84D3-7712-3DA6-B5CBEA7240AE}"/>
              </a:ext>
            </a:extLst>
          </p:cNvPr>
          <p:cNvCxnSpPr>
            <a:cxnSpLocks/>
            <a:stCxn id="43" idx="3"/>
            <a:endCxn id="26" idx="1"/>
          </p:cNvCxnSpPr>
          <p:nvPr/>
        </p:nvCxnSpPr>
        <p:spPr>
          <a:xfrm>
            <a:off x="7963310" y="4477503"/>
            <a:ext cx="7758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21EA0438-4B42-3446-CC6B-E645A98EE763}"/>
              </a:ext>
            </a:extLst>
          </p:cNvPr>
          <p:cNvSpPr/>
          <p:nvPr/>
        </p:nvSpPr>
        <p:spPr>
          <a:xfrm>
            <a:off x="5764837" y="4227481"/>
            <a:ext cx="350032" cy="3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流程图: 预定义过程 52">
            <a:extLst>
              <a:ext uri="{FF2B5EF4-FFF2-40B4-BE49-F238E27FC236}">
                <a16:creationId xmlns:a16="http://schemas.microsoft.com/office/drawing/2014/main" id="{908DDB23-BE2D-FC37-EBCE-E587BEE851BF}"/>
              </a:ext>
            </a:extLst>
          </p:cNvPr>
          <p:cNvSpPr/>
          <p:nvPr/>
        </p:nvSpPr>
        <p:spPr>
          <a:xfrm>
            <a:off x="10694969" y="5189592"/>
            <a:ext cx="1296000" cy="900000"/>
          </a:xfrm>
          <a:prstGeom prst="flowChartPredefined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缴库备品管理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ED9CB44-53A1-6193-7458-52D9A43F9A56}"/>
              </a:ext>
            </a:extLst>
          </p:cNvPr>
          <p:cNvCxnSpPr>
            <a:stCxn id="29" idx="3"/>
            <a:endCxn id="53" idx="1"/>
          </p:cNvCxnSpPr>
          <p:nvPr/>
        </p:nvCxnSpPr>
        <p:spPr>
          <a:xfrm>
            <a:off x="10035169" y="5627401"/>
            <a:ext cx="659800" cy="121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889FF3AA-31AF-10AB-AA19-EA012D57EB10}"/>
              </a:ext>
            </a:extLst>
          </p:cNvPr>
          <p:cNvSpPr/>
          <p:nvPr/>
        </p:nvSpPr>
        <p:spPr>
          <a:xfrm>
            <a:off x="4024225" y="5191225"/>
            <a:ext cx="2333866" cy="57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备品类可设置以旧换新来触发缴库计划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C377FCF-1747-6EE3-505B-1C9645D164EB}"/>
              </a:ext>
            </a:extLst>
          </p:cNvPr>
          <p:cNvSpPr/>
          <p:nvPr/>
        </p:nvSpPr>
        <p:spPr>
          <a:xfrm>
            <a:off x="10694968" y="6159893"/>
            <a:ext cx="1497031" cy="57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对比领用与缴库关联</a:t>
            </a:r>
          </a:p>
        </p:txBody>
      </p:sp>
    </p:spTree>
    <p:extLst>
      <p:ext uri="{BB962C8B-B14F-4D97-AF65-F5344CB8AC3E}">
        <p14:creationId xmlns:p14="http://schemas.microsoft.com/office/powerpoint/2010/main" val="2409557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2E63-2984-D66B-4553-219978BA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A6BEABE-676B-43CB-3985-447F1E06C640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智能柜运用 提高无人值守率</a:t>
            </a:r>
            <a:endParaRPr lang="zh-CN" altLang="en-US" sz="3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图片包含 建筑, 小, 大, 电脑&#10;&#10;AI 生成的内容可能不正确。">
            <a:extLst>
              <a:ext uri="{FF2B5EF4-FFF2-40B4-BE49-F238E27FC236}">
                <a16:creationId xmlns:a16="http://schemas.microsoft.com/office/drawing/2014/main" id="{45760451-D351-E110-8D0A-71A58ADB3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99" y="1479137"/>
            <a:ext cx="5512351" cy="4134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AA91A5-046C-E6D5-AF2F-B01044F0CD9C}"/>
              </a:ext>
            </a:extLst>
          </p:cNvPr>
          <p:cNvSpPr/>
          <p:nvPr/>
        </p:nvSpPr>
        <p:spPr>
          <a:xfrm>
            <a:off x="5884439" y="827867"/>
            <a:ext cx="6136458" cy="584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用户至仓库取料：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仓储提前将用户取料下架，放在智能柜，用户自行取货，减少仓储值守投入；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配送现场交接：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资材将物料送到现场智能柜，完成交接，减少彼此交接等待时间；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缴库作业：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现场可将缴库物料放在智能柜，资材配送时同步领回缴库；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采购收货：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在厂区大门设置智能柜，对于计件物料，供应商可以直接放在智能柜完成送货业务；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202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3B4A-C6C2-6EE9-FD97-C2739F878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A0287AD-D45C-1C9C-6030-4F6C68B54094}"/>
              </a:ext>
            </a:extLst>
          </p:cNvPr>
          <p:cNvSpPr/>
          <p:nvPr/>
        </p:nvSpPr>
        <p:spPr>
          <a:xfrm>
            <a:off x="171103" y="22927"/>
            <a:ext cx="11921655" cy="80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智能交接模式  提高无人值守率</a:t>
            </a:r>
            <a:endParaRPr lang="zh-CN" altLang="en-US" sz="3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图片包含 建筑, 小, 大, 电脑&#10;&#10;AI 生成的内容可能不正确。">
            <a:extLst>
              <a:ext uri="{FF2B5EF4-FFF2-40B4-BE49-F238E27FC236}">
                <a16:creationId xmlns:a16="http://schemas.microsoft.com/office/drawing/2014/main" id="{2208A6EF-1E22-052B-9AF0-4ED16F89C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" y="1104900"/>
            <a:ext cx="5290700" cy="4320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A57D8A0-71D5-21FE-DB86-045B5E8A94BE}"/>
              </a:ext>
            </a:extLst>
          </p:cNvPr>
          <p:cNvSpPr/>
          <p:nvPr/>
        </p:nvSpPr>
        <p:spPr>
          <a:xfrm>
            <a:off x="1371601" y="5464991"/>
            <a:ext cx="2273300" cy="57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小件智能柜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2D258D-2628-3669-5D8B-66A1340480CF}"/>
              </a:ext>
            </a:extLst>
          </p:cNvPr>
          <p:cNvSpPr/>
          <p:nvPr/>
        </p:nvSpPr>
        <p:spPr>
          <a:xfrm>
            <a:off x="6769768" y="5464991"/>
            <a:ext cx="3192379" cy="79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大件划交接区域</a:t>
            </a:r>
          </a:p>
        </p:txBody>
      </p:sp>
      <p:pic>
        <p:nvPicPr>
          <p:cNvPr id="11" name="图片 10" descr="图片包含 室内, 运动, 建筑, 体育&#10;&#10;AI 生成的内容可能不正确。">
            <a:extLst>
              <a:ext uri="{FF2B5EF4-FFF2-40B4-BE49-F238E27FC236}">
                <a16:creationId xmlns:a16="http://schemas.microsoft.com/office/drawing/2014/main" id="{C1421E9E-01AE-EFD9-3930-7587CC141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768" y="1104900"/>
            <a:ext cx="6268932" cy="43200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5A4E71-A64D-B6A5-57BE-C69B9D30D46A}"/>
              </a:ext>
            </a:extLst>
          </p:cNvPr>
          <p:cNvGrpSpPr/>
          <p:nvPr/>
        </p:nvGrpSpPr>
        <p:grpSpPr>
          <a:xfrm>
            <a:off x="6238650" y="3645814"/>
            <a:ext cx="1080000" cy="1656000"/>
            <a:chOff x="6286500" y="3801947"/>
            <a:chExt cx="744537" cy="125465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8A77A9E-FA92-5302-ABF9-DA9491C40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A3726DA-FB11-F4F9-F11A-C5EC2359938F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50840E1-4AED-17F4-182B-0FE938D453CA}"/>
              </a:ext>
            </a:extLst>
          </p:cNvPr>
          <p:cNvGrpSpPr/>
          <p:nvPr/>
        </p:nvGrpSpPr>
        <p:grpSpPr>
          <a:xfrm>
            <a:off x="8649663" y="3531139"/>
            <a:ext cx="1080000" cy="1656000"/>
            <a:chOff x="6286500" y="3801947"/>
            <a:chExt cx="744537" cy="1254654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2A4D0E88-6CD8-7931-1B8F-C32074029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933A7F3F-F3AA-8BDA-76AC-8CB3C252581E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89B22B-40F0-3801-3F6F-4957D0C718CF}"/>
              </a:ext>
            </a:extLst>
          </p:cNvPr>
          <p:cNvGrpSpPr/>
          <p:nvPr/>
        </p:nvGrpSpPr>
        <p:grpSpPr>
          <a:xfrm>
            <a:off x="10520676" y="3029018"/>
            <a:ext cx="1080000" cy="1656000"/>
            <a:chOff x="6286500" y="3801947"/>
            <a:chExt cx="744537" cy="1254654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559AB55B-E052-DA0F-8D15-5045E2C82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0" y="3801947"/>
              <a:ext cx="744537" cy="1254654"/>
            </a:xfrm>
            <a:prstGeom prst="rect">
              <a:avLst/>
            </a:prstGeom>
          </p:spPr>
        </p:pic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52C3799-24B3-5EB0-61F2-B843B84DC6C1}"/>
                </a:ext>
              </a:extLst>
            </p:cNvPr>
            <p:cNvSpPr/>
            <p:nvPr/>
          </p:nvSpPr>
          <p:spPr>
            <a:xfrm>
              <a:off x="6373276" y="3847208"/>
              <a:ext cx="599406" cy="32416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9889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70"/>
          <p:cNvSpPr>
            <a:spLocks noChangeArrowheads="1"/>
          </p:cNvSpPr>
          <p:nvPr/>
        </p:nvSpPr>
        <p:spPr bwMode="auto">
          <a:xfrm>
            <a:off x="4391607" y="901700"/>
            <a:ext cx="7680325" cy="5938838"/>
          </a:xfrm>
          <a:prstGeom prst="rect">
            <a:avLst/>
          </a:prstGeom>
          <a:solidFill>
            <a:srgbClr val="FF0000">
              <a:alpha val="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FFFFFF"/>
              </a:solidFill>
            </a:endParaRPr>
          </a:p>
        </p:txBody>
      </p:sp>
      <p:sp>
        <p:nvSpPr>
          <p:cNvPr id="4099" name="矩形 70"/>
          <p:cNvSpPr>
            <a:spLocks noChangeArrowheads="1"/>
          </p:cNvSpPr>
          <p:nvPr/>
        </p:nvSpPr>
        <p:spPr bwMode="auto">
          <a:xfrm>
            <a:off x="1959557" y="911225"/>
            <a:ext cx="2433637" cy="5940425"/>
          </a:xfrm>
          <a:prstGeom prst="rect">
            <a:avLst/>
          </a:prstGeom>
          <a:solidFill>
            <a:srgbClr val="00B0F0">
              <a:alpha val="1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FFFFFF"/>
              </a:solidFill>
            </a:endParaRPr>
          </a:p>
        </p:txBody>
      </p:sp>
      <p:cxnSp>
        <p:nvCxnSpPr>
          <p:cNvPr id="91" name="肘形连接符 90"/>
          <p:cNvCxnSpPr/>
          <p:nvPr/>
        </p:nvCxnSpPr>
        <p:spPr>
          <a:xfrm>
            <a:off x="1702382" y="1336675"/>
            <a:ext cx="542925" cy="158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8"/>
          <p:cNvSpPr>
            <a:spLocks noChangeArrowheads="1"/>
          </p:cNvSpPr>
          <p:nvPr/>
        </p:nvSpPr>
        <p:spPr bwMode="auto">
          <a:xfrm>
            <a:off x="1888119" y="1571625"/>
            <a:ext cx="28178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根据供应商预约内容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a.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提供对应物料所属库存地点</a:t>
            </a:r>
          </a:p>
        </p:txBody>
      </p:sp>
      <p:cxnSp>
        <p:nvCxnSpPr>
          <p:cNvPr id="94" name="肘形连接符 93"/>
          <p:cNvCxnSpPr/>
          <p:nvPr/>
        </p:nvCxnSpPr>
        <p:spPr>
          <a:xfrm flipV="1">
            <a:off x="1707144" y="1336675"/>
            <a:ext cx="4451350" cy="865188"/>
          </a:xfrm>
          <a:prstGeom prst="bentConnector3">
            <a:avLst>
              <a:gd name="adj1" fmla="val 742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/>
          <p:cNvCxnSpPr/>
          <p:nvPr/>
        </p:nvCxnSpPr>
        <p:spPr>
          <a:xfrm rot="5400000">
            <a:off x="5504444" y="1651000"/>
            <a:ext cx="1122363" cy="10080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肘形连接符 95"/>
          <p:cNvCxnSpPr/>
          <p:nvPr/>
        </p:nvCxnSpPr>
        <p:spPr>
          <a:xfrm rot="5400000">
            <a:off x="783219" y="3478213"/>
            <a:ext cx="498475" cy="3175"/>
          </a:xfrm>
          <a:prstGeom prst="bentConnector3">
            <a:avLst>
              <a:gd name="adj1" fmla="val 499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8"/>
          <p:cNvSpPr>
            <a:spLocks noChangeArrowheads="1"/>
          </p:cNvSpPr>
          <p:nvPr/>
        </p:nvSpPr>
        <p:spPr bwMode="auto">
          <a:xfrm>
            <a:off x="6144206" y="4241799"/>
            <a:ext cx="2625725" cy="784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叉车司机扫描预约单二维码代表开始装货。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作业平台状态显示忙碌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通知 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ATMS 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开始作业</a:t>
            </a:r>
          </a:p>
        </p:txBody>
      </p:sp>
      <p:cxnSp>
        <p:nvCxnSpPr>
          <p:cNvPr id="98" name="肘形连接符 97"/>
          <p:cNvCxnSpPr>
            <a:endCxn id="41" idx="1"/>
          </p:cNvCxnSpPr>
          <p:nvPr/>
        </p:nvCxnSpPr>
        <p:spPr>
          <a:xfrm>
            <a:off x="8180969" y="3979863"/>
            <a:ext cx="706438" cy="1587"/>
          </a:xfrm>
          <a:prstGeom prst="bentConnector3">
            <a:avLst>
              <a:gd name="adj1" fmla="val 500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8"/>
          <p:cNvSpPr>
            <a:spLocks noChangeArrowheads="1"/>
          </p:cNvSpPr>
          <p:nvPr/>
        </p:nvSpPr>
        <p:spPr bwMode="auto">
          <a:xfrm>
            <a:off x="1698888" y="3052761"/>
            <a:ext cx="2622235" cy="856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装货司机确认装货地点时系统自动触发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ATMS 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签到、集散点报到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每辆车按装货仓库作业区域排队领任务</a:t>
            </a:r>
          </a:p>
        </p:txBody>
      </p:sp>
      <p:sp>
        <p:nvSpPr>
          <p:cNvPr id="116" name="矩形 8"/>
          <p:cNvSpPr>
            <a:spLocks noChangeArrowheads="1"/>
          </p:cNvSpPr>
          <p:nvPr/>
        </p:nvSpPr>
        <p:spPr bwMode="auto">
          <a:xfrm>
            <a:off x="10495544" y="4321175"/>
            <a:ext cx="15176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获取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ATMS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预约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HU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信息，无需组托，直接扫栈板码确认发货下架。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7" name="矩形 8"/>
          <p:cNvSpPr>
            <a:spLocks noChangeArrowheads="1"/>
          </p:cNvSpPr>
          <p:nvPr/>
        </p:nvSpPr>
        <p:spPr bwMode="auto">
          <a:xfrm>
            <a:off x="8231769" y="5338875"/>
            <a:ext cx="3206950" cy="748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叉车司机使用控制塔移动设备填写签收数量、下架仓位后提交。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用户提交后变更作业平台状态为空闲。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通知 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ATMS 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作业结束</a:t>
            </a:r>
          </a:p>
          <a:p>
            <a:pPr>
              <a:defRPr/>
            </a:pP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18" name="肘形连接符 117"/>
          <p:cNvCxnSpPr/>
          <p:nvPr/>
        </p:nvCxnSpPr>
        <p:spPr>
          <a:xfrm rot="5400000">
            <a:off x="9128707" y="3395662"/>
            <a:ext cx="1104900" cy="27908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肘形连接符 118"/>
          <p:cNvCxnSpPr/>
          <p:nvPr/>
        </p:nvCxnSpPr>
        <p:spPr>
          <a:xfrm rot="5400000">
            <a:off x="7121313" y="3375819"/>
            <a:ext cx="488950" cy="207962"/>
          </a:xfrm>
          <a:prstGeom prst="bentConnector3">
            <a:avLst>
              <a:gd name="adj1" fmla="val 5006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肘形连接符 119"/>
          <p:cNvCxnSpPr>
            <a:stCxn id="41" idx="2"/>
          </p:cNvCxnSpPr>
          <p:nvPr/>
        </p:nvCxnSpPr>
        <p:spPr>
          <a:xfrm rot="5400000">
            <a:off x="9246181" y="4418013"/>
            <a:ext cx="384175" cy="0"/>
          </a:xfrm>
          <a:prstGeom prst="bentConnector3">
            <a:avLst>
              <a:gd name="adj1" fmla="val 50083"/>
            </a:avLst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126"/>
          <p:cNvCxnSpPr/>
          <p:nvPr/>
        </p:nvCxnSpPr>
        <p:spPr>
          <a:xfrm rot="5400000">
            <a:off x="8751676" y="4656931"/>
            <a:ext cx="220662" cy="1152525"/>
          </a:xfrm>
          <a:prstGeom prst="bentConnector2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8"/>
          <p:cNvSpPr>
            <a:spLocks noChangeArrowheads="1"/>
          </p:cNvSpPr>
          <p:nvPr/>
        </p:nvSpPr>
        <p:spPr bwMode="auto">
          <a:xfrm flipH="1">
            <a:off x="9476369" y="4321175"/>
            <a:ext cx="406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zh-CN" altLang="en-US" b="0" dirty="0">
                <a:solidFill>
                  <a:srgbClr val="FF0000"/>
                </a:solidFill>
                <a:latin typeface="+mn-ea"/>
                <a:ea typeface="+mn-ea"/>
              </a:rPr>
              <a:t>无</a:t>
            </a:r>
          </a:p>
        </p:txBody>
      </p:sp>
      <p:sp>
        <p:nvSpPr>
          <p:cNvPr id="133" name="矩形 8"/>
          <p:cNvSpPr>
            <a:spLocks noChangeArrowheads="1"/>
          </p:cNvSpPr>
          <p:nvPr/>
        </p:nvSpPr>
        <p:spPr bwMode="auto">
          <a:xfrm>
            <a:off x="9957382" y="3743325"/>
            <a:ext cx="352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zh-CN" altLang="en-US" b="0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</a:rPr>
              <a:t>有</a:t>
            </a:r>
          </a:p>
        </p:txBody>
      </p:sp>
      <p:grpSp>
        <p:nvGrpSpPr>
          <p:cNvPr id="4116" name="组合 134"/>
          <p:cNvGrpSpPr/>
          <p:nvPr/>
        </p:nvGrpSpPr>
        <p:grpSpPr bwMode="auto">
          <a:xfrm>
            <a:off x="238707" y="855663"/>
            <a:ext cx="1463675" cy="738187"/>
            <a:chOff x="1868350" y="1866272"/>
            <a:chExt cx="1464462" cy="738409"/>
          </a:xfrm>
        </p:grpSpPr>
        <p:sp>
          <p:nvSpPr>
            <p:cNvPr id="136" name="圆角矩形 135"/>
            <p:cNvSpPr/>
            <p:nvPr/>
          </p:nvSpPr>
          <p:spPr>
            <a:xfrm>
              <a:off x="2001804" y="2091690"/>
              <a:ext cx="1331008" cy="512991"/>
            </a:xfrm>
            <a:prstGeom prst="round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供应商</a:t>
              </a:r>
              <a:endParaRPr lang="en-US" altLang="zh-CN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algn="ctr"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预约提货</a:t>
              </a:r>
            </a:p>
          </p:txBody>
        </p:sp>
        <p:pic>
          <p:nvPicPr>
            <p:cNvPr id="4237" name="图片 1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509" y="1939799"/>
              <a:ext cx="194670" cy="331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38" name="Oval 123"/>
            <p:cNvSpPr>
              <a:spLocks noChangeArrowheads="1"/>
            </p:cNvSpPr>
            <p:nvPr/>
          </p:nvSpPr>
          <p:spPr bwMode="auto">
            <a:xfrm>
              <a:off x="1868350" y="1866272"/>
              <a:ext cx="360000" cy="360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</p:grpSp>
      <p:sp>
        <p:nvSpPr>
          <p:cNvPr id="140" name="圆角矩形 139"/>
          <p:cNvSpPr/>
          <p:nvPr/>
        </p:nvSpPr>
        <p:spPr>
          <a:xfrm>
            <a:off x="2244989" y="108140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物料预拣配</a:t>
            </a:r>
          </a:p>
        </p:txBody>
      </p:sp>
      <p:sp>
        <p:nvSpPr>
          <p:cNvPr id="148" name="圆角矩形 147"/>
          <p:cNvSpPr/>
          <p:nvPr/>
        </p:nvSpPr>
        <p:spPr>
          <a:xfrm>
            <a:off x="5904494" y="108013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计算最佳的</a:t>
            </a:r>
            <a:endParaRPr lang="en-US" altLang="zh-CN" sz="14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装货仓库</a:t>
            </a:r>
          </a:p>
        </p:txBody>
      </p:sp>
      <p:sp>
        <p:nvSpPr>
          <p:cNvPr id="157" name="圆角矩形 156"/>
          <p:cNvSpPr/>
          <p:nvPr/>
        </p:nvSpPr>
        <p:spPr>
          <a:xfrm>
            <a:off x="367929" y="271716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车辆 </a:t>
            </a:r>
            <a:r>
              <a:rPr lang="en-US" altLang="zh-CN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ATMS </a:t>
            </a: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签到、集散点报到</a:t>
            </a:r>
          </a:p>
        </p:txBody>
      </p:sp>
      <p:sp>
        <p:nvSpPr>
          <p:cNvPr id="161" name="圆角矩形 160"/>
          <p:cNvSpPr/>
          <p:nvPr/>
        </p:nvSpPr>
        <p:spPr>
          <a:xfrm>
            <a:off x="366024" y="372935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叫号</a:t>
            </a:r>
          </a:p>
        </p:txBody>
      </p:sp>
      <p:sp>
        <p:nvSpPr>
          <p:cNvPr id="165" name="圆角矩形 164"/>
          <p:cNvSpPr/>
          <p:nvPr/>
        </p:nvSpPr>
        <p:spPr>
          <a:xfrm>
            <a:off x="6850009" y="3723640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开始装货</a:t>
            </a:r>
          </a:p>
        </p:txBody>
      </p:sp>
      <p:sp>
        <p:nvSpPr>
          <p:cNvPr id="169" name="圆角矩形 168"/>
          <p:cNvSpPr/>
          <p:nvPr/>
        </p:nvSpPr>
        <p:spPr>
          <a:xfrm>
            <a:off x="6954149" y="508698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数量确认</a:t>
            </a:r>
          </a:p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点击结束</a:t>
            </a:r>
          </a:p>
        </p:txBody>
      </p:sp>
      <p:sp>
        <p:nvSpPr>
          <p:cNvPr id="173" name="圆角矩形 172"/>
          <p:cNvSpPr/>
          <p:nvPr/>
        </p:nvSpPr>
        <p:spPr>
          <a:xfrm>
            <a:off x="6804924" y="272224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发送装车信息给叉车司机</a:t>
            </a:r>
          </a:p>
        </p:txBody>
      </p:sp>
      <p:sp>
        <p:nvSpPr>
          <p:cNvPr id="177" name="圆角矩形 176"/>
          <p:cNvSpPr/>
          <p:nvPr/>
        </p:nvSpPr>
        <p:spPr>
          <a:xfrm>
            <a:off x="10411089" y="3724910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装车与扫码栈码发货</a:t>
            </a:r>
          </a:p>
        </p:txBody>
      </p:sp>
      <p:cxnSp>
        <p:nvCxnSpPr>
          <p:cNvPr id="181" name="肘形连接符 180"/>
          <p:cNvCxnSpPr>
            <a:stCxn id="41" idx="3"/>
          </p:cNvCxnSpPr>
          <p:nvPr/>
        </p:nvCxnSpPr>
        <p:spPr>
          <a:xfrm>
            <a:off x="9989132" y="3981450"/>
            <a:ext cx="42227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/>
          <p:cNvSpPr/>
          <p:nvPr/>
        </p:nvSpPr>
        <p:spPr>
          <a:xfrm>
            <a:off x="8772789" y="460946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2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装车</a:t>
            </a:r>
          </a:p>
        </p:txBody>
      </p:sp>
      <p:cxnSp>
        <p:nvCxnSpPr>
          <p:cNvPr id="195" name="肘形连接符 194"/>
          <p:cNvCxnSpPr>
            <a:endCxn id="108" idx="3"/>
          </p:cNvCxnSpPr>
          <p:nvPr/>
        </p:nvCxnSpPr>
        <p:spPr>
          <a:xfrm rot="10800000" flipV="1">
            <a:off x="6375982" y="5343525"/>
            <a:ext cx="577850" cy="0"/>
          </a:xfrm>
          <a:prstGeom prst="bentConnector3">
            <a:avLst>
              <a:gd name="adj1" fmla="val 499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圆角矩形 196"/>
          <p:cNvSpPr/>
          <p:nvPr/>
        </p:nvSpPr>
        <p:spPr>
          <a:xfrm>
            <a:off x="4970409" y="6102350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检查发货未记账</a:t>
            </a:r>
          </a:p>
        </p:txBody>
      </p:sp>
      <p:cxnSp>
        <p:nvCxnSpPr>
          <p:cNvPr id="200" name="肘形连接符 199"/>
          <p:cNvCxnSpPr/>
          <p:nvPr/>
        </p:nvCxnSpPr>
        <p:spPr>
          <a:xfrm rot="5400000" flipV="1">
            <a:off x="2643770" y="4032250"/>
            <a:ext cx="754062" cy="39004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肘形连接符 93"/>
          <p:cNvCxnSpPr/>
          <p:nvPr/>
        </p:nvCxnSpPr>
        <p:spPr>
          <a:xfrm rot="5400000" flipV="1">
            <a:off x="863388" y="1767681"/>
            <a:ext cx="350838" cy="31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箭头: 右 22"/>
          <p:cNvSpPr/>
          <p:nvPr/>
        </p:nvSpPr>
        <p:spPr>
          <a:xfrm>
            <a:off x="7585657" y="1146175"/>
            <a:ext cx="1101725" cy="174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4152" name="组合 60"/>
          <p:cNvGrpSpPr/>
          <p:nvPr/>
        </p:nvGrpSpPr>
        <p:grpSpPr bwMode="auto">
          <a:xfrm>
            <a:off x="9001707" y="992189"/>
            <a:ext cx="2935287" cy="1425663"/>
            <a:chOff x="14148" y="1562"/>
            <a:chExt cx="4622" cy="1955"/>
          </a:xfrm>
        </p:grpSpPr>
        <p:sp>
          <p:nvSpPr>
            <p:cNvPr id="203" name="圆角矩形 139"/>
            <p:cNvSpPr/>
            <p:nvPr/>
          </p:nvSpPr>
          <p:spPr>
            <a:xfrm>
              <a:off x="14403" y="1728"/>
              <a:ext cx="1361" cy="454"/>
            </a:xfrm>
            <a:prstGeom prst="round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线边库</a:t>
              </a:r>
            </a:p>
          </p:txBody>
        </p:sp>
        <p:sp>
          <p:nvSpPr>
            <p:cNvPr id="205" name="圆角矩形 139"/>
            <p:cNvSpPr/>
            <p:nvPr/>
          </p:nvSpPr>
          <p:spPr>
            <a:xfrm>
              <a:off x="15804" y="1742"/>
              <a:ext cx="1361" cy="454"/>
            </a:xfrm>
            <a:prstGeom prst="round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资材库</a:t>
              </a:r>
              <a:r>
                <a:rPr lang="en-US" altLang="zh-CN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1</a:t>
              </a:r>
              <a:endPara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06" name="圆角矩形 139"/>
            <p:cNvSpPr/>
            <p:nvPr/>
          </p:nvSpPr>
          <p:spPr>
            <a:xfrm>
              <a:off x="17198" y="1742"/>
              <a:ext cx="1361" cy="454"/>
            </a:xfrm>
            <a:prstGeom prst="round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资材库</a:t>
              </a:r>
              <a:r>
                <a:rPr lang="en-US" altLang="zh-CN" sz="14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2</a:t>
              </a:r>
              <a:endPara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148" y="1562"/>
              <a:ext cx="4622" cy="1955"/>
            </a:xfrm>
            <a:prstGeom prst="rect">
              <a:avLst/>
            </a:prstGeom>
            <a:noFill/>
            <a:ln w="4762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9" name="矩形 8"/>
            <p:cNvSpPr>
              <a:spLocks noChangeArrowheads="1"/>
            </p:cNvSpPr>
            <p:nvPr/>
          </p:nvSpPr>
          <p:spPr bwMode="auto">
            <a:xfrm>
              <a:off x="14323" y="2435"/>
              <a:ext cx="4447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200" b="1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zh-CN" altLang="en-US" b="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优先安排线边为装货仓库</a:t>
              </a:r>
              <a:endParaRPr lang="en-US" altLang="zh-CN" b="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zh-CN" altLang="en-US" b="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每个装货仓库下设置数个作业区域</a:t>
              </a:r>
              <a:endParaRPr lang="en-US" altLang="zh-CN" b="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zh-CN" altLang="en-US" b="0" dirty="0">
                  <a:solidFill>
                    <a:schemeClr val="tx1"/>
                  </a:solidFill>
                  <a:highlight>
                    <a:srgbClr val="FFFF00"/>
                  </a:highlight>
                  <a:latin typeface="+mn-ea"/>
                  <a:ea typeface="+mn-ea"/>
                </a:rPr>
                <a:t>每个作业区域对应物料组设置</a:t>
              </a:r>
            </a:p>
          </p:txBody>
        </p:sp>
      </p:grpSp>
      <p:sp>
        <p:nvSpPr>
          <p:cNvPr id="4" name="圆角矩形 3"/>
          <p:cNvSpPr/>
          <p:nvPr/>
        </p:nvSpPr>
        <p:spPr>
          <a:xfrm>
            <a:off x="375549" y="194500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车辆进场过磅</a:t>
            </a:r>
          </a:p>
        </p:txBody>
      </p:sp>
      <p:sp>
        <p:nvSpPr>
          <p:cNvPr id="4156" name="Oval 123"/>
          <p:cNvSpPr>
            <a:spLocks noChangeArrowheads="1"/>
          </p:cNvSpPr>
          <p:nvPr/>
        </p:nvSpPr>
        <p:spPr bwMode="auto">
          <a:xfrm>
            <a:off x="2618369" y="1485900"/>
            <a:ext cx="354013" cy="360363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kumimoji="1" lang="en-US" altLang="zh-CN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57" name="组合 19"/>
          <p:cNvGrpSpPr/>
          <p:nvPr/>
        </p:nvGrpSpPr>
        <p:grpSpPr bwMode="auto">
          <a:xfrm>
            <a:off x="5833057" y="781050"/>
            <a:ext cx="360362" cy="401638"/>
            <a:chOff x="12776" y="1356"/>
            <a:chExt cx="566" cy="633"/>
          </a:xfrm>
        </p:grpSpPr>
        <p:pic>
          <p:nvPicPr>
            <p:cNvPr id="4221" name="图片 2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22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</a:p>
          </p:txBody>
        </p:sp>
      </p:grpSp>
      <p:grpSp>
        <p:nvGrpSpPr>
          <p:cNvPr id="4158" name="组合 23"/>
          <p:cNvGrpSpPr/>
          <p:nvPr/>
        </p:nvGrpSpPr>
        <p:grpSpPr bwMode="auto">
          <a:xfrm>
            <a:off x="6788214" y="3409949"/>
            <a:ext cx="359409" cy="402272"/>
            <a:chOff x="12776" y="1356"/>
            <a:chExt cx="567" cy="634"/>
          </a:xfrm>
        </p:grpSpPr>
        <p:pic>
          <p:nvPicPr>
            <p:cNvPr id="4219" name="图片 2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20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</a:p>
          </p:txBody>
        </p:sp>
      </p:grpSp>
      <p:grpSp>
        <p:nvGrpSpPr>
          <p:cNvPr id="4159" name="组合 26"/>
          <p:cNvGrpSpPr/>
          <p:nvPr/>
        </p:nvGrpSpPr>
        <p:grpSpPr bwMode="auto">
          <a:xfrm>
            <a:off x="259344" y="1631950"/>
            <a:ext cx="360363" cy="401638"/>
            <a:chOff x="12776" y="1356"/>
            <a:chExt cx="566" cy="633"/>
          </a:xfrm>
        </p:grpSpPr>
        <p:pic>
          <p:nvPicPr>
            <p:cNvPr id="4217" name="图片 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8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</p:grpSp>
      <p:grpSp>
        <p:nvGrpSpPr>
          <p:cNvPr id="4160" name="组合 29"/>
          <p:cNvGrpSpPr/>
          <p:nvPr/>
        </p:nvGrpSpPr>
        <p:grpSpPr bwMode="auto">
          <a:xfrm>
            <a:off x="2110369" y="777875"/>
            <a:ext cx="360363" cy="403225"/>
            <a:chOff x="12776" y="1356"/>
            <a:chExt cx="566" cy="633"/>
          </a:xfrm>
        </p:grpSpPr>
        <p:pic>
          <p:nvPicPr>
            <p:cNvPr id="4215" name="图片 3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6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</p:grpSp>
      <p:cxnSp>
        <p:nvCxnSpPr>
          <p:cNvPr id="34" name="肘形连接符 33"/>
          <p:cNvCxnSpPr>
            <a:endCxn id="148" idx="1"/>
          </p:cNvCxnSpPr>
          <p:nvPr/>
        </p:nvCxnSpPr>
        <p:spPr>
          <a:xfrm flipV="1">
            <a:off x="3575632" y="1336675"/>
            <a:ext cx="2328862" cy="1588"/>
          </a:xfrm>
          <a:prstGeom prst="bentConnector3">
            <a:avLst>
              <a:gd name="adj1" fmla="val 50000"/>
            </a:avLst>
          </a:prstGeom>
          <a:ln w="28575" cap="flat">
            <a:solidFill>
              <a:schemeClr val="tx1"/>
            </a:solidFill>
            <a:prstDash val="sysDash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图: 决策 40"/>
          <p:cNvSpPr/>
          <p:nvPr/>
        </p:nvSpPr>
        <p:spPr>
          <a:xfrm>
            <a:off x="8887407" y="3736975"/>
            <a:ext cx="1101725" cy="488950"/>
          </a:xfrm>
          <a:prstGeom prst="flowChartDecision">
            <a:avLst/>
          </a:prstGeom>
          <a:solidFill>
            <a:schemeClr val="accent3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000" dirty="0">
                <a:solidFill>
                  <a:schemeClr val="bg1"/>
                </a:solidFill>
              </a:rPr>
              <a:t>共享栈板？</a:t>
            </a:r>
          </a:p>
        </p:txBody>
      </p:sp>
      <p:sp>
        <p:nvSpPr>
          <p:cNvPr id="42" name="矩形 41"/>
          <p:cNvSpPr/>
          <p:nvPr/>
        </p:nvSpPr>
        <p:spPr>
          <a:xfrm>
            <a:off x="329194" y="515938"/>
            <a:ext cx="147320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</p:txBody>
      </p:sp>
      <p:sp>
        <p:nvSpPr>
          <p:cNvPr id="43" name="矩形 42"/>
          <p:cNvSpPr/>
          <p:nvPr/>
        </p:nvSpPr>
        <p:spPr>
          <a:xfrm>
            <a:off x="2486607" y="550863"/>
            <a:ext cx="1439862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sp>
        <p:nvSpPr>
          <p:cNvPr id="44" name="矩形 43"/>
          <p:cNvSpPr/>
          <p:nvPr/>
        </p:nvSpPr>
        <p:spPr>
          <a:xfrm>
            <a:off x="7279269" y="432118"/>
            <a:ext cx="1847850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现场管理部门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41857" y="860425"/>
            <a:ext cx="12034837" cy="317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圆角矩形 151"/>
          <p:cNvSpPr/>
          <p:nvPr/>
        </p:nvSpPr>
        <p:spPr>
          <a:xfrm>
            <a:off x="4896114" y="271589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推送具体装货仓库给司机</a:t>
            </a:r>
          </a:p>
        </p:txBody>
      </p:sp>
      <p:grpSp>
        <p:nvGrpSpPr>
          <p:cNvPr id="4170" name="组合 45"/>
          <p:cNvGrpSpPr/>
          <p:nvPr/>
        </p:nvGrpSpPr>
        <p:grpSpPr bwMode="auto">
          <a:xfrm>
            <a:off x="4853569" y="2311400"/>
            <a:ext cx="360363" cy="403225"/>
            <a:chOff x="12776" y="1356"/>
            <a:chExt cx="566" cy="633"/>
          </a:xfrm>
        </p:grpSpPr>
        <p:pic>
          <p:nvPicPr>
            <p:cNvPr id="4213" name="图片 4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4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5</a:t>
              </a:r>
            </a:p>
          </p:txBody>
        </p:sp>
      </p:grpSp>
      <p:grpSp>
        <p:nvGrpSpPr>
          <p:cNvPr id="4171" name="组合 48"/>
          <p:cNvGrpSpPr/>
          <p:nvPr/>
        </p:nvGrpSpPr>
        <p:grpSpPr bwMode="auto">
          <a:xfrm>
            <a:off x="10325682" y="3375025"/>
            <a:ext cx="358775" cy="403225"/>
            <a:chOff x="12776" y="1356"/>
            <a:chExt cx="566" cy="633"/>
          </a:xfrm>
        </p:grpSpPr>
        <p:pic>
          <p:nvPicPr>
            <p:cNvPr id="4211" name="图片 4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2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</a:p>
          </p:txBody>
        </p:sp>
      </p:grpSp>
      <p:grpSp>
        <p:nvGrpSpPr>
          <p:cNvPr id="4172" name="组合 51"/>
          <p:cNvGrpSpPr/>
          <p:nvPr/>
        </p:nvGrpSpPr>
        <p:grpSpPr bwMode="auto">
          <a:xfrm>
            <a:off x="245057" y="3408363"/>
            <a:ext cx="360362" cy="401637"/>
            <a:chOff x="12776" y="1356"/>
            <a:chExt cx="566" cy="633"/>
          </a:xfrm>
        </p:grpSpPr>
        <p:pic>
          <p:nvPicPr>
            <p:cNvPr id="4209" name="图片 5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0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8</a:t>
              </a:r>
            </a:p>
          </p:txBody>
        </p:sp>
      </p:grpSp>
      <p:grpSp>
        <p:nvGrpSpPr>
          <p:cNvPr id="4173" name="组合 57"/>
          <p:cNvGrpSpPr/>
          <p:nvPr/>
        </p:nvGrpSpPr>
        <p:grpSpPr bwMode="auto">
          <a:xfrm>
            <a:off x="4888494" y="5781675"/>
            <a:ext cx="358775" cy="401638"/>
            <a:chOff x="12776" y="1356"/>
            <a:chExt cx="566" cy="633"/>
          </a:xfrm>
        </p:grpSpPr>
        <p:pic>
          <p:nvPicPr>
            <p:cNvPr id="4207" name="图片 5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8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14</a:t>
              </a:r>
            </a:p>
          </p:txBody>
        </p:sp>
      </p:grpSp>
      <p:grpSp>
        <p:nvGrpSpPr>
          <p:cNvPr id="4174" name="组合 14"/>
          <p:cNvGrpSpPr/>
          <p:nvPr/>
        </p:nvGrpSpPr>
        <p:grpSpPr bwMode="auto">
          <a:xfrm>
            <a:off x="213307" y="2493963"/>
            <a:ext cx="360362" cy="401637"/>
            <a:chOff x="12776" y="1356"/>
            <a:chExt cx="566" cy="633"/>
          </a:xfrm>
        </p:grpSpPr>
        <p:pic>
          <p:nvPicPr>
            <p:cNvPr id="4205" name="图片 14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2" y="1457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6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7</a:t>
              </a:r>
            </a:p>
          </p:txBody>
        </p:sp>
      </p:grpSp>
      <p:cxnSp>
        <p:nvCxnSpPr>
          <p:cNvPr id="62" name="肘形连接符 61"/>
          <p:cNvCxnSpPr/>
          <p:nvPr/>
        </p:nvCxnSpPr>
        <p:spPr>
          <a:xfrm rot="5400000" flipV="1">
            <a:off x="6455356" y="1708151"/>
            <a:ext cx="1128713" cy="9001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6" name="组合 16"/>
          <p:cNvGrpSpPr/>
          <p:nvPr/>
        </p:nvGrpSpPr>
        <p:grpSpPr bwMode="auto">
          <a:xfrm>
            <a:off x="6964944" y="2335213"/>
            <a:ext cx="358775" cy="395287"/>
            <a:chOff x="12776" y="1356"/>
            <a:chExt cx="567" cy="621"/>
          </a:xfrm>
        </p:grpSpPr>
        <p:pic>
          <p:nvPicPr>
            <p:cNvPr id="4203" name="图片 1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14" y="1444"/>
              <a:ext cx="292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4" name="Oval 123"/>
            <p:cNvSpPr>
              <a:spLocks noChangeArrowheads="1"/>
            </p:cNvSpPr>
            <p:nvPr/>
          </p:nvSpPr>
          <p:spPr bwMode="auto">
            <a:xfrm>
              <a:off x="12776" y="1356"/>
              <a:ext cx="567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4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</a:p>
          </p:txBody>
        </p:sp>
      </p:grpSp>
      <p:sp>
        <p:nvSpPr>
          <p:cNvPr id="63" name="矩形 8"/>
          <p:cNvSpPr>
            <a:spLocks noChangeArrowheads="1"/>
          </p:cNvSpPr>
          <p:nvPr/>
        </p:nvSpPr>
        <p:spPr bwMode="auto">
          <a:xfrm>
            <a:off x="7137982" y="1279525"/>
            <a:ext cx="1839924" cy="10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车辆过磅后根据库存地点计算最佳装货仓库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如果跨区装货，要同时产生数个装货任务</a:t>
            </a:r>
          </a:p>
        </p:txBody>
      </p:sp>
      <p:cxnSp>
        <p:nvCxnSpPr>
          <p:cNvPr id="64" name="肘形连接符 63"/>
          <p:cNvCxnSpPr/>
          <p:nvPr/>
        </p:nvCxnSpPr>
        <p:spPr>
          <a:xfrm rot="10800000">
            <a:off x="1699208" y="2973388"/>
            <a:ext cx="3185478" cy="476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8"/>
          <p:cNvSpPr>
            <a:spLocks noChangeArrowheads="1"/>
          </p:cNvSpPr>
          <p:nvPr/>
        </p:nvSpPr>
        <p:spPr bwMode="auto">
          <a:xfrm>
            <a:off x="4321124" y="3251200"/>
            <a:ext cx="2456814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控制塔发送具体装货仓库给送货司机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</a:rPr>
              <a:t>送货司机按确认键代表收到装货地点讯息</a:t>
            </a:r>
            <a:endParaRPr lang="zh-CN" altLang="en-US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6" name="肘形连接符 65"/>
          <p:cNvCxnSpPr/>
          <p:nvPr/>
        </p:nvCxnSpPr>
        <p:spPr>
          <a:xfrm flipV="1">
            <a:off x="1697619" y="3979863"/>
            <a:ext cx="5153025" cy="6350"/>
          </a:xfrm>
          <a:prstGeom prst="bentConnector3">
            <a:avLst>
              <a:gd name="adj1" fmla="val 500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81" name="组合 92"/>
          <p:cNvGrpSpPr/>
          <p:nvPr/>
        </p:nvGrpSpPr>
        <p:grpSpPr bwMode="auto">
          <a:xfrm>
            <a:off x="8773107" y="4321175"/>
            <a:ext cx="354012" cy="400050"/>
            <a:chOff x="5242" y="1192"/>
            <a:chExt cx="558" cy="629"/>
          </a:xfrm>
        </p:grpSpPr>
        <p:pic>
          <p:nvPicPr>
            <p:cNvPr id="4201" name="图片 9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2" y="1299"/>
              <a:ext cx="307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2" name="Oval 123"/>
            <p:cNvSpPr>
              <a:spLocks noChangeArrowheads="1"/>
            </p:cNvSpPr>
            <p:nvPr/>
          </p:nvSpPr>
          <p:spPr bwMode="auto">
            <a:xfrm>
              <a:off x="5242" y="1192"/>
              <a:ext cx="558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000">
                  <a:latin typeface="微软雅黑" panose="020B0503020204020204" charset="-122"/>
                  <a:ea typeface="微软雅黑" panose="020B0503020204020204" charset="-122"/>
                </a:rPr>
                <a:t>11</a:t>
              </a:r>
            </a:p>
          </p:txBody>
        </p:sp>
      </p:grpSp>
      <p:grpSp>
        <p:nvGrpSpPr>
          <p:cNvPr id="4182" name="组合 104"/>
          <p:cNvGrpSpPr/>
          <p:nvPr/>
        </p:nvGrpSpPr>
        <p:grpSpPr bwMode="auto">
          <a:xfrm>
            <a:off x="6825244" y="4859338"/>
            <a:ext cx="355600" cy="400050"/>
            <a:chOff x="5242" y="1192"/>
            <a:chExt cx="558" cy="629"/>
          </a:xfrm>
        </p:grpSpPr>
        <p:pic>
          <p:nvPicPr>
            <p:cNvPr id="4199" name="图片 10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2" y="1299"/>
              <a:ext cx="307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00" name="Oval 123"/>
            <p:cNvSpPr>
              <a:spLocks noChangeArrowheads="1"/>
            </p:cNvSpPr>
            <p:nvPr/>
          </p:nvSpPr>
          <p:spPr bwMode="auto">
            <a:xfrm>
              <a:off x="5242" y="1192"/>
              <a:ext cx="558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000"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</a:p>
          </p:txBody>
        </p:sp>
      </p:grpSp>
      <p:sp>
        <p:nvSpPr>
          <p:cNvPr id="108" name="流程图: 决策 107"/>
          <p:cNvSpPr/>
          <p:nvPr/>
        </p:nvSpPr>
        <p:spPr>
          <a:xfrm>
            <a:off x="5274257" y="5099050"/>
            <a:ext cx="1101725" cy="488950"/>
          </a:xfrm>
          <a:prstGeom prst="flowChartDecision">
            <a:avLst/>
          </a:prstGeom>
          <a:solidFill>
            <a:schemeClr val="accent3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900" dirty="0">
                <a:solidFill>
                  <a:schemeClr val="bg1"/>
                </a:solidFill>
              </a:rPr>
              <a:t>其他装货点？</a:t>
            </a:r>
          </a:p>
        </p:txBody>
      </p:sp>
      <p:sp>
        <p:nvSpPr>
          <p:cNvPr id="192" name="圆角矩形 191"/>
          <p:cNvSpPr/>
          <p:nvPr/>
        </p:nvSpPr>
        <p:spPr>
          <a:xfrm>
            <a:off x="405394" y="5092065"/>
            <a:ext cx="1330960" cy="513080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重车出厂</a:t>
            </a:r>
          </a:p>
        </p:txBody>
      </p:sp>
      <p:grpSp>
        <p:nvGrpSpPr>
          <p:cNvPr id="4187" name="组合 108"/>
          <p:cNvGrpSpPr/>
          <p:nvPr/>
        </p:nvGrpSpPr>
        <p:grpSpPr bwMode="auto">
          <a:xfrm>
            <a:off x="264107" y="4803775"/>
            <a:ext cx="354012" cy="400050"/>
            <a:chOff x="5242" y="1192"/>
            <a:chExt cx="558" cy="629"/>
          </a:xfrm>
        </p:grpSpPr>
        <p:pic>
          <p:nvPicPr>
            <p:cNvPr id="4197" name="图片 10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2" y="1299"/>
              <a:ext cx="307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8" name="Oval 123"/>
            <p:cNvSpPr>
              <a:spLocks noChangeArrowheads="1"/>
            </p:cNvSpPr>
            <p:nvPr/>
          </p:nvSpPr>
          <p:spPr bwMode="auto">
            <a:xfrm>
              <a:off x="5242" y="1192"/>
              <a:ext cx="558" cy="56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1000">
                  <a:latin typeface="微软雅黑" panose="020B0503020204020204" charset="-122"/>
                  <a:ea typeface="微软雅黑" panose="020B0503020204020204" charset="-122"/>
                </a:rPr>
                <a:t>13</a:t>
              </a:r>
            </a:p>
          </p:txBody>
        </p:sp>
      </p:grpSp>
      <p:cxnSp>
        <p:nvCxnSpPr>
          <p:cNvPr id="112" name="肘形连接符 111"/>
          <p:cNvCxnSpPr>
            <a:stCxn id="108" idx="1"/>
          </p:cNvCxnSpPr>
          <p:nvPr/>
        </p:nvCxnSpPr>
        <p:spPr>
          <a:xfrm rot="10800000" flipV="1">
            <a:off x="1735719" y="5343525"/>
            <a:ext cx="3538538" cy="4763"/>
          </a:xfrm>
          <a:prstGeom prst="bentConnector3">
            <a:avLst>
              <a:gd name="adj1" fmla="val 499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8"/>
          <p:cNvSpPr>
            <a:spLocks noChangeArrowheads="1"/>
          </p:cNvSpPr>
          <p:nvPr/>
        </p:nvSpPr>
        <p:spPr bwMode="auto">
          <a:xfrm>
            <a:off x="5540957" y="4851400"/>
            <a:ext cx="352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zh-CN" altLang="en-US" b="0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</a:rPr>
              <a:t>有</a:t>
            </a:r>
          </a:p>
        </p:txBody>
      </p:sp>
      <p:sp>
        <p:nvSpPr>
          <p:cNvPr id="115" name="流程图: 联系 114"/>
          <p:cNvSpPr/>
          <p:nvPr/>
        </p:nvSpPr>
        <p:spPr>
          <a:xfrm>
            <a:off x="5607632" y="4279900"/>
            <a:ext cx="431800" cy="4333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A</a:t>
            </a:r>
          </a:p>
        </p:txBody>
      </p:sp>
      <p:sp>
        <p:nvSpPr>
          <p:cNvPr id="121" name="矩形 8"/>
          <p:cNvSpPr>
            <a:spLocks noChangeArrowheads="1"/>
          </p:cNvSpPr>
          <p:nvPr/>
        </p:nvSpPr>
        <p:spPr bwMode="auto">
          <a:xfrm flipH="1">
            <a:off x="4974219" y="5105400"/>
            <a:ext cx="406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>
              <a:defRPr/>
            </a:pPr>
            <a:r>
              <a:rPr lang="zh-CN" altLang="en-US" b="0" dirty="0">
                <a:solidFill>
                  <a:srgbClr val="FF0000"/>
                </a:solidFill>
                <a:latin typeface="+mn-ea"/>
                <a:ea typeface="+mn-ea"/>
              </a:rPr>
              <a:t>无</a:t>
            </a:r>
          </a:p>
        </p:txBody>
      </p:sp>
      <p:sp>
        <p:nvSpPr>
          <p:cNvPr id="122" name="流程图: 联系 121"/>
          <p:cNvSpPr/>
          <p:nvPr/>
        </p:nvSpPr>
        <p:spPr>
          <a:xfrm>
            <a:off x="5109157" y="1978025"/>
            <a:ext cx="431800" cy="43338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/>
              <a:t>A</a:t>
            </a:r>
          </a:p>
        </p:txBody>
      </p:sp>
      <p:cxnSp>
        <p:nvCxnSpPr>
          <p:cNvPr id="123" name="肘形连接符 122"/>
          <p:cNvCxnSpPr>
            <a:stCxn id="108" idx="0"/>
            <a:endCxn id="115" idx="4"/>
          </p:cNvCxnSpPr>
          <p:nvPr/>
        </p:nvCxnSpPr>
        <p:spPr>
          <a:xfrm rot="16200000" flipV="1">
            <a:off x="5630651" y="4904581"/>
            <a:ext cx="387350" cy="1587"/>
          </a:xfrm>
          <a:prstGeom prst="bentConnector3">
            <a:avLst>
              <a:gd name="adj1" fmla="val 5008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下箭头 123"/>
          <p:cNvSpPr/>
          <p:nvPr/>
        </p:nvSpPr>
        <p:spPr>
          <a:xfrm>
            <a:off x="5264732" y="2490788"/>
            <a:ext cx="128587" cy="2286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96" name="标题 3"/>
          <p:cNvSpPr txBox="1">
            <a:spLocks noChangeArrowheads="1"/>
          </p:cNvSpPr>
          <p:nvPr/>
        </p:nvSpPr>
        <p:spPr bwMode="auto">
          <a:xfrm>
            <a:off x="259080" y="70485"/>
            <a:ext cx="10077450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endParaRPr lang="zh-CN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矩形 8"/>
          <p:cNvSpPr>
            <a:spLocks noChangeArrowheads="1"/>
          </p:cNvSpPr>
          <p:nvPr/>
        </p:nvSpPr>
        <p:spPr bwMode="auto">
          <a:xfrm>
            <a:off x="783919" y="4154716"/>
            <a:ext cx="3723505" cy="100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每个作业区域设置数个作业平台，每个作业平台设置可作业车辆数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当作业平台有闲置，即通知在集散点等待车辆前往装货仓库作业区域之作业平台装货。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叫号后即减少该作业平台可再安排车辆数。</a:t>
            </a:r>
          </a:p>
        </p:txBody>
      </p:sp>
      <p:sp>
        <p:nvSpPr>
          <p:cNvPr id="110" name="矩形 8"/>
          <p:cNvSpPr>
            <a:spLocks noChangeArrowheads="1"/>
          </p:cNvSpPr>
          <p:nvPr/>
        </p:nvSpPr>
        <p:spPr bwMode="auto">
          <a:xfrm>
            <a:off x="8147312" y="2538667"/>
            <a:ext cx="3789682" cy="1036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2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控制塔发送装货任务给叉车司机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如果遇到分配任务暂时无法执行，叉车司机可以按“暂缓此任务”，则系统可以再分配下一个任务给叉车司机，亦即一个司机可以接数个任务。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如果遇到不可执行之任务，则按“取消执行任务”</a:t>
            </a:r>
          </a:p>
        </p:txBody>
      </p:sp>
      <p:sp>
        <p:nvSpPr>
          <p:cNvPr id="2" name="标题 3"/>
          <p:cNvSpPr txBox="1">
            <a:spLocks noChangeArrowheads="1"/>
          </p:cNvSpPr>
          <p:nvPr/>
        </p:nvSpPr>
        <p:spPr bwMode="auto">
          <a:xfrm>
            <a:off x="0" y="65281"/>
            <a:ext cx="12192000" cy="55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让售、固危废、委外加工物资发货业务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待讨论</a:t>
            </a:r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zh-CN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6C9B-A65B-A475-899B-1C11C809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A9834FC-9D7F-6A16-43DC-BA3C93E7DF59}"/>
              </a:ext>
            </a:extLst>
          </p:cNvPr>
          <p:cNvSpPr/>
          <p:nvPr/>
        </p:nvSpPr>
        <p:spPr>
          <a:xfrm>
            <a:off x="3460949" y="2126134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规划供应商送货时间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03B3347-7E10-2BCF-567B-0728BDCF11F3}"/>
              </a:ext>
            </a:extLst>
          </p:cNvPr>
          <p:cNvSpPr/>
          <p:nvPr/>
        </p:nvSpPr>
        <p:spPr>
          <a:xfrm>
            <a:off x="3460949" y="2791612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规划码头短驳进厂时间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9BF8B52-5BF0-16B1-BACF-D2C747FFFF63}"/>
              </a:ext>
            </a:extLst>
          </p:cNvPr>
          <p:cNvSpPr/>
          <p:nvPr/>
        </p:nvSpPr>
        <p:spPr>
          <a:xfrm>
            <a:off x="3460949" y="3457783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AE32D33-CE09-23A2-79F1-B827E83C71BD}"/>
              </a:ext>
            </a:extLst>
          </p:cNvPr>
          <p:cNvSpPr/>
          <p:nvPr/>
        </p:nvSpPr>
        <p:spPr>
          <a:xfrm>
            <a:off x="315460" y="2126134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资材采购收货计划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083C280-E772-79DD-981A-5795BEEA3831}"/>
              </a:ext>
            </a:extLst>
          </p:cNvPr>
          <p:cNvSpPr/>
          <p:nvPr/>
        </p:nvSpPr>
        <p:spPr>
          <a:xfrm>
            <a:off x="315460" y="2791612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资材码头短驳计划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E089F4-ABA4-6583-A564-C9581E4F0D0F}"/>
              </a:ext>
            </a:extLst>
          </p:cNvPr>
          <p:cNvSpPr/>
          <p:nvPr/>
        </p:nvSpPr>
        <p:spPr>
          <a:xfrm>
            <a:off x="315460" y="3457783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资材让售发货计划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12C338C-83D0-1B86-7856-35FF9614CB6A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>
            <a:off x="3159460" y="3745783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AC13860-DC43-182A-EBE9-726321B86303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3159460" y="2414134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D2512A2-7A40-973D-F6F9-40F2CB55B7E4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>
            <a:off x="3159460" y="3079612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79BC52-14F6-20DB-533F-F458CB8AF2A2}"/>
              </a:ext>
            </a:extLst>
          </p:cNvPr>
          <p:cNvSpPr/>
          <p:nvPr/>
        </p:nvSpPr>
        <p:spPr>
          <a:xfrm>
            <a:off x="3460949" y="4136471"/>
            <a:ext cx="3420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规划厂商进厂提货时间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F52418A-11BD-84B2-3187-DCA081A6723A}"/>
              </a:ext>
            </a:extLst>
          </p:cNvPr>
          <p:cNvSpPr/>
          <p:nvPr/>
        </p:nvSpPr>
        <p:spPr>
          <a:xfrm>
            <a:off x="315460" y="4136471"/>
            <a:ext cx="2844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资材固废发货计划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A20C752-25F6-C05B-3D26-6233AFBA8564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3159460" y="4424471"/>
            <a:ext cx="301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流程图: 预定义过程 13">
            <a:extLst>
              <a:ext uri="{FF2B5EF4-FFF2-40B4-BE49-F238E27FC236}">
                <a16:creationId xmlns:a16="http://schemas.microsoft.com/office/drawing/2014/main" id="{E56EB09D-54EC-20BD-D4A6-24EBA3658767}"/>
              </a:ext>
            </a:extLst>
          </p:cNvPr>
          <p:cNvSpPr/>
          <p:nvPr/>
        </p:nvSpPr>
        <p:spPr>
          <a:xfrm>
            <a:off x="7568474" y="2162136"/>
            <a:ext cx="1584000" cy="2556000"/>
          </a:xfrm>
          <a:prstGeom prst="flowChartPredefined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通知外部供应商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D9642F-801F-083F-43ED-E5BC6097A99D}"/>
              </a:ext>
            </a:extLst>
          </p:cNvPr>
          <p:cNvSpPr/>
          <p:nvPr/>
        </p:nvSpPr>
        <p:spPr>
          <a:xfrm>
            <a:off x="101746" y="172496"/>
            <a:ext cx="9461354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资材业务简图 </a:t>
            </a:r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协同外部联动（待讨论）</a:t>
            </a:r>
          </a:p>
        </p:txBody>
      </p:sp>
      <p:sp>
        <p:nvSpPr>
          <p:cNvPr id="16" name="流程图: 预定义过程 15">
            <a:extLst>
              <a:ext uri="{FF2B5EF4-FFF2-40B4-BE49-F238E27FC236}">
                <a16:creationId xmlns:a16="http://schemas.microsoft.com/office/drawing/2014/main" id="{E00C64D1-8BD6-3C1F-E1D9-9A644E3B8738}"/>
              </a:ext>
            </a:extLst>
          </p:cNvPr>
          <p:cNvSpPr/>
          <p:nvPr/>
        </p:nvSpPr>
        <p:spPr>
          <a:xfrm>
            <a:off x="9943879" y="2162136"/>
            <a:ext cx="1584000" cy="2556000"/>
          </a:xfrm>
          <a:prstGeom prst="flowChartPredefined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FD1E1D-63BA-ACE8-5AD9-68536B4CBFA7}"/>
              </a:ext>
            </a:extLst>
          </p:cNvPr>
          <p:cNvSpPr/>
          <p:nvPr/>
        </p:nvSpPr>
        <p:spPr>
          <a:xfrm>
            <a:off x="315460" y="4815159"/>
            <a:ext cx="2844000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。。。。。。。。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F5E43EE-D497-C039-3173-E37F465D327C}"/>
              </a:ext>
            </a:extLst>
          </p:cNvPr>
          <p:cNvCxnSpPr>
            <a:stCxn id="2" idx="3"/>
            <a:endCxn id="14" idx="1"/>
          </p:cNvCxnSpPr>
          <p:nvPr/>
        </p:nvCxnSpPr>
        <p:spPr>
          <a:xfrm>
            <a:off x="6880949" y="2414134"/>
            <a:ext cx="687525" cy="10260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D7E25A-BE02-2004-9C3A-787B071D5F63}"/>
              </a:ext>
            </a:extLst>
          </p:cNvPr>
          <p:cNvCxnSpPr>
            <a:cxnSpLocks/>
          </p:cNvCxnSpPr>
          <p:nvPr/>
        </p:nvCxnSpPr>
        <p:spPr>
          <a:xfrm>
            <a:off x="9152474" y="3440136"/>
            <a:ext cx="79140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3CB9995-2A73-BF7A-0DF4-F985F448D4F8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6880949" y="3079612"/>
            <a:ext cx="687525" cy="3605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E2EF67E-06CC-FE8A-3ED9-2A205699A433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6880949" y="3440136"/>
            <a:ext cx="687525" cy="3056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D326BAE-BF35-4E45-995F-05A24864530E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6880949" y="3440136"/>
            <a:ext cx="687525" cy="9843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E6D1316-0D05-9C52-0181-7588592D28D7}"/>
              </a:ext>
            </a:extLst>
          </p:cNvPr>
          <p:cNvSpPr/>
          <p:nvPr/>
        </p:nvSpPr>
        <p:spPr>
          <a:xfrm>
            <a:off x="912144" y="982641"/>
            <a:ext cx="11229293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伴随业务自动化推展，与外部第三方联系如何从线下改为线上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A579178-AFDA-240D-CBA7-A17782BFDA35}"/>
              </a:ext>
            </a:extLst>
          </p:cNvPr>
          <p:cNvSpPr/>
          <p:nvPr/>
        </p:nvSpPr>
        <p:spPr>
          <a:xfrm>
            <a:off x="292246" y="2702134"/>
            <a:ext cx="6660000" cy="7200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894C1E4-500B-F1E4-A522-83D11CAD72F3}"/>
              </a:ext>
            </a:extLst>
          </p:cNvPr>
          <p:cNvSpPr/>
          <p:nvPr/>
        </p:nvSpPr>
        <p:spPr>
          <a:xfrm>
            <a:off x="509345" y="5205848"/>
            <a:ext cx="10331146" cy="148007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智慧园可以计算码头短驳进厂最慢时间，后续是进行方案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自动创建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预约号，通知车队按时间执行 ？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智慧物流园 通知车队，车队再去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预约进厂 ？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其他场景需与外部联动者，可提出讨论。</a:t>
            </a:r>
          </a:p>
        </p:txBody>
      </p:sp>
    </p:spTree>
    <p:extLst>
      <p:ext uri="{BB962C8B-B14F-4D97-AF65-F5344CB8AC3E}">
        <p14:creationId xmlns:p14="http://schemas.microsoft.com/office/powerpoint/2010/main" val="18290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A301-AB9A-28AE-70A6-6F8D3F66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1D5CCE2-9883-688A-DE45-BB0C9C7E6B31}"/>
              </a:ext>
            </a:extLst>
          </p:cNvPr>
          <p:cNvSpPr/>
          <p:nvPr/>
        </p:nvSpPr>
        <p:spPr>
          <a:xfrm>
            <a:off x="1017381" y="2202947"/>
            <a:ext cx="10157237" cy="1380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三、智慧物流园资材业务进度规划</a:t>
            </a:r>
          </a:p>
        </p:txBody>
      </p:sp>
    </p:spTree>
    <p:extLst>
      <p:ext uri="{BB962C8B-B14F-4D97-AF65-F5344CB8AC3E}">
        <p14:creationId xmlns:p14="http://schemas.microsoft.com/office/powerpoint/2010/main" val="186048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1F17-1670-2731-3B38-A6836A67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58E4A7B-1C1D-59F9-5E8E-340C3BBD4D06}"/>
              </a:ext>
            </a:extLst>
          </p:cNvPr>
          <p:cNvSpPr/>
          <p:nvPr/>
        </p:nvSpPr>
        <p:spPr>
          <a:xfrm>
            <a:off x="455728" y="51576"/>
            <a:ext cx="10157237" cy="647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三、智慧物流园资材业务进度规划（初稿）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073BACB-1CFA-4E5A-E7B3-EC848B7DE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58527"/>
              </p:ext>
            </p:extLst>
          </p:nvPr>
        </p:nvGraphicFramePr>
        <p:xfrm>
          <a:off x="712383" y="733647"/>
          <a:ext cx="10898368" cy="5975501"/>
        </p:xfrm>
        <a:graphic>
          <a:graphicData uri="http://schemas.openxmlformats.org/drawingml/2006/table">
            <a:tbl>
              <a:tblPr/>
              <a:tblGrid>
                <a:gridCol w="902728">
                  <a:extLst>
                    <a:ext uri="{9D8B030D-6E8A-4147-A177-3AD203B41FA5}">
                      <a16:colId xmlns:a16="http://schemas.microsoft.com/office/drawing/2014/main" val="3054814270"/>
                    </a:ext>
                  </a:extLst>
                </a:gridCol>
                <a:gridCol w="1706973">
                  <a:extLst>
                    <a:ext uri="{9D8B030D-6E8A-4147-A177-3AD203B41FA5}">
                      <a16:colId xmlns:a16="http://schemas.microsoft.com/office/drawing/2014/main" val="1906447588"/>
                    </a:ext>
                  </a:extLst>
                </a:gridCol>
                <a:gridCol w="1706973">
                  <a:extLst>
                    <a:ext uri="{9D8B030D-6E8A-4147-A177-3AD203B41FA5}">
                      <a16:colId xmlns:a16="http://schemas.microsoft.com/office/drawing/2014/main" val="2054830950"/>
                    </a:ext>
                  </a:extLst>
                </a:gridCol>
                <a:gridCol w="1784685">
                  <a:extLst>
                    <a:ext uri="{9D8B030D-6E8A-4147-A177-3AD203B41FA5}">
                      <a16:colId xmlns:a16="http://schemas.microsoft.com/office/drawing/2014/main" val="2060788364"/>
                    </a:ext>
                  </a:extLst>
                </a:gridCol>
                <a:gridCol w="1711329">
                  <a:extLst>
                    <a:ext uri="{9D8B030D-6E8A-4147-A177-3AD203B41FA5}">
                      <a16:colId xmlns:a16="http://schemas.microsoft.com/office/drawing/2014/main" val="3994967829"/>
                    </a:ext>
                  </a:extLst>
                </a:gridCol>
                <a:gridCol w="771420">
                  <a:extLst>
                    <a:ext uri="{9D8B030D-6E8A-4147-A177-3AD203B41FA5}">
                      <a16:colId xmlns:a16="http://schemas.microsoft.com/office/drawing/2014/main" val="212245116"/>
                    </a:ext>
                  </a:extLst>
                </a:gridCol>
                <a:gridCol w="771420">
                  <a:extLst>
                    <a:ext uri="{9D8B030D-6E8A-4147-A177-3AD203B41FA5}">
                      <a16:colId xmlns:a16="http://schemas.microsoft.com/office/drawing/2014/main" val="3941643963"/>
                    </a:ext>
                  </a:extLst>
                </a:gridCol>
                <a:gridCol w="771420">
                  <a:extLst>
                    <a:ext uri="{9D8B030D-6E8A-4147-A177-3AD203B41FA5}">
                      <a16:colId xmlns:a16="http://schemas.microsoft.com/office/drawing/2014/main" val="1797256183"/>
                    </a:ext>
                  </a:extLst>
                </a:gridCol>
                <a:gridCol w="771420">
                  <a:extLst>
                    <a:ext uri="{9D8B030D-6E8A-4147-A177-3AD203B41FA5}">
                      <a16:colId xmlns:a16="http://schemas.microsoft.com/office/drawing/2014/main" val="2594078023"/>
                    </a:ext>
                  </a:extLst>
                </a:gridCol>
              </a:tblGrid>
              <a:tr h="2678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改善项目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作业内容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改善目的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第一阶段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Q2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第二阶段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Q3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第三阶段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Q4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实施工厂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592083"/>
                  </a:ext>
                </a:extLst>
              </a:tr>
              <a:tr h="378215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仓储需求</a:t>
                      </a:r>
                      <a:b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b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PIC 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资材朱璇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资材采购收货作业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管理送货车辆卸货作业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收货作业全部线上管理，并依据仓储策略安排卸货地点，提高直付现场比例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少人化、提高作业效率、提高直付率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84361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码头短驳进厂作业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管理码头短驳进厂卸货作业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由系统发起码头货物短驳进厂节奏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少人化、提高作业效率、提高直付率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86239"/>
                  </a:ext>
                </a:extLst>
              </a:tr>
              <a:tr h="37821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资材当班配送作业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管理每班配送作业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依据领料配送需求由智慧物流园安排每班配送计划，并由系统按时触发仓储任务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少人化、提高作业效率、降低仓储作业成本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688893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缴库作业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管理厂内缴库作业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023017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备品以旧换新作业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管理备品以旧换新作业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42214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资材让售发货作业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92249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资材固危废发货作业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14674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资材委外加工发货作业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083897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采购退货订单发货作业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190513"/>
                  </a:ext>
                </a:extLst>
              </a:tr>
              <a:tr h="26789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仓储计划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资材朱璇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码头短驳计划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规划码头库存短驳进厂时间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由领料需求条件，由系统发起码头货物短驳进厂节奏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降低码头延滞费、提高直付率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42508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资材领用配送计划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规划当班配送计划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依据现场用料需求、库存状况、供应商配送状况，合理安排配送计划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降低仓储作业费、降低作业峰值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271367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供应商送货计划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依现场需求、库存周转天数，安排供应商送货节奏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参考库存驾驶惨及领料需求，推算供应商送货时机与数量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降低库存金额、提高直付率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5063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备品以旧换新缴库计划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依备品以旧换新配置触发缴库计划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系统自动触发以旧换新缴库计划，由系统管控缴库进度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提高可用备品回收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5272"/>
                  </a:ext>
                </a:extLst>
              </a:tr>
              <a:tr h="267896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五大管理看板</a:t>
                      </a: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b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PIC 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资材朱璇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月台管理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提供月台作业动态状态与未来作业计划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676127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任务管理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提供各项任务执行进度状态、逾期提示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592928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叉车设备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提供各时段叉车司机需求、提前规划调度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959393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叉车司机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提供各时段叉车需求、提前规划调度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55465"/>
                  </a:ext>
                </a:extLst>
              </a:tr>
              <a:tr h="267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车辆管理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提供各车辆在厂讯息，作为异常管理使用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海南、宁波</a:t>
                      </a:r>
                    </a:p>
                  </a:txBody>
                  <a:tcPr marL="3277" marR="3277" marT="327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951052"/>
                  </a:ext>
                </a:extLst>
              </a:tr>
              <a:tr h="1290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171873"/>
                  </a:ext>
                </a:extLst>
              </a:tr>
              <a:tr h="178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代表进行中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882068"/>
                  </a:ext>
                </a:extLst>
              </a:tr>
              <a:tr h="178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代表规划中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035185"/>
                  </a:ext>
                </a:extLst>
              </a:tr>
              <a:tr h="178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代表逾期</a:t>
                      </a:r>
                    </a:p>
                  </a:txBody>
                  <a:tcPr marL="3277" marR="3277" marT="32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3277" marR="3277" marT="32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45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8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3873-A7D5-C21D-4870-B967C03C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2F86A9C-7310-DBAF-05AC-F8C384C4AEC9}"/>
              </a:ext>
            </a:extLst>
          </p:cNvPr>
          <p:cNvSpPr/>
          <p:nvPr/>
        </p:nvSpPr>
        <p:spPr>
          <a:xfrm>
            <a:off x="4497181" y="2393447"/>
            <a:ext cx="3465719" cy="1380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相关附件</a:t>
            </a:r>
          </a:p>
        </p:txBody>
      </p:sp>
    </p:spTree>
    <p:extLst>
      <p:ext uri="{BB962C8B-B14F-4D97-AF65-F5344CB8AC3E}">
        <p14:creationId xmlns:p14="http://schemas.microsoft.com/office/powerpoint/2010/main" val="494199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1649-16B4-87C1-B0ED-349761E9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56E461-F702-E897-220B-245B080A6EB1}"/>
              </a:ext>
            </a:extLst>
          </p:cNvPr>
          <p:cNvSpPr/>
          <p:nvPr/>
        </p:nvSpPr>
        <p:spPr>
          <a:xfrm>
            <a:off x="330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阶段一：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配送需求货源规划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6DEC07-1B59-ABE3-3264-06A4B7550D45}"/>
              </a:ext>
            </a:extLst>
          </p:cNvPr>
          <p:cNvSpPr/>
          <p:nvPr/>
        </p:nvSpPr>
        <p:spPr>
          <a:xfrm>
            <a:off x="3251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阶段二：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拆解仓储任务（配送单）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E07916-9ACC-D9F4-231D-D90A41D86236}"/>
              </a:ext>
            </a:extLst>
          </p:cNvPr>
          <p:cNvSpPr/>
          <p:nvPr/>
        </p:nvSpPr>
        <p:spPr>
          <a:xfrm>
            <a:off x="6172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阶段三：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单据关联与绑定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115864F-1EE8-10F0-4291-4A36A2641767}"/>
              </a:ext>
            </a:extLst>
          </p:cNvPr>
          <p:cNvSpPr/>
          <p:nvPr/>
        </p:nvSpPr>
        <p:spPr>
          <a:xfrm>
            <a:off x="9093200" y="833172"/>
            <a:ext cx="2880000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阶段四：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触发仓储任务与执行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91D2440-B493-52E1-708C-015CDF8E9E1B}"/>
              </a:ext>
            </a:extLst>
          </p:cNvPr>
          <p:cNvSpPr/>
          <p:nvPr/>
        </p:nvSpPr>
        <p:spPr>
          <a:xfrm>
            <a:off x="330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在满足日期、批次、认证等硬性限制下，以最小化总作业成本（发货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合并节降）为目标，为每一笔「配送需求单」分配优化的供货来源组合。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29E8AF-4E3D-FAB4-02EC-601D0D01349E}"/>
              </a:ext>
            </a:extLst>
          </p:cNvPr>
          <p:cNvSpPr/>
          <p:nvPr/>
        </p:nvSpPr>
        <p:spPr>
          <a:xfrm>
            <a:off x="3251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根据阶段一的货源分配结果，结合「车辆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工具单次配送量上限」，将大批量货源拆解为可单次执行的「仓储任务（配送单）」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CC381B-D8A2-3A1E-FE40-7B8FD33D5E29}"/>
              </a:ext>
            </a:extLst>
          </p:cNvPr>
          <p:cNvSpPr/>
          <p:nvPr/>
        </p:nvSpPr>
        <p:spPr>
          <a:xfrm>
            <a:off x="6172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将阶段二产出的「配送单号」与底层执行系统（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 WM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）的单据建立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关联，确保作业流程可追溯。</a:t>
            </a:r>
          </a:p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18EBF3-F3ED-1A73-E8B4-E33DA0631189}"/>
              </a:ext>
            </a:extLst>
          </p:cNvPr>
          <p:cNvSpPr/>
          <p:nvPr/>
        </p:nvSpPr>
        <p:spPr>
          <a:xfrm>
            <a:off x="9093200" y="1912672"/>
            <a:ext cx="2880000" cy="302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根据班别时段，自动将「配送单」推送至对应的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叉车司机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端，考虑司机技能与车辆设备限制。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4AA5D7-4AC3-747A-A7A8-96741D75217C}"/>
              </a:ext>
            </a:extLst>
          </p:cNvPr>
          <p:cNvSpPr txBox="1"/>
          <p:nvPr/>
        </p:nvSpPr>
        <p:spPr>
          <a:xfrm>
            <a:off x="330200" y="5025572"/>
            <a:ext cx="2880000" cy="1309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A0: </a:t>
            </a:r>
            <a:r>
              <a:rPr lang="zh-CN" altLang="en-US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物料检验标准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讯息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A1: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配送需求讯息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A2: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供应商送货</a:t>
            </a:r>
            <a:r>
              <a:rPr lang="en-US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&amp;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紧急叫料讯息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A3: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可用库存讯息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A4: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码头延滞成本讯息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A5: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仓储作业成本讯息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模型输入数据表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A6: </a:t>
            </a:r>
            <a:r>
              <a:rPr lang="zh-CN" altLang="zh-CN" sz="800" b="1" kern="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领用部门断料成本讯息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ts val="1200"/>
              </a:lnSpc>
              <a:buNone/>
            </a:pP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rPr>
              <a:t>➤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模型产出数据表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(Table A7: </a:t>
            </a:r>
            <a:r>
              <a:rPr lang="zh-CN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配送需求货源分配表</a:t>
            </a:r>
            <a:r>
              <a:rPr lang="en-US" altLang="zh-CN" sz="800" b="1" kern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3160E8-4950-88DA-3624-087661324DDB}"/>
              </a:ext>
            </a:extLst>
          </p:cNvPr>
          <p:cNvSpPr txBox="1"/>
          <p:nvPr/>
        </p:nvSpPr>
        <p:spPr>
          <a:xfrm>
            <a:off x="3251200" y="5025572"/>
            <a:ext cx="2880000" cy="6935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B1: </a:t>
            </a:r>
            <a:r>
              <a:rPr lang="zh-CN" altLang="zh-CN" dirty="0"/>
              <a:t>配送需求货源分配表</a:t>
            </a:r>
            <a:r>
              <a:rPr lang="en-US" altLang="zh-CN" dirty="0"/>
              <a:t> - </a:t>
            </a:r>
            <a:r>
              <a:rPr lang="zh-CN" altLang="zh-CN" dirty="0"/>
              <a:t>阶段一产出</a:t>
            </a:r>
            <a:r>
              <a:rPr lang="en-US" altLang="zh-CN" dirty="0"/>
              <a:t>)</a:t>
            </a:r>
            <a:r>
              <a:rPr lang="zh-CN" altLang="zh-CN" dirty="0"/>
              <a:t>，此表即为</a:t>
            </a:r>
            <a:r>
              <a:rPr lang="en-US" altLang="zh-CN" dirty="0"/>
              <a:t> Table A7</a:t>
            </a:r>
            <a:r>
              <a:rPr lang="zh-CN" altLang="zh-CN" dirty="0"/>
              <a:t>，作为本阶段输入。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B2: </a:t>
            </a:r>
            <a:r>
              <a:rPr lang="zh-CN" altLang="zh-CN" dirty="0"/>
              <a:t>配送工具及装载限制表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B3: </a:t>
            </a:r>
            <a:r>
              <a:rPr lang="zh-CN" altLang="zh-CN" dirty="0"/>
              <a:t>仓储任务（配送单）明细表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4D470D-46B3-0BAD-9EFB-2C19A22D74A9}"/>
              </a:ext>
            </a:extLst>
          </p:cNvPr>
          <p:cNvSpPr txBox="1"/>
          <p:nvPr/>
        </p:nvSpPr>
        <p:spPr>
          <a:xfrm>
            <a:off x="6172200" y="5025572"/>
            <a:ext cx="2880000" cy="1155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C1: </a:t>
            </a:r>
            <a:r>
              <a:rPr lang="zh-CN" altLang="zh-CN" dirty="0"/>
              <a:t>仓储任务明细表</a:t>
            </a:r>
            <a:r>
              <a:rPr lang="en-US" altLang="zh-CN" dirty="0"/>
              <a:t> - </a:t>
            </a:r>
            <a:r>
              <a:rPr lang="zh-CN" altLang="zh-CN" dirty="0"/>
              <a:t>阶段二产出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zh-CN" altLang="zh-CN" dirty="0"/>
              <a:t>此表即为</a:t>
            </a:r>
            <a:r>
              <a:rPr lang="en-US" altLang="zh-CN" dirty="0"/>
              <a:t> Table B3</a:t>
            </a:r>
            <a:r>
              <a:rPr lang="zh-CN" altLang="zh-CN" dirty="0"/>
              <a:t>，作为本阶段输入。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模型逻辑处理（非表格输入）</a:t>
            </a:r>
          </a:p>
          <a:p>
            <a:pPr>
              <a:lnSpc>
                <a:spcPts val="1200"/>
              </a:lnSpc>
            </a:pPr>
            <a:r>
              <a:rPr lang="zh-CN" altLang="zh-CN" dirty="0"/>
              <a:t>此阶段主要为系统自动化映像，非优化计算。模型需输出以下关联结果，供物流园区平台进行任务下发：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C2: </a:t>
            </a:r>
            <a:r>
              <a:rPr lang="zh-CN" altLang="zh-CN" dirty="0"/>
              <a:t>系统单据关联对照表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1DB2B5-ADE6-C328-23AC-F0BA19DA9520}"/>
              </a:ext>
            </a:extLst>
          </p:cNvPr>
          <p:cNvSpPr txBox="1"/>
          <p:nvPr/>
        </p:nvSpPr>
        <p:spPr>
          <a:xfrm>
            <a:off x="9093200" y="5025572"/>
            <a:ext cx="2880000" cy="17708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800"/>
              </a:lnSpc>
              <a:buNone/>
              <a:defRPr sz="800" b="1" kern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 Symbol" panose="020B0502040204020203" pitchFamily="34" charset="0"/>
              </a:defRPr>
            </a:lvl1pPr>
          </a:lstStyle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D1: </a:t>
            </a:r>
            <a:r>
              <a:rPr lang="zh-CN" altLang="zh-CN" dirty="0"/>
              <a:t>系统单据关联对照表</a:t>
            </a:r>
            <a:r>
              <a:rPr lang="en-US" altLang="zh-CN" dirty="0"/>
              <a:t> - </a:t>
            </a:r>
            <a:r>
              <a:rPr lang="zh-CN" altLang="zh-CN" dirty="0"/>
              <a:t>阶段三产出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zh-CN" altLang="zh-CN" dirty="0"/>
              <a:t>此表即为</a:t>
            </a:r>
            <a:r>
              <a:rPr lang="en-US" altLang="zh-CN" dirty="0"/>
              <a:t> Table C2</a:t>
            </a:r>
            <a:r>
              <a:rPr lang="zh-CN" altLang="zh-CN" dirty="0"/>
              <a:t>，包含具体的拣配仓位与配送地点。</a:t>
            </a:r>
          </a:p>
          <a:p>
            <a:pPr>
              <a:lnSpc>
                <a:spcPts val="10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D2: </a:t>
            </a:r>
            <a:r>
              <a:rPr lang="zh-CN" altLang="zh-CN" dirty="0"/>
              <a:t>资源能力表</a:t>
            </a:r>
            <a:r>
              <a:rPr lang="en-US" altLang="zh-CN" dirty="0"/>
              <a:t> - </a:t>
            </a:r>
            <a:r>
              <a:rPr lang="zh-CN" altLang="zh-CN" dirty="0"/>
              <a:t>司机资源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模型输入数据表</a:t>
            </a:r>
            <a:r>
              <a:rPr lang="en-US" altLang="zh-CN" dirty="0"/>
              <a:t> (Table D3: </a:t>
            </a:r>
            <a:r>
              <a:rPr lang="zh-CN" altLang="zh-CN" dirty="0"/>
              <a:t>资源能力表</a:t>
            </a:r>
            <a:r>
              <a:rPr lang="en-US" altLang="zh-CN" dirty="0"/>
              <a:t> - </a:t>
            </a:r>
            <a:r>
              <a:rPr lang="zh-CN" altLang="zh-CN" dirty="0"/>
              <a:t>设备资源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模型逻辑处理（任务指派）</a:t>
            </a:r>
          </a:p>
          <a:p>
            <a:pPr>
              <a:lnSpc>
                <a:spcPts val="1200"/>
              </a:lnSpc>
            </a:pPr>
            <a:r>
              <a:rPr lang="zh-CN" altLang="zh-CN" dirty="0"/>
              <a:t>核心逻辑：读取</a:t>
            </a:r>
            <a:r>
              <a:rPr lang="en-US" altLang="zh-CN" dirty="0"/>
              <a:t> Table C2 </a:t>
            </a:r>
            <a:r>
              <a:rPr lang="zh-CN" altLang="zh-CN" dirty="0"/>
              <a:t>中的</a:t>
            </a:r>
            <a:r>
              <a:rPr lang="en-US" altLang="zh-CN" dirty="0"/>
              <a:t> </a:t>
            </a:r>
            <a:r>
              <a:rPr lang="zh-CN" altLang="zh-CN" dirty="0"/>
              <a:t>任务预计配送时间</a:t>
            </a:r>
            <a:r>
              <a:rPr lang="en-US" altLang="zh-CN" dirty="0"/>
              <a:t> -&gt; </a:t>
            </a:r>
            <a:r>
              <a:rPr lang="zh-CN" altLang="zh-CN" dirty="0"/>
              <a:t>转换为对应班别</a:t>
            </a:r>
            <a:r>
              <a:rPr lang="en-US" altLang="zh-CN" dirty="0"/>
              <a:t> -&gt; </a:t>
            </a:r>
            <a:r>
              <a:rPr lang="zh-CN" altLang="zh-CN" dirty="0"/>
              <a:t>筛选该班别空闲司机</a:t>
            </a:r>
            <a:r>
              <a:rPr lang="en-US" altLang="zh-CN" dirty="0"/>
              <a:t> -&gt; </a:t>
            </a:r>
            <a:r>
              <a:rPr lang="zh-CN" altLang="zh-CN" dirty="0"/>
              <a:t>匹配</a:t>
            </a:r>
            <a:r>
              <a:rPr lang="en-US" altLang="zh-CN" dirty="0"/>
              <a:t> </a:t>
            </a:r>
            <a:r>
              <a:rPr lang="zh-CN" altLang="zh-CN" dirty="0"/>
              <a:t>可操作设备</a:t>
            </a:r>
            <a:r>
              <a:rPr lang="en-US" altLang="zh-CN" dirty="0"/>
              <a:t> </a:t>
            </a:r>
            <a:r>
              <a:rPr lang="zh-CN" altLang="zh-CN" dirty="0"/>
              <a:t>是否满足货物</a:t>
            </a:r>
            <a:r>
              <a:rPr lang="en-US" altLang="zh-CN" dirty="0"/>
              <a:t> </a:t>
            </a:r>
            <a:r>
              <a:rPr lang="zh-CN" altLang="zh-CN" dirty="0"/>
              <a:t>包装方式（平叉拉散货、抱夹夹纸箱、卷筒叉卷纸）</a:t>
            </a:r>
            <a:r>
              <a:rPr lang="en-US" altLang="zh-CN" dirty="0"/>
              <a:t> -&gt; </a:t>
            </a:r>
            <a:r>
              <a:rPr lang="zh-CN" altLang="zh-CN" dirty="0"/>
              <a:t>指派任务。</a:t>
            </a:r>
          </a:p>
          <a:p>
            <a:pPr>
              <a:lnSpc>
                <a:spcPts val="1200"/>
              </a:lnSpc>
            </a:pPr>
            <a:r>
              <a:rPr lang="en-US" altLang="zh-CN" dirty="0"/>
              <a:t>➤ </a:t>
            </a:r>
            <a:r>
              <a:rPr lang="zh-CN" altLang="zh-CN" dirty="0"/>
              <a:t>模型产出数据表</a:t>
            </a:r>
            <a:r>
              <a:rPr lang="en-US" altLang="zh-CN" dirty="0"/>
              <a:t> (Table D4: </a:t>
            </a:r>
            <a:r>
              <a:rPr lang="zh-CN" altLang="zh-CN" dirty="0"/>
              <a:t>仓储任务执行派工单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959374-742D-9A35-7150-ABF470C278E2}"/>
              </a:ext>
            </a:extLst>
          </p:cNvPr>
          <p:cNvSpPr/>
          <p:nvPr/>
        </p:nvSpPr>
        <p:spPr>
          <a:xfrm>
            <a:off x="182455" y="84101"/>
            <a:ext cx="10960027" cy="652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资材业务简图 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采购收货、码头转储、部门领用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</a:p>
        </p:txBody>
      </p:sp>
    </p:spTree>
    <p:extLst>
      <p:ext uri="{BB962C8B-B14F-4D97-AF65-F5344CB8AC3E}">
        <p14:creationId xmlns:p14="http://schemas.microsoft.com/office/powerpoint/2010/main" val="3090596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5778" y="130205"/>
            <a:ext cx="9866895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智慧物流园 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模型函数与参数 </a:t>
            </a:r>
            <a:r>
              <a:rPr lang="en-US" altLang="zh-CN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– </a:t>
            </a:r>
            <a:r>
              <a:rPr lang="zh-CN" altLang="en-US" sz="3200" b="1" dirty="0">
                <a:solidFill>
                  <a:prstClr val="black"/>
                </a:solidFill>
                <a:latin typeface="Arial" panose="020B0604020202090204" pitchFamily="34" charset="0"/>
                <a:ea typeface="微软雅黑" pitchFamily="34" charset="-122"/>
                <a:cs typeface="Arial" panose="020B0604020202090204" pitchFamily="34" charset="0"/>
              </a:rPr>
              <a:t>计算最佳 配送货源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E31A45A-375B-4F0B-AA87-39102B2A7E2A}"/>
              </a:ext>
            </a:extLst>
          </p:cNvPr>
          <p:cNvSpPr/>
          <p:nvPr/>
        </p:nvSpPr>
        <p:spPr>
          <a:xfrm>
            <a:off x="308821" y="724703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目标函数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CCB89F-7DEB-49F2-B1DE-185CAF322416}"/>
              </a:ext>
            </a:extLst>
          </p:cNvPr>
          <p:cNvSpPr/>
          <p:nvPr/>
        </p:nvSpPr>
        <p:spPr>
          <a:xfrm>
            <a:off x="2083323" y="566446"/>
            <a:ext cx="8220171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总作业成本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（仓储成本、断料成本、码头延滞成本）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883B9D5-7613-44F6-BFE2-F3AF3F1E3FF9}"/>
              </a:ext>
            </a:extLst>
          </p:cNvPr>
          <p:cNvCxnSpPr>
            <a:cxnSpLocks/>
          </p:cNvCxnSpPr>
          <p:nvPr/>
        </p:nvCxnSpPr>
        <p:spPr>
          <a:xfrm>
            <a:off x="444215" y="1252290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B8F1022-DD29-40B7-8F97-D58F4EA0D297}"/>
              </a:ext>
            </a:extLst>
          </p:cNvPr>
          <p:cNvSpPr/>
          <p:nvPr/>
        </p:nvSpPr>
        <p:spPr>
          <a:xfrm>
            <a:off x="308821" y="1320054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必要条件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A137DC-8498-4C1B-BB0A-33D561E50344}"/>
              </a:ext>
            </a:extLst>
          </p:cNvPr>
          <p:cNvSpPr/>
          <p:nvPr/>
        </p:nvSpPr>
        <p:spPr>
          <a:xfrm>
            <a:off x="458355" y="1788667"/>
            <a:ext cx="11665676" cy="1705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领料需求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提供领用需求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认证种类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需求数量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需求日期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配送时段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配送地点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在库库存</a:t>
            </a:r>
            <a:r>
              <a:rPr lang="en-US" altLang="zh-CN" dirty="0"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提供库存信息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认证种类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可用库存数量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收货日期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码头免堆期限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库存状态</a:t>
            </a:r>
            <a:endParaRPr lang="en-US" altLang="zh-CN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在途库存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提供供应商送货信息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物料号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送货数量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送货进厂日期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可供货时间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作业成本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 提供各项成本信息 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仓储作业成本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延后配送断料成本</a:t>
            </a:r>
            <a:r>
              <a:rPr lang="zh-CN" altLang="en-US" dirty="0">
                <a:solidFill>
                  <a:schemeClr val="tx1"/>
                </a:solidFill>
                <a:latin typeface="Arial Black" panose="020B0A04020102020204" pitchFamily="34" charset="0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码头库存逾期延滞成本</a:t>
            </a:r>
            <a:endParaRPr lang="zh-CN" alt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85EFDED-D732-409E-85B3-7543093C79D9}"/>
              </a:ext>
            </a:extLst>
          </p:cNvPr>
          <p:cNvCxnSpPr>
            <a:cxnSpLocks/>
          </p:cNvCxnSpPr>
          <p:nvPr/>
        </p:nvCxnSpPr>
        <p:spPr>
          <a:xfrm>
            <a:off x="445783" y="3542071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5F61071-E428-4E30-B960-15E6DE617CBE}"/>
              </a:ext>
            </a:extLst>
          </p:cNvPr>
          <p:cNvSpPr/>
          <p:nvPr/>
        </p:nvSpPr>
        <p:spPr>
          <a:xfrm>
            <a:off x="308821" y="3620467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附加条件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B9C330-ED20-4170-B9DB-16294DD56D6C}"/>
              </a:ext>
            </a:extLst>
          </p:cNvPr>
          <p:cNvSpPr/>
          <p:nvPr/>
        </p:nvSpPr>
        <p:spPr>
          <a:xfrm>
            <a:off x="459924" y="4089082"/>
            <a:ext cx="11616000" cy="455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目前无</a:t>
            </a:r>
            <a:endParaRPr lang="en-US" altLang="zh-CN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561E53-F15D-4522-BEBB-212DF21CFD5B}"/>
              </a:ext>
            </a:extLst>
          </p:cNvPr>
          <p:cNvSpPr/>
          <p:nvPr/>
        </p:nvSpPr>
        <p:spPr>
          <a:xfrm>
            <a:off x="2159892" y="3494565"/>
            <a:ext cx="4601857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非必要，可节降 总作业成本 则采用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1A04583-F46F-4A7A-81CA-F5AB91117FAA}"/>
              </a:ext>
            </a:extLst>
          </p:cNvPr>
          <p:cNvCxnSpPr>
            <a:cxnSpLocks/>
          </p:cNvCxnSpPr>
          <p:nvPr/>
        </p:nvCxnSpPr>
        <p:spPr>
          <a:xfrm>
            <a:off x="494487" y="4617081"/>
            <a:ext cx="108000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02AEF4F-438F-4B2F-AAF1-0DF442AAB549}"/>
              </a:ext>
            </a:extLst>
          </p:cNvPr>
          <p:cNvSpPr/>
          <p:nvPr/>
        </p:nvSpPr>
        <p:spPr>
          <a:xfrm>
            <a:off x="308821" y="4669937"/>
            <a:ext cx="1715675" cy="455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限制条件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49B2A32-34A2-4B49-A1AE-2EC73DE28A81}"/>
              </a:ext>
            </a:extLst>
          </p:cNvPr>
          <p:cNvSpPr/>
          <p:nvPr/>
        </p:nvSpPr>
        <p:spPr>
          <a:xfrm>
            <a:off x="496063" y="5097079"/>
            <a:ext cx="11665677" cy="163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数量平衡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Σ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预计配送数量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 =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配送需求数量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en-US" altLang="zh-CN" sz="1600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批次</a:t>
            </a:r>
            <a:r>
              <a:rPr lang="en-US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认证匹配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供货批次的属性必须完全等于需求指定的属性</a:t>
            </a:r>
            <a:r>
              <a:rPr lang="zh-CN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时间约束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一般情况：库存可使用时间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&lt;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配送需求时间。软约束：若违反上述时间，需承担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断料成本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891" indent="-342891">
              <a:lnSpc>
                <a:spcPct val="150000"/>
              </a:lnSpc>
              <a:buAutoNum type="arabicPeriod"/>
            </a:pP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免堆期约束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码头来源：预计配送日期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码头最后免堆日（若违反，需承担</a:t>
            </a:r>
            <a:r>
              <a:rPr lang="zh-CN" altLang="zh-CN" sz="1600" b="1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延滞成本</a:t>
            </a:r>
            <a:r>
              <a:rPr lang="zh-CN" altLang="zh-CN" sz="16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4D6E27-D3F2-403C-953D-DFE9A74CAEF5}"/>
              </a:ext>
            </a:extLst>
          </p:cNvPr>
          <p:cNvSpPr/>
          <p:nvPr/>
        </p:nvSpPr>
        <p:spPr>
          <a:xfrm>
            <a:off x="2205961" y="4572000"/>
            <a:ext cx="6264084" cy="707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必要，创建计划必须严格遵守限制条件下执行函数</a:t>
            </a:r>
          </a:p>
        </p:txBody>
      </p:sp>
    </p:spTree>
    <p:extLst>
      <p:ext uri="{BB962C8B-B14F-4D97-AF65-F5344CB8AC3E}">
        <p14:creationId xmlns:p14="http://schemas.microsoft.com/office/powerpoint/2010/main" val="3945536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E14A-B78B-8E2F-9257-8F9888DF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DFD4CBE8-5B64-FBE5-3AAE-6510265E9898}"/>
              </a:ext>
            </a:extLst>
          </p:cNvPr>
          <p:cNvSpPr/>
          <p:nvPr/>
        </p:nvSpPr>
        <p:spPr>
          <a:xfrm>
            <a:off x="211631" y="703381"/>
            <a:ext cx="3257091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     场     部     门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FFE1A58-96CC-D04D-D8D8-09741CD0634C}"/>
              </a:ext>
            </a:extLst>
          </p:cNvPr>
          <p:cNvSpPr/>
          <p:nvPr/>
        </p:nvSpPr>
        <p:spPr>
          <a:xfrm>
            <a:off x="52862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4AD73ADB-8E25-6DAC-686D-991E630A1475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角矩形 139">
            <a:extLst>
              <a:ext uri="{FF2B5EF4-FFF2-40B4-BE49-F238E27FC236}">
                <a16:creationId xmlns:a16="http://schemas.microsoft.com/office/drawing/2014/main" id="{29D1C370-338B-5351-A3E7-7B5DA6FFC444}"/>
              </a:ext>
            </a:extLst>
          </p:cNvPr>
          <p:cNvSpPr/>
          <p:nvPr/>
        </p:nvSpPr>
        <p:spPr>
          <a:xfrm>
            <a:off x="178431" y="1788312"/>
            <a:ext cx="1296000" cy="576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36" name="圆角矩形 139">
            <a:extLst>
              <a:ext uri="{FF2B5EF4-FFF2-40B4-BE49-F238E27FC236}">
                <a16:creationId xmlns:a16="http://schemas.microsoft.com/office/drawing/2014/main" id="{9F5223E4-9F8D-5F1B-9432-707F95D0C157}"/>
              </a:ext>
            </a:extLst>
          </p:cNvPr>
          <p:cNvSpPr/>
          <p:nvPr/>
        </p:nvSpPr>
        <p:spPr>
          <a:xfrm>
            <a:off x="319364" y="2218080"/>
            <a:ext cx="1296000" cy="57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转储单</a:t>
            </a: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DA578C40-CA66-2950-4189-1D50F690C260}"/>
              </a:ext>
            </a:extLst>
          </p:cNvPr>
          <p:cNvSpPr/>
          <p:nvPr/>
        </p:nvSpPr>
        <p:spPr>
          <a:xfrm>
            <a:off x="7197604" y="173499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8EF7060-F04D-9A04-7057-2A95342F639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007249" y="2076312"/>
            <a:ext cx="4190355" cy="186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643EF637-2F29-1D22-AAA2-432948839F3D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4901194" y="4675860"/>
            <a:ext cx="2296410" cy="814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88679C8C-6E1C-2B87-7D21-D886A1229D15}"/>
              </a:ext>
            </a:extLst>
          </p:cNvPr>
          <p:cNvSpPr/>
          <p:nvPr/>
        </p:nvSpPr>
        <p:spPr>
          <a:xfrm>
            <a:off x="7197604" y="3534200"/>
            <a:ext cx="1440000" cy="720000"/>
          </a:xfrm>
          <a:prstGeom prst="flowChartDocumen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可用库存</a:t>
            </a:r>
          </a:p>
        </p:txBody>
      </p:sp>
      <p:sp>
        <p:nvSpPr>
          <p:cNvPr id="12" name="流程图: 文档 11">
            <a:extLst>
              <a:ext uri="{FF2B5EF4-FFF2-40B4-BE49-F238E27FC236}">
                <a16:creationId xmlns:a16="http://schemas.microsoft.com/office/drawing/2014/main" id="{8DB3B37D-D8E7-3DE5-9BF7-E73AEEDB7C00}"/>
              </a:ext>
            </a:extLst>
          </p:cNvPr>
          <p:cNvSpPr/>
          <p:nvPr/>
        </p:nvSpPr>
        <p:spPr>
          <a:xfrm>
            <a:off x="7197604" y="2626125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220D10-E90F-0F6C-B664-DC23286D048C}"/>
              </a:ext>
            </a:extLst>
          </p:cNvPr>
          <p:cNvSpPr/>
          <p:nvPr/>
        </p:nvSpPr>
        <p:spPr>
          <a:xfrm>
            <a:off x="3392523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物流部门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ATMS/QM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流程图: 文档 13">
            <a:extLst>
              <a:ext uri="{FF2B5EF4-FFF2-40B4-BE49-F238E27FC236}">
                <a16:creationId xmlns:a16="http://schemas.microsoft.com/office/drawing/2014/main" id="{63ACEDB8-85E8-57AE-9436-688C484A3724}"/>
              </a:ext>
            </a:extLst>
          </p:cNvPr>
          <p:cNvSpPr/>
          <p:nvPr/>
        </p:nvSpPr>
        <p:spPr>
          <a:xfrm>
            <a:off x="7197604" y="432400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码头延滞成本</a:t>
            </a:r>
          </a:p>
        </p:txBody>
      </p:sp>
      <p:sp>
        <p:nvSpPr>
          <p:cNvPr id="16" name="圆角矩形 139">
            <a:extLst>
              <a:ext uri="{FF2B5EF4-FFF2-40B4-BE49-F238E27FC236}">
                <a16:creationId xmlns:a16="http://schemas.microsoft.com/office/drawing/2014/main" id="{007D9A57-2862-DA24-3AB1-6FE931915350}"/>
              </a:ext>
            </a:extLst>
          </p:cNvPr>
          <p:cNvSpPr/>
          <p:nvPr/>
        </p:nvSpPr>
        <p:spPr>
          <a:xfrm>
            <a:off x="5307781" y="219839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紧急叫料信息维护</a:t>
            </a:r>
          </a:p>
        </p:txBody>
      </p:sp>
      <p:sp>
        <p:nvSpPr>
          <p:cNvPr id="17" name="圆角矩形 139">
            <a:extLst>
              <a:ext uri="{FF2B5EF4-FFF2-40B4-BE49-F238E27FC236}">
                <a16:creationId xmlns:a16="http://schemas.microsoft.com/office/drawing/2014/main" id="{71714163-5B25-F7D1-F006-B4835EBF0C13}"/>
              </a:ext>
            </a:extLst>
          </p:cNvPr>
          <p:cNvSpPr/>
          <p:nvPr/>
        </p:nvSpPr>
        <p:spPr>
          <a:xfrm>
            <a:off x="3461194" y="2663590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</a:t>
            </a: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7F8A0798-7F1A-A098-883C-F0FABFDC2935}"/>
              </a:ext>
            </a:extLst>
          </p:cNvPr>
          <p:cNvCxnSpPr>
            <a:cxnSpLocks/>
            <a:stCxn id="16" idx="3"/>
            <a:endCxn id="12" idx="1"/>
          </p:cNvCxnSpPr>
          <p:nvPr/>
        </p:nvCxnSpPr>
        <p:spPr>
          <a:xfrm>
            <a:off x="6603781" y="2486392"/>
            <a:ext cx="593823" cy="4997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077E14C5-52A4-7B9C-93AF-1C9BB344E64E}"/>
              </a:ext>
            </a:extLst>
          </p:cNvPr>
          <p:cNvSpPr/>
          <p:nvPr/>
        </p:nvSpPr>
        <p:spPr>
          <a:xfrm>
            <a:off x="7185321" y="512938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</a:t>
            </a: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6430A5B3-84BE-DA02-00E8-34ACE8AD43BD}"/>
              </a:ext>
            </a:extLst>
          </p:cNvPr>
          <p:cNvSpPr/>
          <p:nvPr/>
        </p:nvSpPr>
        <p:spPr>
          <a:xfrm>
            <a:off x="7197604" y="5950111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</a:t>
            </a:r>
          </a:p>
        </p:txBody>
      </p:sp>
      <p:sp>
        <p:nvSpPr>
          <p:cNvPr id="31" name="圆角矩形 139">
            <a:extLst>
              <a:ext uri="{FF2B5EF4-FFF2-40B4-BE49-F238E27FC236}">
                <a16:creationId xmlns:a16="http://schemas.microsoft.com/office/drawing/2014/main" id="{21A389C9-0F1E-FCDF-0D60-628B71438A19}"/>
              </a:ext>
            </a:extLst>
          </p:cNvPr>
          <p:cNvSpPr/>
          <p:nvPr/>
        </p:nvSpPr>
        <p:spPr>
          <a:xfrm>
            <a:off x="1901749" y="1788312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配送需求输入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DEA568F-69A6-EEA7-4F60-B3326A2897BB}"/>
              </a:ext>
            </a:extLst>
          </p:cNvPr>
          <p:cNvCxnSpPr>
            <a:cxnSpLocks/>
            <a:stCxn id="71" idx="3"/>
            <a:endCxn id="31" idx="1"/>
          </p:cNvCxnSpPr>
          <p:nvPr/>
        </p:nvCxnSpPr>
        <p:spPr>
          <a:xfrm>
            <a:off x="1474431" y="2076312"/>
            <a:ext cx="42731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96780D6-6D13-C076-8AE2-A88506B0AFB3}"/>
              </a:ext>
            </a:extLst>
          </p:cNvPr>
          <p:cNvCxnSpPr>
            <a:cxnSpLocks/>
          </p:cNvCxnSpPr>
          <p:nvPr/>
        </p:nvCxnSpPr>
        <p:spPr>
          <a:xfrm flipH="1">
            <a:off x="3324750" y="710481"/>
            <a:ext cx="36024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81016A8-6A1E-1A5D-3428-4E2866A093C5}"/>
              </a:ext>
            </a:extLst>
          </p:cNvPr>
          <p:cNvCxnSpPr>
            <a:cxnSpLocks/>
          </p:cNvCxnSpPr>
          <p:nvPr/>
        </p:nvCxnSpPr>
        <p:spPr>
          <a:xfrm flipH="1">
            <a:off x="52047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F9CE9596-AFD1-C563-48EA-20133FD21F3F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901194" y="3894200"/>
            <a:ext cx="2296410" cy="781660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73643235-B9A4-CC71-2D1F-100C3FDD041F}"/>
              </a:ext>
            </a:extLst>
          </p:cNvPr>
          <p:cNvSpPr/>
          <p:nvPr/>
        </p:nvSpPr>
        <p:spPr>
          <a:xfrm>
            <a:off x="5064592" y="4425570"/>
            <a:ext cx="101988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免堆讯息</a:t>
            </a:r>
          </a:p>
        </p:txBody>
      </p:sp>
      <p:sp>
        <p:nvSpPr>
          <p:cNvPr id="59" name="圆角矩形 139">
            <a:extLst>
              <a:ext uri="{FF2B5EF4-FFF2-40B4-BE49-F238E27FC236}">
                <a16:creationId xmlns:a16="http://schemas.microsoft.com/office/drawing/2014/main" id="{90512112-E80B-DD27-E5C9-05FCA098ED11}"/>
              </a:ext>
            </a:extLst>
          </p:cNvPr>
          <p:cNvSpPr/>
          <p:nvPr/>
        </p:nvSpPr>
        <p:spPr>
          <a:xfrm>
            <a:off x="1901749" y="6009111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领料部门断料成本维护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1231432-F429-F5C2-50D8-4604815EC70C}"/>
              </a:ext>
            </a:extLst>
          </p:cNvPr>
          <p:cNvCxnSpPr>
            <a:cxnSpLocks/>
            <a:stCxn id="59" idx="3"/>
            <a:endCxn id="25" idx="1"/>
          </p:cNvCxnSpPr>
          <p:nvPr/>
        </p:nvCxnSpPr>
        <p:spPr>
          <a:xfrm>
            <a:off x="3197749" y="6297111"/>
            <a:ext cx="3999855" cy="130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DA4A0DD8-D2D1-20D8-3ED4-A2A6DF9F2B27}"/>
              </a:ext>
            </a:extLst>
          </p:cNvPr>
          <p:cNvCxnSpPr>
            <a:cxnSpLocks/>
            <a:stCxn id="36" idx="2"/>
            <a:endCxn id="59" idx="1"/>
          </p:cNvCxnSpPr>
          <p:nvPr/>
        </p:nvCxnSpPr>
        <p:spPr>
          <a:xfrm rot="16200000" flipH="1">
            <a:off x="-316959" y="4078402"/>
            <a:ext cx="3503031" cy="93438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圆角矩形 139">
            <a:extLst>
              <a:ext uri="{FF2B5EF4-FFF2-40B4-BE49-F238E27FC236}">
                <a16:creationId xmlns:a16="http://schemas.microsoft.com/office/drawing/2014/main" id="{DF501260-808B-D13F-5805-ADE386F94108}"/>
              </a:ext>
            </a:extLst>
          </p:cNvPr>
          <p:cNvSpPr/>
          <p:nvPr/>
        </p:nvSpPr>
        <p:spPr>
          <a:xfrm>
            <a:off x="5307781" y="5201384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仓储成本维护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A84147F-7511-E23A-3C79-B9CDE77654FE}"/>
              </a:ext>
            </a:extLst>
          </p:cNvPr>
          <p:cNvCxnSpPr>
            <a:cxnSpLocks/>
            <a:stCxn id="72" idx="3"/>
            <a:endCxn id="24" idx="1"/>
          </p:cNvCxnSpPr>
          <p:nvPr/>
        </p:nvCxnSpPr>
        <p:spPr>
          <a:xfrm>
            <a:off x="6603781" y="5489384"/>
            <a:ext cx="58154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C584700D-AE0D-3EC3-2F4A-B2D9280088FE}"/>
              </a:ext>
            </a:extLst>
          </p:cNvPr>
          <p:cNvCxnSpPr>
            <a:cxnSpLocks/>
          </p:cNvCxnSpPr>
          <p:nvPr/>
        </p:nvCxnSpPr>
        <p:spPr>
          <a:xfrm>
            <a:off x="4757194" y="2963164"/>
            <a:ext cx="2440410" cy="3453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263CCE68-389E-32D2-85B5-72C539BD9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第一阶段决定配送货源</a:t>
            </a:r>
          </a:p>
        </p:txBody>
      </p:sp>
      <p:sp>
        <p:nvSpPr>
          <p:cNvPr id="83" name="流程图: 直接访问存储器 82">
            <a:extLst>
              <a:ext uri="{FF2B5EF4-FFF2-40B4-BE49-F238E27FC236}">
                <a16:creationId xmlns:a16="http://schemas.microsoft.com/office/drawing/2014/main" id="{A8196C50-68D0-9F7C-4EC8-E80EE851A7D1}"/>
              </a:ext>
            </a:extLst>
          </p:cNvPr>
          <p:cNvSpPr/>
          <p:nvPr/>
        </p:nvSpPr>
        <p:spPr>
          <a:xfrm>
            <a:off x="9372600" y="3257525"/>
            <a:ext cx="1092200" cy="1609051"/>
          </a:xfrm>
          <a:prstGeom prst="flowChartMagneticDrum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货源分配</a:t>
            </a: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E786C6C9-F230-F958-0B72-283AE72FC1E9}"/>
              </a:ext>
            </a:extLst>
          </p:cNvPr>
          <p:cNvCxnSpPr>
            <a:cxnSpLocks/>
            <a:stCxn id="12" idx="3"/>
            <a:endCxn id="83" idx="1"/>
          </p:cNvCxnSpPr>
          <p:nvPr/>
        </p:nvCxnSpPr>
        <p:spPr>
          <a:xfrm>
            <a:off x="8637604" y="2986125"/>
            <a:ext cx="734996" cy="107592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F649DC0-C463-C536-65AC-363CA0261930}"/>
              </a:ext>
            </a:extLst>
          </p:cNvPr>
          <p:cNvCxnSpPr>
            <a:cxnSpLocks/>
            <a:stCxn id="24" idx="3"/>
            <a:endCxn id="83" idx="1"/>
          </p:cNvCxnSpPr>
          <p:nvPr/>
        </p:nvCxnSpPr>
        <p:spPr>
          <a:xfrm flipV="1">
            <a:off x="8625321" y="4062051"/>
            <a:ext cx="747279" cy="14273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FADA9B38-9BCD-F49B-26A9-233740563ED2}"/>
              </a:ext>
            </a:extLst>
          </p:cNvPr>
          <p:cNvCxnSpPr>
            <a:cxnSpLocks/>
            <a:stCxn id="14" idx="3"/>
            <a:endCxn id="83" idx="1"/>
          </p:cNvCxnSpPr>
          <p:nvPr/>
        </p:nvCxnSpPr>
        <p:spPr>
          <a:xfrm flipV="1">
            <a:off x="8637604" y="4062051"/>
            <a:ext cx="734996" cy="621953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391F7ECD-5F74-EE83-76C8-13633F1820D6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>
            <a:off x="8637604" y="3894200"/>
            <a:ext cx="734996" cy="16785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32C86BE-9968-0DEF-ACA4-58E5A5A09A9B}"/>
              </a:ext>
            </a:extLst>
          </p:cNvPr>
          <p:cNvCxnSpPr>
            <a:cxnSpLocks/>
            <a:stCxn id="5" idx="3"/>
            <a:endCxn id="83" idx="1"/>
          </p:cNvCxnSpPr>
          <p:nvPr/>
        </p:nvCxnSpPr>
        <p:spPr>
          <a:xfrm>
            <a:off x="8637604" y="2094996"/>
            <a:ext cx="734996" cy="1967055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A7D537BD-10CA-243C-198B-DFF63D304A16}"/>
              </a:ext>
            </a:extLst>
          </p:cNvPr>
          <p:cNvCxnSpPr>
            <a:cxnSpLocks/>
            <a:stCxn id="25" idx="3"/>
            <a:endCxn id="83" idx="1"/>
          </p:cNvCxnSpPr>
          <p:nvPr/>
        </p:nvCxnSpPr>
        <p:spPr>
          <a:xfrm flipV="1">
            <a:off x="8637604" y="4062051"/>
            <a:ext cx="734996" cy="22480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流程图: 文档 101">
            <a:extLst>
              <a:ext uri="{FF2B5EF4-FFF2-40B4-BE49-F238E27FC236}">
                <a16:creationId xmlns:a16="http://schemas.microsoft.com/office/drawing/2014/main" id="{054D04C3-AB2A-0E33-C38A-29576E2B8884}"/>
              </a:ext>
            </a:extLst>
          </p:cNvPr>
          <p:cNvSpPr/>
          <p:nvPr/>
        </p:nvSpPr>
        <p:spPr>
          <a:xfrm>
            <a:off x="10716350" y="3701756"/>
            <a:ext cx="1440000" cy="720000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8166BB77-2C6A-A18B-EC7D-21F917A8F172}"/>
              </a:ext>
            </a:extLst>
          </p:cNvPr>
          <p:cNvCxnSpPr>
            <a:cxnSpLocks/>
            <a:stCxn id="83" idx="4"/>
            <a:endCxn id="102" idx="1"/>
          </p:cNvCxnSpPr>
          <p:nvPr/>
        </p:nvCxnSpPr>
        <p:spPr>
          <a:xfrm flipV="1">
            <a:off x="10464800" y="4061756"/>
            <a:ext cx="251550" cy="2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6861CED4-C4C7-019F-4B3A-3D5BC2E5A9C9}"/>
              </a:ext>
            </a:extLst>
          </p:cNvPr>
          <p:cNvSpPr/>
          <p:nvPr/>
        </p:nvSpPr>
        <p:spPr>
          <a:xfrm>
            <a:off x="3461194" y="334797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物料检验标准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3EE175-6B07-48C1-FB4A-0F856EB099D0}"/>
              </a:ext>
            </a:extLst>
          </p:cNvPr>
          <p:cNvSpPr/>
          <p:nvPr/>
        </p:nvSpPr>
        <p:spPr>
          <a:xfrm>
            <a:off x="4772812" y="3474789"/>
            <a:ext cx="101988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检验讯息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7865378-DF49-3535-B0BD-7490B6DB601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901194" y="3239590"/>
            <a:ext cx="2303999" cy="46838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D49461D-B4F8-6612-130D-42BD52CC525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901194" y="3707973"/>
            <a:ext cx="229641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流程图: 文档 1">
            <a:extLst>
              <a:ext uri="{FF2B5EF4-FFF2-40B4-BE49-F238E27FC236}">
                <a16:creationId xmlns:a16="http://schemas.microsoft.com/office/drawing/2014/main" id="{437E5A2E-0367-98C6-4E59-5175D05B0D93}"/>
              </a:ext>
            </a:extLst>
          </p:cNvPr>
          <p:cNvSpPr/>
          <p:nvPr/>
        </p:nvSpPr>
        <p:spPr>
          <a:xfrm>
            <a:off x="3461194" y="431586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A02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码头收货免堆</a:t>
            </a:r>
          </a:p>
        </p:txBody>
      </p:sp>
    </p:spTree>
    <p:extLst>
      <p:ext uri="{BB962C8B-B14F-4D97-AF65-F5344CB8AC3E}">
        <p14:creationId xmlns:p14="http://schemas.microsoft.com/office/powerpoint/2010/main" val="222654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5DC1-5C02-7861-C1E2-2DE585B1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FE488935-3267-CC8D-274C-3024C10CD9E6}"/>
              </a:ext>
            </a:extLst>
          </p:cNvPr>
          <p:cNvSpPr/>
          <p:nvPr/>
        </p:nvSpPr>
        <p:spPr>
          <a:xfrm>
            <a:off x="211631" y="703381"/>
            <a:ext cx="511211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   一    阶    段    输    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965E36B-C995-2AFB-FAB4-418CBC1E7186}"/>
              </a:ext>
            </a:extLst>
          </p:cNvPr>
          <p:cNvSpPr/>
          <p:nvPr/>
        </p:nvSpPr>
        <p:spPr>
          <a:xfrm>
            <a:off x="61625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E251CC7-DD3E-B38B-9070-6A99774AD4BE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71F531AB-6EBA-3EF5-2A93-663EF0C4A0AA}"/>
              </a:ext>
            </a:extLst>
          </p:cNvPr>
          <p:cNvSpPr/>
          <p:nvPr/>
        </p:nvSpPr>
        <p:spPr>
          <a:xfrm>
            <a:off x="365004" y="173499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</a:t>
            </a:r>
          </a:p>
        </p:txBody>
      </p:sp>
      <p:sp>
        <p:nvSpPr>
          <p:cNvPr id="11" name="流程图: 文档 10">
            <a:extLst>
              <a:ext uri="{FF2B5EF4-FFF2-40B4-BE49-F238E27FC236}">
                <a16:creationId xmlns:a16="http://schemas.microsoft.com/office/drawing/2014/main" id="{45C85C17-20DF-2B4E-7F31-96C2CAD4A504}"/>
              </a:ext>
            </a:extLst>
          </p:cNvPr>
          <p:cNvSpPr/>
          <p:nvPr/>
        </p:nvSpPr>
        <p:spPr>
          <a:xfrm>
            <a:off x="365004" y="2537525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 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</a:t>
            </a:r>
            <a:r>
              <a:rPr lang="en-US" altLang="zh-CN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紧急叫料</a:t>
            </a:r>
          </a:p>
        </p:txBody>
      </p:sp>
      <p:sp>
        <p:nvSpPr>
          <p:cNvPr id="12" name="流程图: 文档 11">
            <a:extLst>
              <a:ext uri="{FF2B5EF4-FFF2-40B4-BE49-F238E27FC236}">
                <a16:creationId xmlns:a16="http://schemas.microsoft.com/office/drawing/2014/main" id="{76035026-A451-0C47-DBDA-82B6EE4FF3D2}"/>
              </a:ext>
            </a:extLst>
          </p:cNvPr>
          <p:cNvSpPr/>
          <p:nvPr/>
        </p:nvSpPr>
        <p:spPr>
          <a:xfrm>
            <a:off x="365004" y="4146576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码头延滞成本</a:t>
            </a:r>
          </a:p>
        </p:txBody>
      </p:sp>
      <p:sp>
        <p:nvSpPr>
          <p:cNvPr id="14" name="流程图: 文档 13">
            <a:extLst>
              <a:ext uri="{FF2B5EF4-FFF2-40B4-BE49-F238E27FC236}">
                <a16:creationId xmlns:a16="http://schemas.microsoft.com/office/drawing/2014/main" id="{55F1E146-EA34-7153-CA4A-2BAF370DDDC6}"/>
              </a:ext>
            </a:extLst>
          </p:cNvPr>
          <p:cNvSpPr/>
          <p:nvPr/>
        </p:nvSpPr>
        <p:spPr>
          <a:xfrm>
            <a:off x="365004" y="3327329"/>
            <a:ext cx="1440000" cy="720000"/>
          </a:xfrm>
          <a:prstGeom prst="flowChartDocumen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可用库存</a:t>
            </a: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A5C9E47F-0AB7-0476-FDF0-A4B8B8E29639}"/>
              </a:ext>
            </a:extLst>
          </p:cNvPr>
          <p:cNvSpPr/>
          <p:nvPr/>
        </p:nvSpPr>
        <p:spPr>
          <a:xfrm>
            <a:off x="352721" y="4950852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A5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仓储成本</a:t>
            </a:r>
          </a:p>
        </p:txBody>
      </p:sp>
      <p:sp>
        <p:nvSpPr>
          <p:cNvPr id="25" name="流程图: 文档 24">
            <a:extLst>
              <a:ext uri="{FF2B5EF4-FFF2-40B4-BE49-F238E27FC236}">
                <a16:creationId xmlns:a16="http://schemas.microsoft.com/office/drawing/2014/main" id="{95E13D83-1C8F-57D5-0946-485F4C5172FA}"/>
              </a:ext>
            </a:extLst>
          </p:cNvPr>
          <p:cNvSpPr/>
          <p:nvPr/>
        </p:nvSpPr>
        <p:spPr>
          <a:xfrm>
            <a:off x="365004" y="5771579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领料部门断料成本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CF6A0F3-EDBF-DCA1-9458-F8FD74ED968E}"/>
              </a:ext>
            </a:extLst>
          </p:cNvPr>
          <p:cNvCxnSpPr>
            <a:cxnSpLocks/>
          </p:cNvCxnSpPr>
          <p:nvPr/>
        </p:nvCxnSpPr>
        <p:spPr>
          <a:xfrm flipH="1">
            <a:off x="57635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1F9E9497-6DC6-9F4D-C39A-760F8A326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第二阶段 拆解配送单 合并仓储任务</a:t>
            </a:r>
          </a:p>
        </p:txBody>
      </p:sp>
      <p:sp>
        <p:nvSpPr>
          <p:cNvPr id="83" name="流程图: 直接访问存储器 82">
            <a:extLst>
              <a:ext uri="{FF2B5EF4-FFF2-40B4-BE49-F238E27FC236}">
                <a16:creationId xmlns:a16="http://schemas.microsoft.com/office/drawing/2014/main" id="{F44A3824-30CE-CB5D-A4D0-A07BEE15E3CD}"/>
              </a:ext>
            </a:extLst>
          </p:cNvPr>
          <p:cNvSpPr/>
          <p:nvPr/>
        </p:nvSpPr>
        <p:spPr>
          <a:xfrm>
            <a:off x="2540000" y="3257525"/>
            <a:ext cx="1092200" cy="1609051"/>
          </a:xfrm>
          <a:prstGeom prst="flowChartMagneticDrum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货源分配</a:t>
            </a: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4B5ADF2A-F9A2-30B0-6722-B0F60588CE45}"/>
              </a:ext>
            </a:extLst>
          </p:cNvPr>
          <p:cNvCxnSpPr>
            <a:cxnSpLocks/>
            <a:stCxn id="12" idx="3"/>
            <a:endCxn id="83" idx="1"/>
          </p:cNvCxnSpPr>
          <p:nvPr/>
        </p:nvCxnSpPr>
        <p:spPr>
          <a:xfrm flipV="1">
            <a:off x="1805004" y="4062051"/>
            <a:ext cx="734996" cy="444525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04D13331-AE85-2B0A-2A4D-A6EA1CDF9E65}"/>
              </a:ext>
            </a:extLst>
          </p:cNvPr>
          <p:cNvCxnSpPr>
            <a:cxnSpLocks/>
            <a:stCxn id="24" idx="3"/>
            <a:endCxn id="83" idx="1"/>
          </p:cNvCxnSpPr>
          <p:nvPr/>
        </p:nvCxnSpPr>
        <p:spPr>
          <a:xfrm flipV="1">
            <a:off x="1792721" y="4062051"/>
            <a:ext cx="747279" cy="124880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4B6EF120-92DA-34C0-50B4-32BED28BD62B}"/>
              </a:ext>
            </a:extLst>
          </p:cNvPr>
          <p:cNvCxnSpPr>
            <a:cxnSpLocks/>
            <a:stCxn id="14" idx="3"/>
            <a:endCxn id="83" idx="1"/>
          </p:cNvCxnSpPr>
          <p:nvPr/>
        </p:nvCxnSpPr>
        <p:spPr>
          <a:xfrm>
            <a:off x="1805004" y="3687329"/>
            <a:ext cx="734996" cy="37472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A2737B85-9841-12BF-67B6-CBF1D6D2EFFE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>
            <a:off x="1805004" y="2897525"/>
            <a:ext cx="734996" cy="1164526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D3CBAF67-BF78-5A13-E927-5FB06991B90B}"/>
              </a:ext>
            </a:extLst>
          </p:cNvPr>
          <p:cNvCxnSpPr>
            <a:cxnSpLocks/>
            <a:stCxn id="5" idx="3"/>
            <a:endCxn id="83" idx="1"/>
          </p:cNvCxnSpPr>
          <p:nvPr/>
        </p:nvCxnSpPr>
        <p:spPr>
          <a:xfrm>
            <a:off x="1805004" y="2094996"/>
            <a:ext cx="734996" cy="1967055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944095C0-BC5F-6B05-DFAB-BCED11CA5032}"/>
              </a:ext>
            </a:extLst>
          </p:cNvPr>
          <p:cNvCxnSpPr>
            <a:cxnSpLocks/>
            <a:stCxn id="25" idx="3"/>
            <a:endCxn id="83" idx="1"/>
          </p:cNvCxnSpPr>
          <p:nvPr/>
        </p:nvCxnSpPr>
        <p:spPr>
          <a:xfrm flipV="1">
            <a:off x="1805004" y="4062051"/>
            <a:ext cx="734996" cy="206952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流程图: 文档 101">
            <a:extLst>
              <a:ext uri="{FF2B5EF4-FFF2-40B4-BE49-F238E27FC236}">
                <a16:creationId xmlns:a16="http://schemas.microsoft.com/office/drawing/2014/main" id="{894E3147-571A-406A-52C0-29030B7E24A4}"/>
              </a:ext>
            </a:extLst>
          </p:cNvPr>
          <p:cNvSpPr/>
          <p:nvPr/>
        </p:nvSpPr>
        <p:spPr>
          <a:xfrm>
            <a:off x="4048850" y="3702050"/>
            <a:ext cx="1440000" cy="720000"/>
          </a:xfrm>
          <a:prstGeom prst="flowChartDocumen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BFAA041-94A1-5324-2541-68CB60AB0FC5}"/>
              </a:ext>
            </a:extLst>
          </p:cNvPr>
          <p:cNvCxnSpPr>
            <a:cxnSpLocks/>
            <a:stCxn id="83" idx="4"/>
            <a:endCxn id="102" idx="1"/>
          </p:cNvCxnSpPr>
          <p:nvPr/>
        </p:nvCxnSpPr>
        <p:spPr>
          <a:xfrm flipV="1">
            <a:off x="3632200" y="4062050"/>
            <a:ext cx="41665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368B75FD-A97B-F11B-FE22-5B18E9C9646E}"/>
              </a:ext>
            </a:extLst>
          </p:cNvPr>
          <p:cNvSpPr/>
          <p:nvPr/>
        </p:nvSpPr>
        <p:spPr>
          <a:xfrm>
            <a:off x="6410663" y="1771325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配送工具装载限制维护</a:t>
            </a:r>
          </a:p>
        </p:txBody>
      </p: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70641C80-B000-6C12-64A3-25DDB249CA03}"/>
              </a:ext>
            </a:extLst>
          </p:cNvPr>
          <p:cNvSpPr/>
          <p:nvPr/>
        </p:nvSpPr>
        <p:spPr>
          <a:xfrm>
            <a:off x="6338663" y="278271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配送工具及装载限制表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C3190F6-6102-B4FC-082B-6E8890A6028B}"/>
              </a:ext>
            </a:extLst>
          </p:cNvPr>
          <p:cNvCxnSpPr>
            <a:cxnSpLocks/>
          </p:cNvCxnSpPr>
          <p:nvPr/>
        </p:nvCxnSpPr>
        <p:spPr>
          <a:xfrm>
            <a:off x="7058663" y="2347325"/>
            <a:ext cx="0" cy="4353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76B8EB69-BFE9-0A40-A06E-ED6D6752DCA1}"/>
              </a:ext>
            </a:extLst>
          </p:cNvPr>
          <p:cNvSpPr/>
          <p:nvPr/>
        </p:nvSpPr>
        <p:spPr>
          <a:xfrm>
            <a:off x="8788400" y="3257525"/>
            <a:ext cx="1092200" cy="1609051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拆解配送单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930E2B0D-19D1-E367-BC61-00952F0349BE}"/>
              </a:ext>
            </a:extLst>
          </p:cNvPr>
          <p:cNvSpPr/>
          <p:nvPr/>
        </p:nvSpPr>
        <p:spPr>
          <a:xfrm>
            <a:off x="6338663" y="37020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1A352C6-61F0-20AB-D413-F672A62104CE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7778663" y="4062050"/>
            <a:ext cx="100973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F235FF2-D5DE-66FA-CE23-D6182D2A0243}"/>
              </a:ext>
            </a:extLst>
          </p:cNvPr>
          <p:cNvCxnSpPr>
            <a:cxnSpLocks/>
            <a:stCxn id="102" idx="3"/>
            <a:endCxn id="18" idx="1"/>
          </p:cNvCxnSpPr>
          <p:nvPr/>
        </p:nvCxnSpPr>
        <p:spPr>
          <a:xfrm>
            <a:off x="5488850" y="4062050"/>
            <a:ext cx="84981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736B3633-1232-DCB5-96CE-15BC7C1E6D01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7778663" y="3142713"/>
            <a:ext cx="1009737" cy="919338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F9E80C2F-C3B6-EEBD-2D9C-D077DC9882B4}"/>
              </a:ext>
            </a:extLst>
          </p:cNvPr>
          <p:cNvSpPr/>
          <p:nvPr/>
        </p:nvSpPr>
        <p:spPr>
          <a:xfrm>
            <a:off x="10536693" y="37020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明细表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D5D174C-7086-507B-AA7E-CE22CDC67287}"/>
              </a:ext>
            </a:extLst>
          </p:cNvPr>
          <p:cNvCxnSpPr>
            <a:cxnSpLocks/>
            <a:stCxn id="15" idx="4"/>
            <a:endCxn id="30" idx="1"/>
          </p:cNvCxnSpPr>
          <p:nvPr/>
        </p:nvCxnSpPr>
        <p:spPr>
          <a:xfrm flipV="1">
            <a:off x="9880600" y="4062050"/>
            <a:ext cx="65609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圆角矩形 139">
            <a:extLst>
              <a:ext uri="{FF2B5EF4-FFF2-40B4-BE49-F238E27FC236}">
                <a16:creationId xmlns:a16="http://schemas.microsoft.com/office/drawing/2014/main" id="{F5390B05-2B35-E781-EB5C-208A9D3D9DE7}"/>
              </a:ext>
            </a:extLst>
          </p:cNvPr>
          <p:cNvSpPr/>
          <p:nvPr/>
        </p:nvSpPr>
        <p:spPr>
          <a:xfrm>
            <a:off x="6410663" y="5966234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物料对应叉车类型维护</a:t>
            </a:r>
          </a:p>
        </p:txBody>
      </p:sp>
      <p:sp>
        <p:nvSpPr>
          <p:cNvPr id="13" name="流程图: 文档 12">
            <a:extLst>
              <a:ext uri="{FF2B5EF4-FFF2-40B4-BE49-F238E27FC236}">
                <a16:creationId xmlns:a16="http://schemas.microsoft.com/office/drawing/2014/main" id="{16D692A4-EB1F-1E6D-FE8D-97FC76E47BCB}"/>
              </a:ext>
            </a:extLst>
          </p:cNvPr>
          <p:cNvSpPr/>
          <p:nvPr/>
        </p:nvSpPr>
        <p:spPr>
          <a:xfrm>
            <a:off x="6338663" y="4834142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物料与叉车对应表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F719046-B9EF-53EC-EE83-80F08FF493CC}"/>
              </a:ext>
            </a:extLst>
          </p:cNvPr>
          <p:cNvCxnSpPr>
            <a:stCxn id="10" idx="0"/>
            <a:endCxn id="13" idx="2"/>
          </p:cNvCxnSpPr>
          <p:nvPr/>
        </p:nvCxnSpPr>
        <p:spPr>
          <a:xfrm flipV="1">
            <a:off x="7058663" y="5506542"/>
            <a:ext cx="0" cy="4596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7F049660-8D7A-1B0D-924A-0A9E6614499D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778663" y="4062051"/>
            <a:ext cx="1009737" cy="1132091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374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2CBB-EA14-2394-CB53-FA480BE2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3019BBEA-38CF-968D-FA5B-1BB29877C14D}"/>
              </a:ext>
            </a:extLst>
          </p:cNvPr>
          <p:cNvSpPr/>
          <p:nvPr/>
        </p:nvSpPr>
        <p:spPr>
          <a:xfrm>
            <a:off x="211631" y="703381"/>
            <a:ext cx="5112119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   二    阶    段    输    出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4D47E2D-22CB-B856-7548-7FC7027646DF}"/>
              </a:ext>
            </a:extLst>
          </p:cNvPr>
          <p:cNvSpPr/>
          <p:nvPr/>
        </p:nvSpPr>
        <p:spPr>
          <a:xfrm>
            <a:off x="5908531" y="703381"/>
            <a:ext cx="1800000" cy="9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资材部门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29D5129-546E-E89F-48B8-9EAF58E8A049}"/>
              </a:ext>
            </a:extLst>
          </p:cNvPr>
          <p:cNvCxnSpPr/>
          <p:nvPr/>
        </p:nvCxnSpPr>
        <p:spPr>
          <a:xfrm>
            <a:off x="137795" y="1535259"/>
            <a:ext cx="12035155" cy="31750"/>
          </a:xfrm>
          <a:prstGeom prst="straightConnector1">
            <a:avLst/>
          </a:prstGeom>
          <a:ln w="762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4AD3896-9466-0082-E849-0FB656B8FB23}"/>
              </a:ext>
            </a:extLst>
          </p:cNvPr>
          <p:cNvCxnSpPr>
            <a:cxnSpLocks/>
          </p:cNvCxnSpPr>
          <p:nvPr/>
        </p:nvCxnSpPr>
        <p:spPr>
          <a:xfrm flipH="1">
            <a:off x="5547640" y="710481"/>
            <a:ext cx="27067" cy="612000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标题 1">
            <a:extLst>
              <a:ext uri="{FF2B5EF4-FFF2-40B4-BE49-F238E27FC236}">
                <a16:creationId xmlns:a16="http://schemas.microsoft.com/office/drawing/2014/main" id="{5B9F1C16-59A5-D32D-E70D-D966FA971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50" y="7872"/>
            <a:ext cx="10161838" cy="599559"/>
          </a:xfrm>
        </p:spPr>
        <p:txBody>
          <a:bodyPr>
            <a:no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第三阶段 触发 拣配计划 与 短驳计划</a:t>
            </a:r>
          </a:p>
        </p:txBody>
      </p:sp>
      <p:sp>
        <p:nvSpPr>
          <p:cNvPr id="2" name="圆角矩形 139">
            <a:extLst>
              <a:ext uri="{FF2B5EF4-FFF2-40B4-BE49-F238E27FC236}">
                <a16:creationId xmlns:a16="http://schemas.microsoft.com/office/drawing/2014/main" id="{BC02C9F2-A289-7888-58A3-ADB6D740C465}"/>
              </a:ext>
            </a:extLst>
          </p:cNvPr>
          <p:cNvSpPr/>
          <p:nvPr/>
        </p:nvSpPr>
        <p:spPr>
          <a:xfrm>
            <a:off x="213063" y="1771325"/>
            <a:ext cx="1296000" cy="57600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配送工具装载限制维护</a:t>
            </a:r>
          </a:p>
        </p:txBody>
      </p:sp>
      <p:sp>
        <p:nvSpPr>
          <p:cNvPr id="3" name="流程图: 文档 2">
            <a:extLst>
              <a:ext uri="{FF2B5EF4-FFF2-40B4-BE49-F238E27FC236}">
                <a16:creationId xmlns:a16="http://schemas.microsoft.com/office/drawing/2014/main" id="{7E258422-90E8-4D53-7C56-B56E7EBAB9D0}"/>
              </a:ext>
            </a:extLst>
          </p:cNvPr>
          <p:cNvSpPr/>
          <p:nvPr/>
        </p:nvSpPr>
        <p:spPr>
          <a:xfrm>
            <a:off x="141063" y="2681113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配送工具及装载限制表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9A1B923-F3AE-0A82-A435-178D22269CA5}"/>
              </a:ext>
            </a:extLst>
          </p:cNvPr>
          <p:cNvCxnSpPr>
            <a:cxnSpLocks/>
          </p:cNvCxnSpPr>
          <p:nvPr/>
        </p:nvCxnSpPr>
        <p:spPr>
          <a:xfrm>
            <a:off x="861063" y="2347325"/>
            <a:ext cx="0" cy="4353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8C8D5BD2-F5D3-8034-3187-CE19F01B6041}"/>
              </a:ext>
            </a:extLst>
          </p:cNvPr>
          <p:cNvSpPr/>
          <p:nvPr/>
        </p:nvSpPr>
        <p:spPr>
          <a:xfrm>
            <a:off x="2247900" y="3155925"/>
            <a:ext cx="1092200" cy="1609051"/>
          </a:xfrm>
          <a:prstGeom prst="flowChartMagneticDrum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拆解配送单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634018C9-BF3D-F2C7-6DC7-A75553B7A4EF}"/>
              </a:ext>
            </a:extLst>
          </p:cNvPr>
          <p:cNvSpPr/>
          <p:nvPr/>
        </p:nvSpPr>
        <p:spPr>
          <a:xfrm>
            <a:off x="14106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配送需求货源分配表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6FEC870-0B12-AB37-1F26-04E884620D53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1581063" y="3960450"/>
            <a:ext cx="66683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909BC5D-1AAC-11E8-F202-8D506D31237F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1581063" y="3041113"/>
            <a:ext cx="666837" cy="919338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流程图: 文档 29">
            <a:extLst>
              <a:ext uri="{FF2B5EF4-FFF2-40B4-BE49-F238E27FC236}">
                <a16:creationId xmlns:a16="http://schemas.microsoft.com/office/drawing/2014/main" id="{6787E3E1-0758-DAD9-BC01-9704ED476843}"/>
              </a:ext>
            </a:extLst>
          </p:cNvPr>
          <p:cNvSpPr/>
          <p:nvPr/>
        </p:nvSpPr>
        <p:spPr>
          <a:xfrm>
            <a:off x="3767593" y="3600450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配送单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明细表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2DFBDBD-0D95-B42A-CEBC-F5D3B12E569A}"/>
              </a:ext>
            </a:extLst>
          </p:cNvPr>
          <p:cNvCxnSpPr>
            <a:cxnSpLocks/>
            <a:stCxn id="15" idx="4"/>
            <a:endCxn id="30" idx="1"/>
          </p:cNvCxnSpPr>
          <p:nvPr/>
        </p:nvCxnSpPr>
        <p:spPr>
          <a:xfrm flipV="1">
            <a:off x="3340100" y="3960450"/>
            <a:ext cx="42749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流程图: 数据 5">
            <a:extLst>
              <a:ext uri="{FF2B5EF4-FFF2-40B4-BE49-F238E27FC236}">
                <a16:creationId xmlns:a16="http://schemas.microsoft.com/office/drawing/2014/main" id="{FF53E42F-3BCF-290B-5D56-B41645368281}"/>
              </a:ext>
            </a:extLst>
          </p:cNvPr>
          <p:cNvSpPr/>
          <p:nvPr/>
        </p:nvSpPr>
        <p:spPr>
          <a:xfrm>
            <a:off x="5905500" y="2222499"/>
            <a:ext cx="1728000" cy="720000"/>
          </a:xfrm>
          <a:prstGeom prst="flowChartInputOutpu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创建资材库拣配行项目</a:t>
            </a:r>
          </a:p>
        </p:txBody>
      </p:sp>
      <p:sp>
        <p:nvSpPr>
          <p:cNvPr id="7" name="流程图: 数据 6">
            <a:extLst>
              <a:ext uri="{FF2B5EF4-FFF2-40B4-BE49-F238E27FC236}">
                <a16:creationId xmlns:a16="http://schemas.microsoft.com/office/drawing/2014/main" id="{798391D1-9BCB-24F8-CB37-A599B0F70CB9}"/>
              </a:ext>
            </a:extLst>
          </p:cNvPr>
          <p:cNvSpPr/>
          <p:nvPr/>
        </p:nvSpPr>
        <p:spPr>
          <a:xfrm>
            <a:off x="5775664" y="3602382"/>
            <a:ext cx="1728000" cy="720000"/>
          </a:xfrm>
          <a:prstGeom prst="flowChartInputOutpu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创建码头短驳计划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653607C-B38D-402C-DD0D-9A66B797D35F}"/>
              </a:ext>
            </a:extLst>
          </p:cNvPr>
          <p:cNvCxnSpPr>
            <a:cxnSpLocks/>
            <a:stCxn id="30" idx="3"/>
            <a:endCxn id="6" idx="2"/>
          </p:cNvCxnSpPr>
          <p:nvPr/>
        </p:nvCxnSpPr>
        <p:spPr>
          <a:xfrm flipV="1">
            <a:off x="5207593" y="2582499"/>
            <a:ext cx="870707" cy="137795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677334E-6F02-8EE3-E648-AA1D79E1B161}"/>
              </a:ext>
            </a:extLst>
          </p:cNvPr>
          <p:cNvCxnSpPr>
            <a:cxnSpLocks/>
            <a:stCxn id="30" idx="3"/>
            <a:endCxn id="7" idx="2"/>
          </p:cNvCxnSpPr>
          <p:nvPr/>
        </p:nvCxnSpPr>
        <p:spPr>
          <a:xfrm>
            <a:off x="5207593" y="3960450"/>
            <a:ext cx="740871" cy="1932"/>
          </a:xfrm>
          <a:prstGeom prst="bentConnector3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流程图: 数据 22">
            <a:extLst>
              <a:ext uri="{FF2B5EF4-FFF2-40B4-BE49-F238E27FC236}">
                <a16:creationId xmlns:a16="http://schemas.microsoft.com/office/drawing/2014/main" id="{2708AB39-621D-EECA-6B82-C2D23B8C6C6D}"/>
              </a:ext>
            </a:extLst>
          </p:cNvPr>
          <p:cNvSpPr/>
          <p:nvPr/>
        </p:nvSpPr>
        <p:spPr>
          <a:xfrm>
            <a:off x="7387070" y="3602382"/>
            <a:ext cx="1728000" cy="720000"/>
          </a:xfrm>
          <a:prstGeom prst="flowChartInputOutp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短驳计划传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车队预约</a:t>
            </a:r>
          </a:p>
        </p:txBody>
      </p:sp>
      <p:sp>
        <p:nvSpPr>
          <p:cNvPr id="26" name="圆角矩形 139">
            <a:extLst>
              <a:ext uri="{FF2B5EF4-FFF2-40B4-BE49-F238E27FC236}">
                <a16:creationId xmlns:a16="http://schemas.microsoft.com/office/drawing/2014/main" id="{3E14A3A5-772A-0494-1389-EC51A6290333}"/>
              </a:ext>
            </a:extLst>
          </p:cNvPr>
          <p:cNvSpPr/>
          <p:nvPr/>
        </p:nvSpPr>
        <p:spPr>
          <a:xfrm>
            <a:off x="7425270" y="4742937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短驳预约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19E3741-36E6-D646-2594-1294AFCF57C8}"/>
              </a:ext>
            </a:extLst>
          </p:cNvPr>
          <p:cNvCxnSpPr>
            <a:cxnSpLocks/>
            <a:stCxn id="23" idx="3"/>
            <a:endCxn id="26" idx="0"/>
          </p:cNvCxnSpPr>
          <p:nvPr/>
        </p:nvCxnSpPr>
        <p:spPr>
          <a:xfrm flipH="1">
            <a:off x="8073270" y="4322382"/>
            <a:ext cx="5000" cy="42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71A9612-74C0-2231-EC0C-E414AB99640D}"/>
              </a:ext>
            </a:extLst>
          </p:cNvPr>
          <p:cNvSpPr/>
          <p:nvPr/>
        </p:nvSpPr>
        <p:spPr>
          <a:xfrm>
            <a:off x="6882260" y="4506506"/>
            <a:ext cx="1260000" cy="2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配送货单号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DB56504-2088-2264-5BDD-F88329606267}"/>
              </a:ext>
            </a:extLst>
          </p:cNvPr>
          <p:cNvCxnSpPr>
            <a:cxnSpLocks/>
            <a:stCxn id="6" idx="5"/>
            <a:endCxn id="5" idx="1"/>
          </p:cNvCxnSpPr>
          <p:nvPr/>
        </p:nvCxnSpPr>
        <p:spPr>
          <a:xfrm>
            <a:off x="7460700" y="2582499"/>
            <a:ext cx="2676876" cy="1461605"/>
          </a:xfrm>
          <a:prstGeom prst="bentConnector3">
            <a:avLst>
              <a:gd name="adj1" fmla="val 73453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F77DC460-F8E1-3554-6781-37814CE35DC4}"/>
              </a:ext>
            </a:extLst>
          </p:cNvPr>
          <p:cNvCxnSpPr>
            <a:cxnSpLocks/>
            <a:stCxn id="26" idx="3"/>
            <a:endCxn id="5" idx="1"/>
          </p:cNvCxnSpPr>
          <p:nvPr/>
        </p:nvCxnSpPr>
        <p:spPr>
          <a:xfrm flipV="1">
            <a:off x="8721270" y="4044104"/>
            <a:ext cx="1416306" cy="9868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DB6F8EB7-A7BB-3F9B-EEEE-3D575EFBA02C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050605" y="2709837"/>
            <a:ext cx="1811856" cy="4937881"/>
          </a:xfrm>
          <a:prstGeom prst="bentConnector2">
            <a:avLst/>
          </a:prstGeom>
          <a:ln w="571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F2B607FD-F2A9-8986-0E91-9C9BB8A39FC9}"/>
              </a:ext>
            </a:extLst>
          </p:cNvPr>
          <p:cNvSpPr/>
          <p:nvPr/>
        </p:nvSpPr>
        <p:spPr>
          <a:xfrm>
            <a:off x="5080000" y="5784663"/>
            <a:ext cx="4289070" cy="361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供应商预约号 关联 配送货单号 在第一阶段匹配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3678E035-C58C-1A58-B6CC-1E5F154014C2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8765117" y="4712247"/>
            <a:ext cx="2040602" cy="70431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圆角矩形 139">
            <a:extLst>
              <a:ext uri="{FF2B5EF4-FFF2-40B4-BE49-F238E27FC236}">
                <a16:creationId xmlns:a16="http://schemas.microsoft.com/office/drawing/2014/main" id="{0B234ED0-8885-F356-8414-2BA682F23037}"/>
              </a:ext>
            </a:extLst>
          </p:cNvPr>
          <p:cNvSpPr/>
          <p:nvPr/>
        </p:nvSpPr>
        <p:spPr>
          <a:xfrm>
            <a:off x="3821223" y="5730376"/>
            <a:ext cx="1296000" cy="576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供应商送货预约</a:t>
            </a:r>
          </a:p>
        </p:txBody>
      </p:sp>
      <p:sp>
        <p:nvSpPr>
          <p:cNvPr id="5" name="流程图: 文档 4">
            <a:extLst>
              <a:ext uri="{FF2B5EF4-FFF2-40B4-BE49-F238E27FC236}">
                <a16:creationId xmlns:a16="http://schemas.microsoft.com/office/drawing/2014/main" id="{9057F49E-9560-090D-E215-09073F4B320D}"/>
              </a:ext>
            </a:extLst>
          </p:cNvPr>
          <p:cNvSpPr/>
          <p:nvPr/>
        </p:nvSpPr>
        <p:spPr>
          <a:xfrm>
            <a:off x="10137576" y="3684104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系统单据关联对照表</a:t>
            </a:r>
            <a:endParaRPr lang="zh-CN" altLang="en-US" sz="16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流程图: 文档 23">
            <a:extLst>
              <a:ext uri="{FF2B5EF4-FFF2-40B4-BE49-F238E27FC236}">
                <a16:creationId xmlns:a16="http://schemas.microsoft.com/office/drawing/2014/main" id="{68ADCC42-F9C6-8964-0933-753B7776CD09}"/>
              </a:ext>
            </a:extLst>
          </p:cNvPr>
          <p:cNvSpPr/>
          <p:nvPr/>
        </p:nvSpPr>
        <p:spPr>
          <a:xfrm>
            <a:off x="10137576" y="5030937"/>
            <a:ext cx="1440000" cy="720000"/>
          </a:xfrm>
          <a:prstGeom prst="flowChartDocumen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仓储任务与配送单关联总表</a:t>
            </a:r>
            <a:endParaRPr lang="zh-CN" altLang="en-US" sz="1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A8E0CB6-B040-93CC-9EA5-61C90137C8C7}"/>
              </a:ext>
            </a:extLst>
          </p:cNvPr>
          <p:cNvCxnSpPr>
            <a:stCxn id="5" idx="2"/>
            <a:endCxn id="24" idx="0"/>
          </p:cNvCxnSpPr>
          <p:nvPr/>
        </p:nvCxnSpPr>
        <p:spPr>
          <a:xfrm>
            <a:off x="10857576" y="4356504"/>
            <a:ext cx="0" cy="6744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86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12765</TotalTime>
  <Words>4779</Words>
  <Application>Microsoft Office PowerPoint</Application>
  <PresentationFormat>宽屏</PresentationFormat>
  <Paragraphs>934</Paragraphs>
  <Slides>32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等线</vt:lpstr>
      <vt:lpstr>等线 Light</vt:lpstr>
      <vt:lpstr>黑体</vt:lpstr>
      <vt:lpstr>微软雅黑</vt:lpstr>
      <vt:lpstr>微软雅黑</vt:lpstr>
      <vt:lpstr>Aptos Black</vt:lpstr>
      <vt:lpstr>Arial</vt:lpstr>
      <vt:lpstr>Arial Black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01 资材业务简图 – 采购收货、码头转储、部门领用 前段业务</vt:lpstr>
      <vt:lpstr>01 资材业务简图 – 采购收货、码头转储、部门领用  后段业务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第一阶段决定配送货源</vt:lpstr>
      <vt:lpstr>第二阶段 拆解配送单 合并仓储任务</vt:lpstr>
      <vt:lpstr>第三阶段 触发 拣配计划 与 短驳计划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Guangxiong</dc:creator>
  <cp:lastModifiedBy>Zheng Guangxiong</cp:lastModifiedBy>
  <cp:revision>198</cp:revision>
  <dcterms:created xsi:type="dcterms:W3CDTF">2026-02-10T00:07:17Z</dcterms:created>
  <dcterms:modified xsi:type="dcterms:W3CDTF">2026-03-17T00:39:32Z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[DocID]=7D71714B-C162-4BAA-A6FD-230939920787</vt:lpwstr>
  </op:property>
  <op:property fmtid="{D5CDD505-2E9C-101B-9397-08002B2CF9AE}" pid="3" name="_IPGFLOW_P-71F2_E-0_CV-88520CEC_CN-EE015C4A">
    <vt:lpwstr>DPFPMK|3|50|1|0</vt:lpwstr>
  </op:property>
  <op:property fmtid="{D5CDD505-2E9C-101B-9397-08002B2CF9AE}" pid="4" name="_IPGFLOW_P-71F2_E-1_FP-1_SP-1_CV-4449E137_CN-5991F4B7">
    <vt:lpwstr>7pcIkYpFUTfoCClDCbAAM3J2WB5jHwovE0GAL8LG5odNXhN2LyCx5XIpd+irNhAUKM153OYU+WKdUVGi5u4QYumH8CZznXtQIynxtq6kTwhzJ8qjdZaiXXX7dwwbYkLJBQVRtPS/Wa1yQnFxNSBIwkqfO67FOZT8MyJcVLux/UOwJW+O7VKoO8Lo7v3ReU/hwrTn3M2FrtyWKwG9G9XR8KRxtRb/KbT1IMkLpSupoE8lqj/k5m5/KbSJ2OLF7l/</vt:lpwstr>
  </op:property>
  <op:property fmtid="{D5CDD505-2E9C-101B-9397-08002B2CF9AE}" pid="5" name="_IPGFLOW_P-71F2_E-1_FP-1_SP-2_CV-F26D6A3E_CN-B604C9E9">
    <vt:lpwstr>u</vt:lpwstr>
  </op:property>
  <op:property fmtid="{D5CDD505-2E9C-101B-9397-08002B2CF9AE}" pid="6" name="_IPGFLOW_P-71F2_E-0_FP-1_CV-7761BE89_CN-1FF814EF">
    <vt:lpwstr>DPSPMK|3|256|2|0</vt:lpwstr>
  </op:property>
</op:Properties>
</file>