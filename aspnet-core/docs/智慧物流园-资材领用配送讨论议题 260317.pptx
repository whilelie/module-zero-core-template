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3197d42ddbe3462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1726327179" r:id="rId3"/>
    <p:sldId id="1726327168" r:id="rId4"/>
    <p:sldId id="16141184" r:id="rId5"/>
    <p:sldId id="16141187" r:id="rId6"/>
    <p:sldId id="16141195" r:id="rId7"/>
    <p:sldId id="2033" r:id="rId8"/>
    <p:sldId id="16141190" r:id="rId9"/>
    <p:sldId id="16141191" r:id="rId10"/>
    <p:sldId id="16141192" r:id="rId11"/>
    <p:sldId id="1726327165" r:id="rId12"/>
    <p:sldId id="1726327175" r:id="rId13"/>
    <p:sldId id="3755" r:id="rId14"/>
    <p:sldId id="1726327181" r:id="rId15"/>
    <p:sldId id="1726327182" r:id="rId16"/>
    <p:sldId id="1726327183" r:id="rId17"/>
    <p:sldId id="1726327184" r:id="rId18"/>
    <p:sldId id="1726327185" r:id="rId19"/>
    <p:sldId id="1726327180" r:id="rId20"/>
    <p:sldId id="1726327197" r:id="rId21"/>
    <p:sldId id="1726327187" r:id="rId22"/>
    <p:sldId id="1726327188" r:id="rId23"/>
    <p:sldId id="1726327186" r:id="rId24"/>
    <p:sldId id="1726327189" r:id="rId25"/>
    <p:sldId id="1726327177" r:id="rId26"/>
    <p:sldId id="16141193" r:id="rId27"/>
    <p:sldId id="1726327178" r:id="rId28"/>
    <p:sldId id="1726327196" r:id="rId29"/>
    <p:sldId id="1726327169" r:id="rId30"/>
    <p:sldId id="1726327190" r:id="rId31"/>
    <p:sldId id="1726327192" r:id="rId32"/>
    <p:sldId id="1726327193" r:id="rId33"/>
    <p:sldId id="1726327174" r:id="rId34"/>
    <p:sldId id="1726327194" r:id="rId35"/>
    <p:sldId id="1726327195" r:id="rId36"/>
    <p:sldId id="17263271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1538B-D9DF-485A-949E-187ADC90FA7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FD0C1-48B2-409D-9797-C534F944DD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52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1039-7A8C-768A-CE87-C61BFDB8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8DEC6-3BCE-BBA5-1C59-556C4E481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E4454-107D-E90C-1024-D2EAE755C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C0B9-FA02-BD12-0ED7-4C9AE806E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57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7E8A-9D6A-64EF-2BBF-F6ABA21B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B5911-80DE-0556-7A1B-40399B5DF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63E0-CE73-37B8-B469-416814A95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B8AE1-F342-8A57-9621-6F56B3523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57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E6437-6CB7-4256-81CB-1C34D8D97E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13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3CCD-BA02-C6A5-A327-231108CE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A8C57-6BC1-D1CB-74D9-AD0876E4C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DB596-AF77-8625-5D59-1C9ED568E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8671-FE21-E63E-6A1E-2948D88D9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50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D10F-DD2C-30FE-6673-8FD57B29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32601-D67D-C0E0-5033-CC6106D8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A51AA-D35C-8F54-C280-54943838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90C1-7BF4-93F4-1F8B-015470B2B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67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8384-4E44-ADB7-CB59-1B8B2264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46DA3-7CC1-75DE-3966-672204872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1693E-4665-98C0-CA8D-F18D409A6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355E5-63F9-0D07-EB2E-3055A0AFA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07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9B0A-B57E-B867-C926-3915C4E1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6C826-DFE8-C2DC-044C-C39A93AF4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55B42-7CC0-F175-072A-5FF008219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5C830-EC69-7ADA-79B0-86E40642F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03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F5A7-F22C-3A04-99F6-1236ED6D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9CC1A-2502-B160-EF97-500E65019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34AAB-4B01-4E50-82D5-04D818F5D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84588-549A-2128-599E-EE8CE0A43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5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59F8-9A88-4D09-1045-BE18C1C2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82542-91DF-3DF7-5113-E5A759EC8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E2D85-D071-FC08-64CA-20196E4B0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F3A1C-92E0-5777-7633-67F8F9D45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06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8522-CFA2-4830-A141-04749174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14A78-9E9C-CA68-63D0-628D72D1C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FA20B-2B4C-0447-C851-81173E526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5117-2420-8E17-A730-D9BB31769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41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5626-62BB-6261-0A92-497E92B4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12631-1073-00AB-973E-269569715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617E5-1953-6302-2344-AA342C934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4C279-0CCF-A73E-E07D-4DD208F53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66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3B25-A09D-D7F7-5659-B9225BFD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EC55A-3216-8CCE-4113-8556C3366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8D7DB-7564-83ED-1770-E169DD803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DAF13-28AA-8EB4-01BF-A579C4544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18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B5E6-AD8C-8DFF-1C78-2ED740DE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E301F-CD5B-329A-9EF3-B2BB13B56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59713-1BD4-CB03-D90E-AD50D920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7D1D-BC20-317C-B88A-088C60CE5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29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72B91-5599-5FD3-1ACE-E5353C06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A0EF3-CA3E-CAB2-EA8A-E1E3625F5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C4505-68DA-2F39-BA41-B6AE89B63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2076A-1214-4CC0-BFF0-DD92654C2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64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2333F-0AC2-A6EA-B32D-613163F9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6EFE3-259D-406E-6EB9-BD99035C8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CC8F7-F750-3A7C-2595-AF6AF005D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3F7E7-8761-FD63-A189-FE51A66DF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EB980-C943-5C0C-569B-8BAB5C641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FB8DF8-DA75-A61B-2A62-5504DE151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9BBF5-78B4-D70B-D50C-6AF0A608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B4051A-6E82-C0F6-79EF-6A1DA667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42EC8-3460-8437-3353-29870292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87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7F2E6-3DFE-1BBD-22A3-C02783A6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4B399-3552-20F3-ABB5-4F945118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96FC6-D40C-65AE-2D2F-FC99562A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7F2CE5-A58B-FD8D-A5E8-AD2DD4B5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9C2AD-4CA3-8215-0FEA-54312F5C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05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64FE2-3A29-439D-1048-6B7AD22B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340C46-4D0B-D15E-1F75-6282D0B00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0CB94-3BA3-7C77-9793-2283D48E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9777B-102C-0F4E-6181-D07C2193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79A2A-59E8-9F92-EE85-4E3047B3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4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F5F84-E8F6-7409-4B54-AA9D4119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1091A-2E8F-4A2B-B76E-F36120E16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8EFF0D-2309-DBB6-556F-E185135F1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53E20-E351-1B22-0586-96130F78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9C248D-109D-81D9-6F30-DBE1A962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1B972-113D-9974-0D9C-C7AED68D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771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F4BC7-E90C-F766-6535-CCAFBE02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EA8A79-1683-F321-9B2E-BCCEE72C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5ED6D5-C328-9757-CA67-8D9A6D353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F896F6-BDCC-3AEE-B760-5E13B062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0A37C8-E427-9923-BD3A-C11D3AFB0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E2D69B-4021-D18B-4D0C-8A7179C5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BEFC3D-4203-A8D2-8492-A950F41E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5FCE2B-4C17-4F65-590E-E45A9C4E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28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07131-4C2D-0762-678F-F128CC45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E57145-51A7-3CBA-884A-F365C74B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D455B6-23C1-E5D3-34FF-DC778106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C7A355-BABC-3D66-6DC3-CD39D75F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0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FA22A0-EB46-FE38-A45C-1033DFF8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BC2EC7-5C12-2D2F-864E-23F6D354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A519B-51D9-7484-2B5C-7C988238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4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1BAD8-F721-3601-D638-A1BE124A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37A73-8B30-5941-16DD-38465AA0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5BD6D4-1BD0-5A55-976C-B125CD150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DF89E0-73FC-8999-BE00-C8C69A54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476469-3508-1646-B6CA-930EEF94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C81FA-5E27-1D93-D662-C07C695F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8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3BB91-E00E-A3ED-DB1E-15E61F48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7E9B41-C7AA-2F2F-CEFC-8BA9B829B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3A123-46DF-F118-0DE0-7096A0E6D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B92889-A323-141B-EDF5-77D05564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F5BB50-0A1F-5D79-28F3-F116674A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2C0281-3268-8E89-BDBB-72950ADB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63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62353-3D1D-06E8-7CC4-A475BFC6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567DBF-15F2-E776-3041-957B91079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986BBD-1929-5A41-B8C2-99480465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700DF-625A-281F-F0A9-50F886C1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5C22B-1B26-47BC-4FA7-A08F431B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92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003EBC-FA4A-D5FE-6838-873D26E28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4A8BB5-EE80-FEC6-03EF-4111612CE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71150-99F2-1A27-9BA4-599E9D83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EA9BA-40B0-8150-EFD1-454F52F0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4D6206-4A73-25A6-3883-16BFBBFD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349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4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CBBA2F-C67A-9C13-E4E7-D4EF32A5E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DE890D-39BC-EE57-27DB-AD79DC4D0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7B23A-8606-507C-80A2-441BF0DA9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894FD-597A-6B55-0245-017C27CA3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259C5A-81AA-921A-C6BD-BED65F5DA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3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2340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050" y="4334512"/>
            <a:ext cx="2476500" cy="889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049" y="5325112"/>
            <a:ext cx="2413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4E51D0-8112-1AC6-7783-D0709BF73C85}"/>
              </a:ext>
            </a:extLst>
          </p:cNvPr>
          <p:cNvSpPr/>
          <p:nvPr/>
        </p:nvSpPr>
        <p:spPr>
          <a:xfrm>
            <a:off x="3912258" y="365492"/>
            <a:ext cx="759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一、领用配送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C98685-5CDD-4338-0854-242DAE499863}"/>
              </a:ext>
            </a:extLst>
          </p:cNvPr>
          <p:cNvSpPr/>
          <p:nvPr/>
        </p:nvSpPr>
        <p:spPr>
          <a:xfrm>
            <a:off x="3912258" y="2132279"/>
            <a:ext cx="759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三、拆解仓储任务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9E88B7-EEB8-69EE-FB4E-E78065ABD8C6}"/>
              </a:ext>
            </a:extLst>
          </p:cNvPr>
          <p:cNvSpPr/>
          <p:nvPr/>
        </p:nvSpPr>
        <p:spPr>
          <a:xfrm>
            <a:off x="3912258" y="3070860"/>
            <a:ext cx="759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四、码头库存短驳计划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4AE236-AE3A-0BBA-36A1-659CF0F21DEA}"/>
              </a:ext>
            </a:extLst>
          </p:cNvPr>
          <p:cNvSpPr/>
          <p:nvPr/>
        </p:nvSpPr>
        <p:spPr>
          <a:xfrm>
            <a:off x="3912258" y="4046224"/>
            <a:ext cx="759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五、资材库拣配计划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FE80B5-0169-690A-D288-46F3560E69D4}"/>
              </a:ext>
            </a:extLst>
          </p:cNvPr>
          <p:cNvSpPr/>
          <p:nvPr/>
        </p:nvSpPr>
        <p:spPr>
          <a:xfrm>
            <a:off x="3912258" y="5092112"/>
            <a:ext cx="759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六、其他讨论事项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23B7B6-4AA8-1C9E-3BE5-2D3E5C7CB463}"/>
              </a:ext>
            </a:extLst>
          </p:cNvPr>
          <p:cNvSpPr/>
          <p:nvPr/>
        </p:nvSpPr>
        <p:spPr>
          <a:xfrm>
            <a:off x="3912258" y="1276133"/>
            <a:ext cx="759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二、决定配送货源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AB7D7-140E-5B76-DA58-8623DB34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272E3DB-F977-8D44-C2FE-82722E84B2E1}"/>
              </a:ext>
            </a:extLst>
          </p:cNvPr>
          <p:cNvSpPr/>
          <p:nvPr/>
        </p:nvSpPr>
        <p:spPr>
          <a:xfrm>
            <a:off x="615116" y="834066"/>
            <a:ext cx="742398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一、领用配送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阶段设计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E5984AAD-9F02-B67C-89BF-020F6034EE56}"/>
              </a:ext>
            </a:extLst>
          </p:cNvPr>
          <p:cNvSpPr/>
          <p:nvPr/>
        </p:nvSpPr>
        <p:spPr>
          <a:xfrm>
            <a:off x="2478372" y="1554066"/>
            <a:ext cx="8329327" cy="44698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决定配送货源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拆解到单次执行颗粒度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触发拣配计划与短驳计划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调度引擎按时触发执行仓储任务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482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2B83-7004-E02C-3D14-EED110A8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18A8294-54AC-8F56-18AC-5E26D2E15EA2}"/>
              </a:ext>
            </a:extLst>
          </p:cNvPr>
          <p:cNvSpPr/>
          <p:nvPr/>
        </p:nvSpPr>
        <p:spPr>
          <a:xfrm>
            <a:off x="171103" y="22927"/>
            <a:ext cx="11921655" cy="80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领用配送 从 厂内库存 改成 多货源考量</a:t>
            </a:r>
            <a:endParaRPr lang="zh-CN" altLang="en-US" sz="3733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8BE662-4A77-A56D-0433-96815CC5C4CF}"/>
              </a:ext>
            </a:extLst>
          </p:cNvPr>
          <p:cNvSpPr/>
          <p:nvPr/>
        </p:nvSpPr>
        <p:spPr>
          <a:xfrm>
            <a:off x="76912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用料需求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F7D2D1C-5F95-5BD3-1ED9-1CECD3B6B412}"/>
              </a:ext>
            </a:extLst>
          </p:cNvPr>
          <p:cNvSpPr/>
          <p:nvPr/>
        </p:nvSpPr>
        <p:spPr>
          <a:xfrm>
            <a:off x="1616860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请购需求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6669FDA-70CB-28CF-AAE1-0B5BE80DDE67}"/>
              </a:ext>
            </a:extLst>
          </p:cNvPr>
          <p:cNvSpPr/>
          <p:nvPr/>
        </p:nvSpPr>
        <p:spPr>
          <a:xfrm>
            <a:off x="3134659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7DD1C35-7E15-AA29-A72E-B3F5EB78C1B8}"/>
              </a:ext>
            </a:extLst>
          </p:cNvPr>
          <p:cNvSpPr/>
          <p:nvPr/>
        </p:nvSpPr>
        <p:spPr>
          <a:xfrm>
            <a:off x="4666533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D3FA96B-4E6B-83FB-8BE4-3D3DAF79E65E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1372912" y="2241594"/>
            <a:ext cx="24394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41C2259-1EB5-290A-E115-17BAAEBCE7CE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2912860" y="2241594"/>
            <a:ext cx="22179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81300BB-E5A8-9DC0-1B11-4B37DC63170F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4430659" y="2241594"/>
            <a:ext cx="2358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F829938-57BF-F147-9567-5EB397F891B3}"/>
              </a:ext>
            </a:extLst>
          </p:cNvPr>
          <p:cNvSpPr/>
          <p:nvPr/>
        </p:nvSpPr>
        <p:spPr>
          <a:xfrm>
            <a:off x="9337579" y="106299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领用需求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F1D524A-FA79-BA69-F731-DB9C9F6F0529}"/>
              </a:ext>
            </a:extLst>
          </p:cNvPr>
          <p:cNvCxnSpPr>
            <a:cxnSpLocks/>
            <a:stCxn id="49" idx="2"/>
            <a:endCxn id="5" idx="0"/>
          </p:cNvCxnSpPr>
          <p:nvPr/>
        </p:nvCxnSpPr>
        <p:spPr>
          <a:xfrm>
            <a:off x="9985579" y="1638992"/>
            <a:ext cx="0" cy="3146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B7C4768-2A58-01A6-B191-E1A5EE8F732B}"/>
              </a:ext>
            </a:extLst>
          </p:cNvPr>
          <p:cNvCxnSpPr>
            <a:cxnSpLocks/>
            <a:stCxn id="28" idx="3"/>
            <a:endCxn id="2" idx="1"/>
          </p:cNvCxnSpPr>
          <p:nvPr/>
        </p:nvCxnSpPr>
        <p:spPr>
          <a:xfrm>
            <a:off x="5962533" y="2241594"/>
            <a:ext cx="18330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流程图: 预定义过程 1">
            <a:extLst>
              <a:ext uri="{FF2B5EF4-FFF2-40B4-BE49-F238E27FC236}">
                <a16:creationId xmlns:a16="http://schemas.microsoft.com/office/drawing/2014/main" id="{036F70CC-0CC4-0ADB-65EB-9B7F7813B0EF}"/>
              </a:ext>
            </a:extLst>
          </p:cNvPr>
          <p:cNvSpPr/>
          <p:nvPr/>
        </p:nvSpPr>
        <p:spPr>
          <a:xfrm>
            <a:off x="7795547" y="1791594"/>
            <a:ext cx="1296000" cy="90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84DDDA7-4B3B-20B3-48F5-5B975F172C99}"/>
              </a:ext>
            </a:extLst>
          </p:cNvPr>
          <p:cNvSpPr/>
          <p:nvPr/>
        </p:nvSpPr>
        <p:spPr>
          <a:xfrm>
            <a:off x="9337579" y="1953594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厂内库存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55428FB-6929-CA59-345B-EA5E052DA12C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91547" y="2241594"/>
            <a:ext cx="2460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66A28144-975E-8CF7-60BA-823BD134516C}"/>
              </a:ext>
            </a:extLst>
          </p:cNvPr>
          <p:cNvCxnSpPr>
            <a:stCxn id="22" idx="0"/>
            <a:endCxn id="49" idx="1"/>
          </p:cNvCxnSpPr>
          <p:nvPr/>
        </p:nvCxnSpPr>
        <p:spPr>
          <a:xfrm rot="5400000" flipH="1" flipV="1">
            <a:off x="4729944" y="-2654040"/>
            <a:ext cx="602602" cy="861266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流程图: 预定义过程 23">
            <a:extLst>
              <a:ext uri="{FF2B5EF4-FFF2-40B4-BE49-F238E27FC236}">
                <a16:creationId xmlns:a16="http://schemas.microsoft.com/office/drawing/2014/main" id="{681ED4FE-2EA3-44C8-AE6B-1B46F0F88E6F}"/>
              </a:ext>
            </a:extLst>
          </p:cNvPr>
          <p:cNvSpPr/>
          <p:nvPr/>
        </p:nvSpPr>
        <p:spPr>
          <a:xfrm>
            <a:off x="10838590" y="1791594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4F71493-3A9E-E0FE-642E-ABE2FF4F2929}"/>
              </a:ext>
            </a:extLst>
          </p:cNvPr>
          <p:cNvCxnSpPr>
            <a:stCxn id="5" idx="3"/>
            <a:endCxn id="24" idx="1"/>
          </p:cNvCxnSpPr>
          <p:nvPr/>
        </p:nvCxnSpPr>
        <p:spPr>
          <a:xfrm>
            <a:off x="10633579" y="2241594"/>
            <a:ext cx="2050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39480AB-F668-AE5E-D25E-93AD0FDF33CF}"/>
              </a:ext>
            </a:extLst>
          </p:cNvPr>
          <p:cNvSpPr/>
          <p:nvPr/>
        </p:nvSpPr>
        <p:spPr>
          <a:xfrm>
            <a:off x="4666533" y="2926992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码头收货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73E5089-AFA3-FD01-375D-632222AA00DF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>
            <a:off x="5314533" y="2529594"/>
            <a:ext cx="0" cy="39739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01C58C4-E010-FFB1-3E39-96E5428EAF19}"/>
              </a:ext>
            </a:extLst>
          </p:cNvPr>
          <p:cNvSpPr/>
          <p:nvPr/>
        </p:nvSpPr>
        <p:spPr>
          <a:xfrm>
            <a:off x="6150375" y="2926992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码头短驳预约进厂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3DFBBB1-9D3D-390B-4212-3D6869EB8238}"/>
              </a:ext>
            </a:extLst>
          </p:cNvPr>
          <p:cNvCxnSpPr>
            <a:stCxn id="45" idx="3"/>
            <a:endCxn id="2" idx="1"/>
          </p:cNvCxnSpPr>
          <p:nvPr/>
        </p:nvCxnSpPr>
        <p:spPr>
          <a:xfrm flipV="1">
            <a:off x="7446375" y="2241594"/>
            <a:ext cx="349172" cy="97339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C68D6CA-1475-DA1C-A518-6BFF7ABCE7CD}"/>
              </a:ext>
            </a:extLst>
          </p:cNvPr>
          <p:cNvCxnSpPr>
            <a:cxnSpLocks/>
            <a:stCxn id="34" idx="3"/>
            <a:endCxn id="45" idx="1"/>
          </p:cNvCxnSpPr>
          <p:nvPr/>
        </p:nvCxnSpPr>
        <p:spPr>
          <a:xfrm>
            <a:off x="5962533" y="3214992"/>
            <a:ext cx="18784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6E1FA2CF-9DD9-DECA-5037-75250FE7FCED}"/>
              </a:ext>
            </a:extLst>
          </p:cNvPr>
          <p:cNvSpPr/>
          <p:nvPr/>
        </p:nvSpPr>
        <p:spPr>
          <a:xfrm>
            <a:off x="34220" y="545840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用料需求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170F590D-FF01-785C-B076-AF2471002378}"/>
              </a:ext>
            </a:extLst>
          </p:cNvPr>
          <p:cNvSpPr/>
          <p:nvPr/>
        </p:nvSpPr>
        <p:spPr>
          <a:xfrm>
            <a:off x="1597025" y="545112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请购需求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B58B928-AB22-2E5F-7D34-662B54C1650A}"/>
              </a:ext>
            </a:extLst>
          </p:cNvPr>
          <p:cNvSpPr/>
          <p:nvPr/>
        </p:nvSpPr>
        <p:spPr>
          <a:xfrm>
            <a:off x="3199660" y="545112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84C5D25-85BD-A9C7-50D8-D7E92B686857}"/>
              </a:ext>
            </a:extLst>
          </p:cNvPr>
          <p:cNvSpPr/>
          <p:nvPr/>
        </p:nvSpPr>
        <p:spPr>
          <a:xfrm>
            <a:off x="4783610" y="545112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AB82A08-4FF0-F9F7-BC3E-AC43A541B416}"/>
              </a:ext>
            </a:extLst>
          </p:cNvPr>
          <p:cNvSpPr/>
          <p:nvPr/>
        </p:nvSpPr>
        <p:spPr>
          <a:xfrm>
            <a:off x="8788700" y="4716731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EE818E22-859A-07A5-60D9-F1A67A62F330}"/>
              </a:ext>
            </a:extLst>
          </p:cNvPr>
          <p:cNvSpPr/>
          <p:nvPr/>
        </p:nvSpPr>
        <p:spPr>
          <a:xfrm>
            <a:off x="8788700" y="5379597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码头库存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0AD9FEC9-EA86-6814-9070-96D178A29B21}"/>
              </a:ext>
            </a:extLst>
          </p:cNvPr>
          <p:cNvSpPr/>
          <p:nvPr/>
        </p:nvSpPr>
        <p:spPr>
          <a:xfrm>
            <a:off x="8788700" y="6089448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厂内库存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93922C38-6349-B9CD-C68F-61E55DB463B6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1330220" y="5739120"/>
            <a:ext cx="266805" cy="728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2487CAD-E87C-165D-887C-BF3856B13882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2893025" y="5739120"/>
            <a:ext cx="30663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687FC0A-DE92-F882-EA4A-3DE62EAC66C7}"/>
              </a:ext>
            </a:extLst>
          </p:cNvPr>
          <p:cNvCxnSpPr>
            <a:stCxn id="89" idx="3"/>
            <a:endCxn id="90" idx="1"/>
          </p:cNvCxnSpPr>
          <p:nvPr/>
        </p:nvCxnSpPr>
        <p:spPr>
          <a:xfrm>
            <a:off x="4495660" y="5739120"/>
            <a:ext cx="2879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AA9CE990-B501-0165-BD21-4AEBF50B1B21}"/>
              </a:ext>
            </a:extLst>
          </p:cNvPr>
          <p:cNvCxnSpPr>
            <a:cxnSpLocks/>
            <a:stCxn id="101" idx="4"/>
            <a:endCxn id="91" idx="1"/>
          </p:cNvCxnSpPr>
          <p:nvPr/>
        </p:nvCxnSpPr>
        <p:spPr>
          <a:xfrm flipV="1">
            <a:off x="7692513" y="5004731"/>
            <a:ext cx="1096187" cy="65356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EC496FC4-FC3B-FBBF-AF27-E075F345755C}"/>
              </a:ext>
            </a:extLst>
          </p:cNvPr>
          <p:cNvCxnSpPr>
            <a:cxnSpLocks/>
            <a:stCxn id="101" idx="4"/>
            <a:endCxn id="93" idx="1"/>
          </p:cNvCxnSpPr>
          <p:nvPr/>
        </p:nvCxnSpPr>
        <p:spPr>
          <a:xfrm>
            <a:off x="7692513" y="5658300"/>
            <a:ext cx="1096187" cy="71914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FC7C2E47-63FB-77C3-97ED-9BC7DCBFDEDC}"/>
              </a:ext>
            </a:extLst>
          </p:cNvPr>
          <p:cNvSpPr/>
          <p:nvPr/>
        </p:nvSpPr>
        <p:spPr>
          <a:xfrm>
            <a:off x="6397322" y="393326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领用需求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3CAB535E-0F0E-E205-06F6-1CFE0040F4C0}"/>
              </a:ext>
            </a:extLst>
          </p:cNvPr>
          <p:cNvCxnSpPr>
            <a:cxnSpLocks/>
            <a:stCxn id="101" idx="4"/>
            <a:endCxn id="92" idx="1"/>
          </p:cNvCxnSpPr>
          <p:nvPr/>
        </p:nvCxnSpPr>
        <p:spPr>
          <a:xfrm>
            <a:off x="7692513" y="5658300"/>
            <a:ext cx="1096187" cy="92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流程图: 直接访问存储器 100">
            <a:extLst>
              <a:ext uri="{FF2B5EF4-FFF2-40B4-BE49-F238E27FC236}">
                <a16:creationId xmlns:a16="http://schemas.microsoft.com/office/drawing/2014/main" id="{E8905B9C-87BB-DD74-BC99-BA5CC220F3BA}"/>
              </a:ext>
            </a:extLst>
          </p:cNvPr>
          <p:cNvSpPr/>
          <p:nvPr/>
        </p:nvSpPr>
        <p:spPr>
          <a:xfrm>
            <a:off x="6396513" y="4740300"/>
            <a:ext cx="1296000" cy="1836000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0705226C-2E66-5E85-8F6E-AAA37EDC5ACE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7044513" y="4509262"/>
            <a:ext cx="809" cy="2310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4EE1415-7731-0AF3-22E5-EE386C534D49}"/>
              </a:ext>
            </a:extLst>
          </p:cNvPr>
          <p:cNvCxnSpPr>
            <a:stCxn id="91" idx="3"/>
          </p:cNvCxnSpPr>
          <p:nvPr/>
        </p:nvCxnSpPr>
        <p:spPr>
          <a:xfrm>
            <a:off x="10084699" y="5004731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9B616E5B-689A-0DA9-E970-193251F9BCEA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10084700" y="5667597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1257BA0-51DA-C7AC-A079-66686705CA01}"/>
              </a:ext>
            </a:extLst>
          </p:cNvPr>
          <p:cNvCxnSpPr>
            <a:cxnSpLocks/>
            <a:stCxn id="93" idx="3"/>
            <a:endCxn id="107" idx="1"/>
          </p:cNvCxnSpPr>
          <p:nvPr/>
        </p:nvCxnSpPr>
        <p:spPr>
          <a:xfrm>
            <a:off x="10084700" y="6377448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流程图: 预定义过程 105">
            <a:extLst>
              <a:ext uri="{FF2B5EF4-FFF2-40B4-BE49-F238E27FC236}">
                <a16:creationId xmlns:a16="http://schemas.microsoft.com/office/drawing/2014/main" id="{1B9EAB07-C9BE-C97B-3E7A-FC8CA5B5B401}"/>
              </a:ext>
            </a:extLst>
          </p:cNvPr>
          <p:cNvSpPr/>
          <p:nvPr/>
        </p:nvSpPr>
        <p:spPr>
          <a:xfrm>
            <a:off x="10552699" y="4848787"/>
            <a:ext cx="1296000" cy="90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sp>
        <p:nvSpPr>
          <p:cNvPr id="107" name="流程图: 预定义过程 106">
            <a:extLst>
              <a:ext uri="{FF2B5EF4-FFF2-40B4-BE49-F238E27FC236}">
                <a16:creationId xmlns:a16="http://schemas.microsoft.com/office/drawing/2014/main" id="{80618EB0-7C1C-F1D4-90A1-34336A7D8C36}"/>
              </a:ext>
            </a:extLst>
          </p:cNvPr>
          <p:cNvSpPr/>
          <p:nvPr/>
        </p:nvSpPr>
        <p:spPr>
          <a:xfrm>
            <a:off x="10552700" y="5945448"/>
            <a:ext cx="1296000" cy="864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0FBC2DB5-822A-4DDF-6FA3-9AA311840C23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6079610" y="5739120"/>
            <a:ext cx="316903" cy="80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A8E2D0C6-BA7E-178D-7621-EE6B5273F6D6}"/>
              </a:ext>
            </a:extLst>
          </p:cNvPr>
          <p:cNvCxnSpPr>
            <a:stCxn id="87" idx="0"/>
            <a:endCxn id="99" idx="1"/>
          </p:cNvCxnSpPr>
          <p:nvPr/>
        </p:nvCxnSpPr>
        <p:spPr>
          <a:xfrm rot="5400000" flipH="1" flipV="1">
            <a:off x="2921201" y="1982281"/>
            <a:ext cx="1237140" cy="571510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295BAB10-EEFD-E9DA-0300-2867B3AD8C08}"/>
              </a:ext>
            </a:extLst>
          </p:cNvPr>
          <p:cNvCxnSpPr/>
          <p:nvPr/>
        </p:nvCxnSpPr>
        <p:spPr>
          <a:xfrm>
            <a:off x="76912" y="3668092"/>
            <a:ext cx="12115088" cy="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2A221638-A3AC-958D-17AA-1510DA8F78A7}"/>
              </a:ext>
            </a:extLst>
          </p:cNvPr>
          <p:cNvSpPr/>
          <p:nvPr/>
        </p:nvSpPr>
        <p:spPr>
          <a:xfrm>
            <a:off x="48781" y="843724"/>
            <a:ext cx="1080000" cy="453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E6F9AB86-DA42-6D44-B7BB-7EE14597E250}"/>
              </a:ext>
            </a:extLst>
          </p:cNvPr>
          <p:cNvSpPr/>
          <p:nvPr/>
        </p:nvSpPr>
        <p:spPr>
          <a:xfrm>
            <a:off x="35625" y="3749040"/>
            <a:ext cx="1080000" cy="453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57C00E4-4BA1-7AA1-02E3-5989B66D7E43}"/>
              </a:ext>
            </a:extLst>
          </p:cNvPr>
          <p:cNvSpPr/>
          <p:nvPr/>
        </p:nvSpPr>
        <p:spPr>
          <a:xfrm>
            <a:off x="7740013" y="1744094"/>
            <a:ext cx="1404000" cy="10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F27263A-F6A8-E1F5-3000-C36E9A5A01B9}"/>
              </a:ext>
            </a:extLst>
          </p:cNvPr>
          <p:cNvSpPr/>
          <p:nvPr/>
        </p:nvSpPr>
        <p:spPr>
          <a:xfrm>
            <a:off x="10766238" y="1742117"/>
            <a:ext cx="1404000" cy="10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DA36014-7B67-3A5C-AC74-29116575C476}"/>
              </a:ext>
            </a:extLst>
          </p:cNvPr>
          <p:cNvSpPr/>
          <p:nvPr/>
        </p:nvSpPr>
        <p:spPr>
          <a:xfrm>
            <a:off x="10493323" y="4782394"/>
            <a:ext cx="1404000" cy="20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40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C453EE-CF3B-4537-09A4-A1F2D26C8034}"/>
              </a:ext>
            </a:extLst>
          </p:cNvPr>
          <p:cNvSpPr/>
          <p:nvPr/>
        </p:nvSpPr>
        <p:spPr>
          <a:xfrm>
            <a:off x="5699234" y="1291969"/>
            <a:ext cx="1242000" cy="273455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495D55A-ED3F-1566-1CDF-06AA456FD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9" y="7872"/>
            <a:ext cx="11501541" cy="599559"/>
          </a:xfrm>
        </p:spPr>
        <p:txBody>
          <a:bodyPr>
            <a:noAutofit/>
          </a:bodyPr>
          <a:lstStyle/>
          <a:p>
            <a:pPr algn="l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前段业务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FE2ABCE-25C5-9C36-FB3E-4FFAE32BDA2F}"/>
              </a:ext>
            </a:extLst>
          </p:cNvPr>
          <p:cNvSpPr/>
          <p:nvPr/>
        </p:nvSpPr>
        <p:spPr>
          <a:xfrm>
            <a:off x="3901963" y="4629135"/>
            <a:ext cx="1620000" cy="186069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不配送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800A991-B66C-BB39-11CE-E91BCE1AAEAA}"/>
              </a:ext>
            </a:extLst>
          </p:cNvPr>
          <p:cNvSpPr/>
          <p:nvPr/>
        </p:nvSpPr>
        <p:spPr>
          <a:xfrm>
            <a:off x="3901963" y="695034"/>
            <a:ext cx="1620000" cy="33721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配送来源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1F321B-B492-22BB-4C95-FC8AC695B03E}"/>
              </a:ext>
            </a:extLst>
          </p:cNvPr>
          <p:cNvSpPr/>
          <p:nvPr/>
        </p:nvSpPr>
        <p:spPr>
          <a:xfrm>
            <a:off x="332509" y="3721873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AC3F3F-92F4-B3D6-ABDD-AC08E942C092}"/>
              </a:ext>
            </a:extLst>
          </p:cNvPr>
          <p:cNvSpPr/>
          <p:nvPr/>
        </p:nvSpPr>
        <p:spPr>
          <a:xfrm>
            <a:off x="4152652" y="1369692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D440CFF-AFFE-F271-8EB1-CD8F467A2E8B}"/>
              </a:ext>
            </a:extLst>
          </p:cNvPr>
          <p:cNvSpPr/>
          <p:nvPr/>
        </p:nvSpPr>
        <p:spPr>
          <a:xfrm>
            <a:off x="4152652" y="5137166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自行领料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CDF3166-6F42-7F44-45DD-F043748748E5}"/>
              </a:ext>
            </a:extLst>
          </p:cNvPr>
          <p:cNvSpPr/>
          <p:nvPr/>
        </p:nvSpPr>
        <p:spPr>
          <a:xfrm>
            <a:off x="4152652" y="5839746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设备发料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032D64-7F82-E04A-9594-812DD2815590}"/>
              </a:ext>
            </a:extLst>
          </p:cNvPr>
          <p:cNvSpPr/>
          <p:nvPr/>
        </p:nvSpPr>
        <p:spPr>
          <a:xfrm>
            <a:off x="4152652" y="2042189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码头库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3C6E030-C922-A9EC-E0B1-38F609D5F454}"/>
              </a:ext>
            </a:extLst>
          </p:cNvPr>
          <p:cNvSpPr/>
          <p:nvPr/>
        </p:nvSpPr>
        <p:spPr>
          <a:xfrm>
            <a:off x="4152652" y="2717918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资材库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F8A951-DABF-812B-159A-D2099AC8B2A8}"/>
              </a:ext>
            </a:extLst>
          </p:cNvPr>
          <p:cNvSpPr/>
          <p:nvPr/>
        </p:nvSpPr>
        <p:spPr>
          <a:xfrm>
            <a:off x="4152652" y="3400521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46408431-E0DD-7B0E-3EDE-6EC170A72794}"/>
              </a:ext>
            </a:extLst>
          </p:cNvPr>
          <p:cNvCxnSpPr>
            <a:cxnSpLocks/>
            <a:stCxn id="24" idx="2"/>
            <a:endCxn id="9" idx="1"/>
          </p:cNvCxnSpPr>
          <p:nvPr/>
        </p:nvCxnSpPr>
        <p:spPr>
          <a:xfrm rot="16200000" flipH="1">
            <a:off x="3085044" y="4339557"/>
            <a:ext cx="605293" cy="15299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84A8760A-C355-8726-06E9-E9D7FD4998E3}"/>
              </a:ext>
            </a:extLst>
          </p:cNvPr>
          <p:cNvCxnSpPr>
            <a:cxnSpLocks/>
            <a:stCxn id="24" idx="2"/>
            <a:endCxn id="10" idx="1"/>
          </p:cNvCxnSpPr>
          <p:nvPr/>
        </p:nvCxnSpPr>
        <p:spPr>
          <a:xfrm rot="16200000" flipH="1">
            <a:off x="2733754" y="4690847"/>
            <a:ext cx="1307873" cy="15299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FCAB5DB-37D7-D90F-5FD3-44091C8A024B}"/>
              </a:ext>
            </a:extLst>
          </p:cNvPr>
          <p:cNvSpPr/>
          <p:nvPr/>
        </p:nvSpPr>
        <p:spPr>
          <a:xfrm>
            <a:off x="2995287" y="5800145"/>
            <a:ext cx="1231965" cy="3096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自动仓</a:t>
            </a:r>
          </a:p>
        </p:txBody>
      </p:sp>
      <p:sp>
        <p:nvSpPr>
          <p:cNvPr id="24" name="流程图: 决策 23">
            <a:extLst>
              <a:ext uri="{FF2B5EF4-FFF2-40B4-BE49-F238E27FC236}">
                <a16:creationId xmlns:a16="http://schemas.microsoft.com/office/drawing/2014/main" id="{615E0545-C24E-4905-A64C-FAB6AF05429D}"/>
              </a:ext>
            </a:extLst>
          </p:cNvPr>
          <p:cNvSpPr/>
          <p:nvPr/>
        </p:nvSpPr>
        <p:spPr>
          <a:xfrm>
            <a:off x="1812729" y="3181873"/>
            <a:ext cx="1620000" cy="1620000"/>
          </a:xfrm>
          <a:prstGeom prst="flowChartDecision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EA0D0364-9D2C-20DD-E4A8-70E78CFC99EA}"/>
              </a:ext>
            </a:extLst>
          </p:cNvPr>
          <p:cNvCxnSpPr>
            <a:cxnSpLocks/>
            <a:stCxn id="24" idx="3"/>
            <a:endCxn id="5" idx="1"/>
          </p:cNvCxnSpPr>
          <p:nvPr/>
        </p:nvCxnSpPr>
        <p:spPr>
          <a:xfrm flipV="1">
            <a:off x="3432729" y="2381113"/>
            <a:ext cx="469234" cy="16107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流程图: 文档 30">
            <a:extLst>
              <a:ext uri="{FF2B5EF4-FFF2-40B4-BE49-F238E27FC236}">
                <a16:creationId xmlns:a16="http://schemas.microsoft.com/office/drawing/2014/main" id="{19318CFD-805A-3735-1EE4-13C0921D8744}"/>
              </a:ext>
            </a:extLst>
          </p:cNvPr>
          <p:cNvSpPr/>
          <p:nvPr/>
        </p:nvSpPr>
        <p:spPr>
          <a:xfrm>
            <a:off x="2178587" y="1121653"/>
            <a:ext cx="878928" cy="776732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</a:t>
            </a:r>
          </a:p>
        </p:txBody>
      </p:sp>
      <p:sp>
        <p:nvSpPr>
          <p:cNvPr id="32" name="流程图: 文档 31">
            <a:extLst>
              <a:ext uri="{FF2B5EF4-FFF2-40B4-BE49-F238E27FC236}">
                <a16:creationId xmlns:a16="http://schemas.microsoft.com/office/drawing/2014/main" id="{ACBD1842-DDC2-7831-06E7-9A698CDCEEF5}"/>
              </a:ext>
            </a:extLst>
          </p:cNvPr>
          <p:cNvSpPr/>
          <p:nvPr/>
        </p:nvSpPr>
        <p:spPr>
          <a:xfrm>
            <a:off x="1169356" y="1121653"/>
            <a:ext cx="878928" cy="776732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免堆</a:t>
            </a:r>
          </a:p>
        </p:txBody>
      </p:sp>
      <p:sp>
        <p:nvSpPr>
          <p:cNvPr id="33" name="流程图: 文档 32">
            <a:extLst>
              <a:ext uri="{FF2B5EF4-FFF2-40B4-BE49-F238E27FC236}">
                <a16:creationId xmlns:a16="http://schemas.microsoft.com/office/drawing/2014/main" id="{B889AF9B-AAFE-BC96-20DC-F2802A513F4C}"/>
              </a:ext>
            </a:extLst>
          </p:cNvPr>
          <p:cNvSpPr/>
          <p:nvPr/>
        </p:nvSpPr>
        <p:spPr>
          <a:xfrm>
            <a:off x="122606" y="2623518"/>
            <a:ext cx="878928" cy="776732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配送作业成本</a:t>
            </a:r>
          </a:p>
        </p:txBody>
      </p:sp>
      <p:sp>
        <p:nvSpPr>
          <p:cNvPr id="34" name="流程图: 文档 33">
            <a:extLst>
              <a:ext uri="{FF2B5EF4-FFF2-40B4-BE49-F238E27FC236}">
                <a16:creationId xmlns:a16="http://schemas.microsoft.com/office/drawing/2014/main" id="{EF9060CF-65A1-D0A3-DD63-0EA994EDC361}"/>
              </a:ext>
            </a:extLst>
          </p:cNvPr>
          <p:cNvSpPr/>
          <p:nvPr/>
        </p:nvSpPr>
        <p:spPr>
          <a:xfrm>
            <a:off x="123187" y="1121653"/>
            <a:ext cx="878928" cy="776732"/>
          </a:xfrm>
          <a:prstGeom prst="flowChartDocumen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16FDB85C-7517-4FCF-4C9A-2DF42E967242}"/>
              </a:ext>
            </a:extLst>
          </p:cNvPr>
          <p:cNvCxnSpPr>
            <a:cxnSpLocks/>
            <a:stCxn id="34" idx="2"/>
          </p:cNvCxnSpPr>
          <p:nvPr/>
        </p:nvCxnSpPr>
        <p:spPr>
          <a:xfrm rot="16200000" flipH="1">
            <a:off x="893372" y="1516313"/>
            <a:ext cx="1398637" cy="20600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1B5F3555-22CE-BBD4-129A-B62ED3935ED1}"/>
              </a:ext>
            </a:extLst>
          </p:cNvPr>
          <p:cNvCxnSpPr>
            <a:cxnSpLocks/>
            <a:stCxn id="32" idx="2"/>
          </p:cNvCxnSpPr>
          <p:nvPr/>
        </p:nvCxnSpPr>
        <p:spPr>
          <a:xfrm rot="16200000" flipH="1">
            <a:off x="1416456" y="2039397"/>
            <a:ext cx="1398637" cy="10139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7FF3915E-0E4D-796C-E742-CA20CE87000E}"/>
              </a:ext>
            </a:extLst>
          </p:cNvPr>
          <p:cNvCxnSpPr>
            <a:cxnSpLocks/>
            <a:stCxn id="31" idx="2"/>
          </p:cNvCxnSpPr>
          <p:nvPr/>
        </p:nvCxnSpPr>
        <p:spPr>
          <a:xfrm rot="16200000" flipH="1">
            <a:off x="1921072" y="2544013"/>
            <a:ext cx="1398637" cy="46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6E087285-6E15-DCAC-74E3-644578E8954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01534" y="3011884"/>
            <a:ext cx="1621195" cy="2337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235CBEB-0440-C288-2E54-7D3AF12010A3}"/>
              </a:ext>
            </a:extLst>
          </p:cNvPr>
          <p:cNvSpPr/>
          <p:nvPr/>
        </p:nvSpPr>
        <p:spPr>
          <a:xfrm>
            <a:off x="9545649" y="1369692"/>
            <a:ext cx="1152000" cy="540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预约号绑配送单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90AE17D-EA13-353A-55E7-1D7F902A2F7C}"/>
              </a:ext>
            </a:extLst>
          </p:cNvPr>
          <p:cNvSpPr/>
          <p:nvPr/>
        </p:nvSpPr>
        <p:spPr>
          <a:xfrm>
            <a:off x="9545649" y="2042189"/>
            <a:ext cx="1152000" cy="540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预约号绑配送单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5F7F272-AD3B-BA17-2B85-901CD1B641AD}"/>
              </a:ext>
            </a:extLst>
          </p:cNvPr>
          <p:cNvSpPr/>
          <p:nvPr/>
        </p:nvSpPr>
        <p:spPr>
          <a:xfrm>
            <a:off x="9545649" y="2714685"/>
            <a:ext cx="1152000" cy="540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配送单绑配送单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8D408E3-DD7F-A7F7-FC72-61E31A8B7CB8}"/>
              </a:ext>
            </a:extLst>
          </p:cNvPr>
          <p:cNvSpPr/>
          <p:nvPr/>
        </p:nvSpPr>
        <p:spPr>
          <a:xfrm>
            <a:off x="8277735" y="3400521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送货预约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688ED43-D025-F871-AC97-9A506119AF30}"/>
              </a:ext>
            </a:extLst>
          </p:cNvPr>
          <p:cNvCxnSpPr>
            <a:stCxn id="7" idx="3"/>
            <a:endCxn id="42" idx="1"/>
          </p:cNvCxnSpPr>
          <p:nvPr/>
        </p:nvCxnSpPr>
        <p:spPr>
          <a:xfrm>
            <a:off x="5304652" y="1639692"/>
            <a:ext cx="42409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DC11D31-4357-60EB-A301-56DCD132EB47}"/>
              </a:ext>
            </a:extLst>
          </p:cNvPr>
          <p:cNvCxnSpPr>
            <a:cxnSpLocks/>
            <a:stCxn id="11" idx="3"/>
            <a:endCxn id="45" idx="1"/>
          </p:cNvCxnSpPr>
          <p:nvPr/>
        </p:nvCxnSpPr>
        <p:spPr>
          <a:xfrm>
            <a:off x="5304652" y="2312189"/>
            <a:ext cx="42409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C7E43D0-C752-586F-A53E-9719D8061BF5}"/>
              </a:ext>
            </a:extLst>
          </p:cNvPr>
          <p:cNvCxnSpPr>
            <a:stCxn id="12" idx="3"/>
            <a:endCxn id="46" idx="1"/>
          </p:cNvCxnSpPr>
          <p:nvPr/>
        </p:nvCxnSpPr>
        <p:spPr>
          <a:xfrm flipV="1">
            <a:off x="5304652" y="2984685"/>
            <a:ext cx="4240997" cy="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1A921C0-03F1-8068-217F-96D71D672A32}"/>
              </a:ext>
            </a:extLst>
          </p:cNvPr>
          <p:cNvCxnSpPr>
            <a:stCxn id="14" idx="3"/>
            <a:endCxn id="47" idx="1"/>
          </p:cNvCxnSpPr>
          <p:nvPr/>
        </p:nvCxnSpPr>
        <p:spPr>
          <a:xfrm>
            <a:off x="5304652" y="3670521"/>
            <a:ext cx="29730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3C8464A-6553-4660-26C3-445DEC6584DD}"/>
              </a:ext>
            </a:extLst>
          </p:cNvPr>
          <p:cNvSpPr/>
          <p:nvPr/>
        </p:nvSpPr>
        <p:spPr>
          <a:xfrm>
            <a:off x="5752364" y="2042189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短驳计划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E73A8DC-F543-C171-CCA2-B78A3FF3944B}"/>
              </a:ext>
            </a:extLst>
          </p:cNvPr>
          <p:cNvSpPr/>
          <p:nvPr/>
        </p:nvSpPr>
        <p:spPr>
          <a:xfrm>
            <a:off x="5752364" y="2717918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拣配计划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EFA53C3-9869-E9B5-241D-1BA991529307}"/>
              </a:ext>
            </a:extLst>
          </p:cNvPr>
          <p:cNvSpPr/>
          <p:nvPr/>
        </p:nvSpPr>
        <p:spPr>
          <a:xfrm>
            <a:off x="6995646" y="3400521"/>
            <a:ext cx="1152000" cy="540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</a:p>
        </p:txBody>
      </p:sp>
      <p:sp>
        <p:nvSpPr>
          <p:cNvPr id="59" name="流程图: 预定义过程 58">
            <a:extLst>
              <a:ext uri="{FF2B5EF4-FFF2-40B4-BE49-F238E27FC236}">
                <a16:creationId xmlns:a16="http://schemas.microsoft.com/office/drawing/2014/main" id="{C088A4A5-2ED4-C374-3071-55E2456E88FA}"/>
              </a:ext>
            </a:extLst>
          </p:cNvPr>
          <p:cNvSpPr/>
          <p:nvPr/>
        </p:nvSpPr>
        <p:spPr>
          <a:xfrm>
            <a:off x="11041644" y="1501894"/>
            <a:ext cx="1080000" cy="90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D6CCF10E-F3BC-0885-830D-80276E78588B}"/>
              </a:ext>
            </a:extLst>
          </p:cNvPr>
          <p:cNvCxnSpPr>
            <a:stCxn id="42" idx="3"/>
            <a:endCxn id="59" idx="1"/>
          </p:cNvCxnSpPr>
          <p:nvPr/>
        </p:nvCxnSpPr>
        <p:spPr>
          <a:xfrm>
            <a:off x="10697649" y="1639692"/>
            <a:ext cx="343995" cy="3122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16E5C951-C9BC-344B-2DFA-8F060660A699}"/>
              </a:ext>
            </a:extLst>
          </p:cNvPr>
          <p:cNvCxnSpPr>
            <a:cxnSpLocks/>
            <a:stCxn id="45" idx="3"/>
            <a:endCxn id="59" idx="1"/>
          </p:cNvCxnSpPr>
          <p:nvPr/>
        </p:nvCxnSpPr>
        <p:spPr>
          <a:xfrm flipV="1">
            <a:off x="10697649" y="1951894"/>
            <a:ext cx="343995" cy="3602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流程图: 预定义过程 67">
            <a:extLst>
              <a:ext uri="{FF2B5EF4-FFF2-40B4-BE49-F238E27FC236}">
                <a16:creationId xmlns:a16="http://schemas.microsoft.com/office/drawing/2014/main" id="{305D792A-3851-BB0A-79BA-2E52E10BDBC1}"/>
              </a:ext>
            </a:extLst>
          </p:cNvPr>
          <p:cNvSpPr/>
          <p:nvPr/>
        </p:nvSpPr>
        <p:spPr>
          <a:xfrm>
            <a:off x="11041644" y="2534850"/>
            <a:ext cx="1080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78FC66B-24C0-BFD9-0308-8A582AB4F394}"/>
              </a:ext>
            </a:extLst>
          </p:cNvPr>
          <p:cNvCxnSpPr>
            <a:stCxn id="46" idx="3"/>
            <a:endCxn id="68" idx="1"/>
          </p:cNvCxnSpPr>
          <p:nvPr/>
        </p:nvCxnSpPr>
        <p:spPr>
          <a:xfrm>
            <a:off x="10697649" y="2984685"/>
            <a:ext cx="343995" cy="1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BFF68BBC-C0D6-5D75-20E6-8043564ED184}"/>
              </a:ext>
            </a:extLst>
          </p:cNvPr>
          <p:cNvSpPr txBox="1"/>
          <p:nvPr/>
        </p:nvSpPr>
        <p:spPr>
          <a:xfrm>
            <a:off x="5234236" y="303835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流程图: 接点 72">
            <a:extLst>
              <a:ext uri="{FF2B5EF4-FFF2-40B4-BE49-F238E27FC236}">
                <a16:creationId xmlns:a16="http://schemas.microsoft.com/office/drawing/2014/main" id="{6A0CD15D-5CAE-1787-43B5-3AEB993429D2}"/>
              </a:ext>
            </a:extLst>
          </p:cNvPr>
          <p:cNvSpPr/>
          <p:nvPr/>
        </p:nvSpPr>
        <p:spPr>
          <a:xfrm>
            <a:off x="5609234" y="2042369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1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75" name="流程图: 接点 74">
            <a:extLst>
              <a:ext uri="{FF2B5EF4-FFF2-40B4-BE49-F238E27FC236}">
                <a16:creationId xmlns:a16="http://schemas.microsoft.com/office/drawing/2014/main" id="{677A750F-833E-9AD5-0034-EDD4EED434B7}"/>
              </a:ext>
            </a:extLst>
          </p:cNvPr>
          <p:cNvSpPr/>
          <p:nvPr/>
        </p:nvSpPr>
        <p:spPr>
          <a:xfrm>
            <a:off x="6418523" y="5192106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流程图: 接点 75">
            <a:extLst>
              <a:ext uri="{FF2B5EF4-FFF2-40B4-BE49-F238E27FC236}">
                <a16:creationId xmlns:a16="http://schemas.microsoft.com/office/drawing/2014/main" id="{937B9F05-3134-F5E3-2D51-0040FA3AA9E0}"/>
              </a:ext>
            </a:extLst>
          </p:cNvPr>
          <p:cNvSpPr/>
          <p:nvPr/>
        </p:nvSpPr>
        <p:spPr>
          <a:xfrm>
            <a:off x="6418523" y="6008820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流程图: 接点 76">
            <a:extLst>
              <a:ext uri="{FF2B5EF4-FFF2-40B4-BE49-F238E27FC236}">
                <a16:creationId xmlns:a16="http://schemas.microsoft.com/office/drawing/2014/main" id="{CD8BBF0E-32D6-2E2F-00FB-3E786875306B}"/>
              </a:ext>
            </a:extLst>
          </p:cNvPr>
          <p:cNvSpPr/>
          <p:nvPr/>
        </p:nvSpPr>
        <p:spPr>
          <a:xfrm>
            <a:off x="6418523" y="4372005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流程图: 接点 77">
            <a:extLst>
              <a:ext uri="{FF2B5EF4-FFF2-40B4-BE49-F238E27FC236}">
                <a16:creationId xmlns:a16="http://schemas.microsoft.com/office/drawing/2014/main" id="{BCB1489A-47A6-2767-1368-F32BF624603F}"/>
              </a:ext>
            </a:extLst>
          </p:cNvPr>
          <p:cNvSpPr/>
          <p:nvPr/>
        </p:nvSpPr>
        <p:spPr>
          <a:xfrm>
            <a:off x="5609234" y="2715872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2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862E772-7C30-A3DC-0162-C47D3D3AC9B4}"/>
              </a:ext>
            </a:extLst>
          </p:cNvPr>
          <p:cNvSpPr/>
          <p:nvPr/>
        </p:nvSpPr>
        <p:spPr>
          <a:xfrm>
            <a:off x="6898418" y="4068237"/>
            <a:ext cx="5084471" cy="787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码头预约进厂场景：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从码头仓库配送者，先创短驳计划触发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预约号，车队派车送货进厂；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其他由系统依免堆到期日前，创建预约号，车队送货进厂。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E258364-9978-06BC-8A66-CC016291CE7D}"/>
              </a:ext>
            </a:extLst>
          </p:cNvPr>
          <p:cNvSpPr/>
          <p:nvPr/>
        </p:nvSpPr>
        <p:spPr>
          <a:xfrm>
            <a:off x="6898418" y="4888338"/>
            <a:ext cx="5084471" cy="787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厂内配送场景：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从资材库配送者，创建拣配行项目，厂内安排车辆配送；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配送单作为当班配送作业依据。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5DFF0D9-A2E9-CA71-E059-B8B614D2B100}"/>
              </a:ext>
            </a:extLst>
          </p:cNvPr>
          <p:cNvSpPr/>
          <p:nvPr/>
        </p:nvSpPr>
        <p:spPr>
          <a:xfrm>
            <a:off x="6898418" y="5705052"/>
            <a:ext cx="5084471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紧急叫料驱动：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库存＜领料单需求，系统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触发供应商送货预约；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各厂可找临近工厂供应商，以库存驾驶舱驱动预约送货。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2DB33F4-D822-C2B7-09F8-E36B17C9BE59}"/>
              </a:ext>
            </a:extLst>
          </p:cNvPr>
          <p:cNvSpPr/>
          <p:nvPr/>
        </p:nvSpPr>
        <p:spPr>
          <a:xfrm>
            <a:off x="6995646" y="2042189"/>
            <a:ext cx="1152000" cy="540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通知车队派车送货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84E36486-94FE-2010-FED0-04D21173D9E1}"/>
              </a:ext>
            </a:extLst>
          </p:cNvPr>
          <p:cNvSpPr/>
          <p:nvPr/>
        </p:nvSpPr>
        <p:spPr>
          <a:xfrm>
            <a:off x="8277735" y="2042189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预约号</a:t>
            </a:r>
          </a:p>
        </p:txBody>
      </p:sp>
      <p:sp>
        <p:nvSpPr>
          <p:cNvPr id="90" name="流程图: 接点 89">
            <a:extLst>
              <a:ext uri="{FF2B5EF4-FFF2-40B4-BE49-F238E27FC236}">
                <a16:creationId xmlns:a16="http://schemas.microsoft.com/office/drawing/2014/main" id="{C45C7547-4519-44A8-0530-9EC06C563F0B}"/>
              </a:ext>
            </a:extLst>
          </p:cNvPr>
          <p:cNvSpPr/>
          <p:nvPr/>
        </p:nvSpPr>
        <p:spPr>
          <a:xfrm>
            <a:off x="9876010" y="3394171"/>
            <a:ext cx="540000" cy="540000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FCF32BC-7C77-466D-FBAD-AFABB0B711A3}"/>
              </a:ext>
            </a:extLst>
          </p:cNvPr>
          <p:cNvCxnSpPr>
            <a:stCxn id="47" idx="3"/>
            <a:endCxn id="90" idx="2"/>
          </p:cNvCxnSpPr>
          <p:nvPr/>
        </p:nvCxnSpPr>
        <p:spPr>
          <a:xfrm flipV="1">
            <a:off x="9429735" y="3664171"/>
            <a:ext cx="446275" cy="6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流程图: 接点 92">
            <a:extLst>
              <a:ext uri="{FF2B5EF4-FFF2-40B4-BE49-F238E27FC236}">
                <a16:creationId xmlns:a16="http://schemas.microsoft.com/office/drawing/2014/main" id="{4D6F4AA9-40A4-1AF2-8E4A-5146426ECD88}"/>
              </a:ext>
            </a:extLst>
          </p:cNvPr>
          <p:cNvSpPr/>
          <p:nvPr/>
        </p:nvSpPr>
        <p:spPr>
          <a:xfrm>
            <a:off x="3250127" y="761114"/>
            <a:ext cx="540000" cy="540000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2526AA69-EA38-8DC2-E68C-53DC51E0F65C}"/>
              </a:ext>
            </a:extLst>
          </p:cNvPr>
          <p:cNvCxnSpPr>
            <a:stCxn id="93" idx="4"/>
            <a:endCxn id="7" idx="1"/>
          </p:cNvCxnSpPr>
          <p:nvPr/>
        </p:nvCxnSpPr>
        <p:spPr>
          <a:xfrm rot="16200000" flipH="1">
            <a:off x="3667100" y="1154140"/>
            <a:ext cx="338578" cy="6325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B8C44C70-42AE-6D7E-0BE3-E029798DA667}"/>
              </a:ext>
            </a:extLst>
          </p:cNvPr>
          <p:cNvCxnSpPr>
            <a:stCxn id="6" idx="3"/>
            <a:endCxn id="24" idx="1"/>
          </p:cNvCxnSpPr>
          <p:nvPr/>
        </p:nvCxnSpPr>
        <p:spPr>
          <a:xfrm>
            <a:off x="1484509" y="3991873"/>
            <a:ext cx="328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CDFEC448-E13F-DE3C-D386-A997F42F3236}"/>
              </a:ext>
            </a:extLst>
          </p:cNvPr>
          <p:cNvSpPr/>
          <p:nvPr/>
        </p:nvSpPr>
        <p:spPr>
          <a:xfrm>
            <a:off x="6995646" y="2717918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拣配行项目单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42D750-FF54-3B7E-02C4-B903EEB8FCA4}"/>
              </a:ext>
            </a:extLst>
          </p:cNvPr>
          <p:cNvSpPr/>
          <p:nvPr/>
        </p:nvSpPr>
        <p:spPr>
          <a:xfrm>
            <a:off x="5752364" y="1341349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供应商送货计划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D14B850-0BAE-92AB-C23D-5706E610764C}"/>
              </a:ext>
            </a:extLst>
          </p:cNvPr>
          <p:cNvSpPr/>
          <p:nvPr/>
        </p:nvSpPr>
        <p:spPr>
          <a:xfrm>
            <a:off x="5752364" y="3400521"/>
            <a:ext cx="1152000" cy="540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紧急叫料计划</a:t>
            </a:r>
          </a:p>
        </p:txBody>
      </p:sp>
      <p:sp>
        <p:nvSpPr>
          <p:cNvPr id="80" name="流程图: 接点 79">
            <a:extLst>
              <a:ext uri="{FF2B5EF4-FFF2-40B4-BE49-F238E27FC236}">
                <a16:creationId xmlns:a16="http://schemas.microsoft.com/office/drawing/2014/main" id="{2C59C8CA-8DFE-26AA-79FD-126919BB18AD}"/>
              </a:ext>
            </a:extLst>
          </p:cNvPr>
          <p:cNvSpPr/>
          <p:nvPr/>
        </p:nvSpPr>
        <p:spPr>
          <a:xfrm>
            <a:off x="5609234" y="3380284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3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9B6C3E-3C88-8772-9AEC-A9BDD8EA2061}"/>
              </a:ext>
            </a:extLst>
          </p:cNvPr>
          <p:cNvSpPr/>
          <p:nvPr/>
        </p:nvSpPr>
        <p:spPr>
          <a:xfrm>
            <a:off x="5707813" y="794452"/>
            <a:ext cx="1534235" cy="42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一、创建计划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4E22982-4351-21E8-1F03-20F3EAB7F65B}"/>
              </a:ext>
            </a:extLst>
          </p:cNvPr>
          <p:cNvSpPr/>
          <p:nvPr/>
        </p:nvSpPr>
        <p:spPr>
          <a:xfrm>
            <a:off x="9541316" y="1311254"/>
            <a:ext cx="1152000" cy="201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C79352-A911-320C-0111-EE155FA4E621}"/>
              </a:ext>
            </a:extLst>
          </p:cNvPr>
          <p:cNvSpPr/>
          <p:nvPr/>
        </p:nvSpPr>
        <p:spPr>
          <a:xfrm>
            <a:off x="9378892" y="794452"/>
            <a:ext cx="1534235" cy="42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二、创建任务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88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7882-4114-1A8D-7012-21E91139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A15471B-99FD-1982-0790-400A771192C3}"/>
              </a:ext>
            </a:extLst>
          </p:cNvPr>
          <p:cNvSpPr/>
          <p:nvPr/>
        </p:nvSpPr>
        <p:spPr>
          <a:xfrm>
            <a:off x="3683222" y="2719288"/>
            <a:ext cx="1584000" cy="21885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361E201-8275-899B-889A-A98DA7B77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39771"/>
            <a:ext cx="11639764" cy="599559"/>
          </a:xfrm>
        </p:spPr>
        <p:txBody>
          <a:bodyPr>
            <a:noAutofit/>
          </a:bodyPr>
          <a:lstStyle/>
          <a:p>
            <a:pPr algn="l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后段业务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D35A188-833C-5C52-B071-80C9BB249B64}"/>
              </a:ext>
            </a:extLst>
          </p:cNvPr>
          <p:cNvSpPr/>
          <p:nvPr/>
        </p:nvSpPr>
        <p:spPr>
          <a:xfrm>
            <a:off x="5769075" y="2264100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送货进厂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0262E1B-31BD-96D3-2E97-904B85C4EDD8}"/>
              </a:ext>
            </a:extLst>
          </p:cNvPr>
          <p:cNvSpPr/>
          <p:nvPr/>
        </p:nvSpPr>
        <p:spPr>
          <a:xfrm>
            <a:off x="5769075" y="3096023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码头短驳预约进厂</a:t>
            </a:r>
          </a:p>
        </p:txBody>
      </p:sp>
      <p:sp>
        <p:nvSpPr>
          <p:cNvPr id="5" name="流程图: 预定义过程 4">
            <a:extLst>
              <a:ext uri="{FF2B5EF4-FFF2-40B4-BE49-F238E27FC236}">
                <a16:creationId xmlns:a16="http://schemas.microsoft.com/office/drawing/2014/main" id="{F704FC3F-84FA-472F-8AEC-6D7908937387}"/>
              </a:ext>
            </a:extLst>
          </p:cNvPr>
          <p:cNvSpPr/>
          <p:nvPr/>
        </p:nvSpPr>
        <p:spPr>
          <a:xfrm>
            <a:off x="7580351" y="2428309"/>
            <a:ext cx="1296000" cy="108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D9BB20D-47CF-40BE-13A7-275BDBC1400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7065075" y="2552100"/>
            <a:ext cx="515276" cy="41620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46C559A9-238D-DE41-45EB-CF48E6C993A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065075" y="2968309"/>
            <a:ext cx="515276" cy="415714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菱形 7">
            <a:extLst>
              <a:ext uri="{FF2B5EF4-FFF2-40B4-BE49-F238E27FC236}">
                <a16:creationId xmlns:a16="http://schemas.microsoft.com/office/drawing/2014/main" id="{A5946516-9138-DDEE-2E15-BAE6CCD786A0}"/>
              </a:ext>
            </a:extLst>
          </p:cNvPr>
          <p:cNvSpPr/>
          <p:nvPr/>
        </p:nvSpPr>
        <p:spPr>
          <a:xfrm>
            <a:off x="9261298" y="2334246"/>
            <a:ext cx="1656000" cy="1296000"/>
          </a:xfrm>
          <a:prstGeom prst="diamond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绑配送单号？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0C81205-6EF0-67F1-7414-8B9DBCA45C9B}"/>
              </a:ext>
            </a:extLst>
          </p:cNvPr>
          <p:cNvSpPr/>
          <p:nvPr/>
        </p:nvSpPr>
        <p:spPr>
          <a:xfrm>
            <a:off x="10571549" y="1534019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依采购收货策略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F59DAE-93C2-620C-E435-5F9A18848246}"/>
              </a:ext>
            </a:extLst>
          </p:cNvPr>
          <p:cNvSpPr/>
          <p:nvPr/>
        </p:nvSpPr>
        <p:spPr>
          <a:xfrm>
            <a:off x="10031058" y="2069969"/>
            <a:ext cx="350032" cy="31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1B69D29-AE76-BA47-A763-9228BE901729}"/>
              </a:ext>
            </a:extLst>
          </p:cNvPr>
          <p:cNvSpPr/>
          <p:nvPr/>
        </p:nvSpPr>
        <p:spPr>
          <a:xfrm>
            <a:off x="10571549" y="4080737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依配送地点卸货</a:t>
            </a: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F8B7256B-D5E2-4CC3-809D-481E2D101E86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9961178" y="3758365"/>
            <a:ext cx="738491" cy="48225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6DEB954-0692-E7D4-127D-FDDAC29CF39B}"/>
              </a:ext>
            </a:extLst>
          </p:cNvPr>
          <p:cNvSpPr/>
          <p:nvPr/>
        </p:nvSpPr>
        <p:spPr>
          <a:xfrm>
            <a:off x="10019337" y="3670169"/>
            <a:ext cx="350032" cy="31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C8E51A-3012-3DE2-2DA9-249818D561E2}"/>
              </a:ext>
            </a:extLst>
          </p:cNvPr>
          <p:cNvSpPr/>
          <p:nvPr/>
        </p:nvSpPr>
        <p:spPr>
          <a:xfrm>
            <a:off x="165100" y="3382643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55A344-8D48-495B-6BA4-986FFD8261F3}"/>
              </a:ext>
            </a:extLst>
          </p:cNvPr>
          <p:cNvSpPr/>
          <p:nvPr/>
        </p:nvSpPr>
        <p:spPr>
          <a:xfrm>
            <a:off x="1845856" y="1582643"/>
            <a:ext cx="1620000" cy="41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配送来源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F861356-D272-5095-4CBF-40A67315C94E}"/>
              </a:ext>
            </a:extLst>
          </p:cNvPr>
          <p:cNvSpPr/>
          <p:nvPr/>
        </p:nvSpPr>
        <p:spPr>
          <a:xfrm>
            <a:off x="2027214" y="2264100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4D7F790-E638-F4F7-6600-E26A51A2F26C}"/>
              </a:ext>
            </a:extLst>
          </p:cNvPr>
          <p:cNvSpPr/>
          <p:nvPr/>
        </p:nvSpPr>
        <p:spPr>
          <a:xfrm>
            <a:off x="2027214" y="309602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码头库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A3603E4-638A-4C10-5EFE-F9E81BC32D03}"/>
              </a:ext>
            </a:extLst>
          </p:cNvPr>
          <p:cNvSpPr/>
          <p:nvPr/>
        </p:nvSpPr>
        <p:spPr>
          <a:xfrm>
            <a:off x="2027214" y="409908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资材库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C69ECBB-1E70-0A0B-679F-237DA0964803}"/>
              </a:ext>
            </a:extLst>
          </p:cNvPr>
          <p:cNvSpPr/>
          <p:nvPr/>
        </p:nvSpPr>
        <p:spPr>
          <a:xfrm>
            <a:off x="2027214" y="4985697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9CEDDF4-777B-164B-58FA-C0CDA4D07AC7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1461100" y="3670643"/>
            <a:ext cx="3847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13EC4D5-47D2-3689-6681-A7BDAFE4DADF}"/>
              </a:ext>
            </a:extLst>
          </p:cNvPr>
          <p:cNvCxnSpPr>
            <a:stCxn id="17" idx="3"/>
            <a:endCxn id="3" idx="1"/>
          </p:cNvCxnSpPr>
          <p:nvPr/>
        </p:nvCxnSpPr>
        <p:spPr>
          <a:xfrm>
            <a:off x="3323214" y="2552100"/>
            <a:ext cx="244586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FEC8258-66D1-83B2-3B25-12D9B54EA6CC}"/>
              </a:ext>
            </a:extLst>
          </p:cNvPr>
          <p:cNvCxnSpPr>
            <a:cxnSpLocks/>
            <a:stCxn id="18" idx="3"/>
            <a:endCxn id="41" idx="1"/>
          </p:cNvCxnSpPr>
          <p:nvPr/>
        </p:nvCxnSpPr>
        <p:spPr>
          <a:xfrm>
            <a:off x="3323214" y="3384023"/>
            <a:ext cx="51249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00DDDAC-A1FE-8B71-8043-BA64C6E07C73}"/>
              </a:ext>
            </a:extLst>
          </p:cNvPr>
          <p:cNvSpPr/>
          <p:nvPr/>
        </p:nvSpPr>
        <p:spPr>
          <a:xfrm>
            <a:off x="3835708" y="409908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拣配计划</a:t>
            </a:r>
          </a:p>
        </p:txBody>
      </p:sp>
      <p:sp>
        <p:nvSpPr>
          <p:cNvPr id="25" name="流程图: 预定义过程 24">
            <a:extLst>
              <a:ext uri="{FF2B5EF4-FFF2-40B4-BE49-F238E27FC236}">
                <a16:creationId xmlns:a16="http://schemas.microsoft.com/office/drawing/2014/main" id="{224755D9-9E29-E1EB-2F37-542BAB665ECB}"/>
              </a:ext>
            </a:extLst>
          </p:cNvPr>
          <p:cNvSpPr/>
          <p:nvPr/>
        </p:nvSpPr>
        <p:spPr>
          <a:xfrm>
            <a:off x="7580351" y="3847083"/>
            <a:ext cx="1296000" cy="108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BA05747-E9E7-2110-37DF-6348F5EA76CD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>
            <a:off x="3323214" y="4387083"/>
            <a:ext cx="51249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BABE110-270E-F6C5-CA05-AFC7AF45352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5131708" y="4387083"/>
            <a:ext cx="24486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4040C21-BA9B-BADF-8E39-3040EAE48541}"/>
              </a:ext>
            </a:extLst>
          </p:cNvPr>
          <p:cNvCxnSpPr>
            <a:stCxn id="25" idx="3"/>
            <a:endCxn id="12" idx="1"/>
          </p:cNvCxnSpPr>
          <p:nvPr/>
        </p:nvCxnSpPr>
        <p:spPr>
          <a:xfrm flipV="1">
            <a:off x="8876351" y="4368737"/>
            <a:ext cx="1695198" cy="183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9FDC4B5-7F65-A437-4550-270D9458DE16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8876351" y="2968309"/>
            <a:ext cx="384947" cy="139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A2A5B0B4-F59E-8AAF-AB3D-05416ECE315A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rot="5400000" flipH="1" flipV="1">
            <a:off x="10074310" y="1837008"/>
            <a:ext cx="512227" cy="48225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B8CCED5-2959-04B1-B6F7-04BA5BF63258}"/>
              </a:ext>
            </a:extLst>
          </p:cNvPr>
          <p:cNvSpPr/>
          <p:nvPr/>
        </p:nvSpPr>
        <p:spPr>
          <a:xfrm>
            <a:off x="3835708" y="309602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短驳计划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AC5DF4D-B5AC-2B0E-A92B-A3F1AA6EC4F9}"/>
              </a:ext>
            </a:extLst>
          </p:cNvPr>
          <p:cNvCxnSpPr>
            <a:cxnSpLocks/>
            <a:stCxn id="41" idx="3"/>
            <a:endCxn id="4" idx="1"/>
          </p:cNvCxnSpPr>
          <p:nvPr/>
        </p:nvCxnSpPr>
        <p:spPr>
          <a:xfrm>
            <a:off x="5131708" y="3384023"/>
            <a:ext cx="6373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C13F5DEE-FE6E-5ABF-2C38-0EEF02920CF1}"/>
              </a:ext>
            </a:extLst>
          </p:cNvPr>
          <p:cNvSpPr/>
          <p:nvPr/>
        </p:nvSpPr>
        <p:spPr>
          <a:xfrm>
            <a:off x="4390034" y="2310557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1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47" name="流程图: 接点 46">
            <a:extLst>
              <a:ext uri="{FF2B5EF4-FFF2-40B4-BE49-F238E27FC236}">
                <a16:creationId xmlns:a16="http://schemas.microsoft.com/office/drawing/2014/main" id="{94E6F41C-7728-3360-C324-7D9D67A9D6DF}"/>
              </a:ext>
            </a:extLst>
          </p:cNvPr>
          <p:cNvSpPr/>
          <p:nvPr/>
        </p:nvSpPr>
        <p:spPr>
          <a:xfrm>
            <a:off x="6016563" y="5466110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2A3FCD-769D-B69C-E3F0-8F5FC5BFEB57}"/>
              </a:ext>
            </a:extLst>
          </p:cNvPr>
          <p:cNvSpPr/>
          <p:nvPr/>
        </p:nvSpPr>
        <p:spPr>
          <a:xfrm>
            <a:off x="6466618" y="5321368"/>
            <a:ext cx="5425552" cy="1125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供应商送货预约场景：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目前供应商预约送货是由供应商线下与相关部门讨论后再去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未来可评估，由库存驾驶舱与生产需求来触发供应商送货时机。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42B9EF-682A-304F-5027-6E26AFB6A827}"/>
              </a:ext>
            </a:extLst>
          </p:cNvPr>
          <p:cNvSpPr/>
          <p:nvPr/>
        </p:nvSpPr>
        <p:spPr>
          <a:xfrm>
            <a:off x="10502459" y="1441423"/>
            <a:ext cx="1440000" cy="327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309ADE-E688-781D-9831-DCE43DADEED7}"/>
              </a:ext>
            </a:extLst>
          </p:cNvPr>
          <p:cNvSpPr/>
          <p:nvPr/>
        </p:nvSpPr>
        <p:spPr>
          <a:xfrm>
            <a:off x="10330423" y="1004930"/>
            <a:ext cx="1534235" cy="42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三、执行任务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03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1649-16B4-87C1-B0ED-349761E9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56E461-F702-E897-220B-245B080A6EB1}"/>
              </a:ext>
            </a:extLst>
          </p:cNvPr>
          <p:cNvSpPr/>
          <p:nvPr/>
        </p:nvSpPr>
        <p:spPr>
          <a:xfrm>
            <a:off x="330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阶段一：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配送需求货源规划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6DEC07-1B59-ABE3-3264-06A4B7550D45}"/>
              </a:ext>
            </a:extLst>
          </p:cNvPr>
          <p:cNvSpPr/>
          <p:nvPr/>
        </p:nvSpPr>
        <p:spPr>
          <a:xfrm>
            <a:off x="3251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阶段二：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拆解仓储任务（配送单）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E07916-9ACC-D9F4-231D-D90A41D86236}"/>
              </a:ext>
            </a:extLst>
          </p:cNvPr>
          <p:cNvSpPr/>
          <p:nvPr/>
        </p:nvSpPr>
        <p:spPr>
          <a:xfrm>
            <a:off x="6172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阶段三：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触发短驳与拣配计划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115864F-1EE8-10F0-4291-4A36A2641767}"/>
              </a:ext>
            </a:extLst>
          </p:cNvPr>
          <p:cNvSpPr/>
          <p:nvPr/>
        </p:nvSpPr>
        <p:spPr>
          <a:xfrm>
            <a:off x="9093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阶段四：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触发仓储任务与执行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91D2440-B493-52E1-708C-015CDF8E9E1B}"/>
              </a:ext>
            </a:extLst>
          </p:cNvPr>
          <p:cNvSpPr/>
          <p:nvPr/>
        </p:nvSpPr>
        <p:spPr>
          <a:xfrm>
            <a:off x="330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在满足日期、批次、认证等硬性限制下，以最小化总作业成本（发货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合并节降）为目标，为每一笔「配送需求单」分配优化的供货来源组合。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29E8AF-4E3D-FAB4-02EC-601D0D01349E}"/>
              </a:ext>
            </a:extLst>
          </p:cNvPr>
          <p:cNvSpPr/>
          <p:nvPr/>
        </p:nvSpPr>
        <p:spPr>
          <a:xfrm>
            <a:off x="3251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根据阶段一的货源分配结果，结合「车辆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工具单次配送量上限」，将大批量货源拆解为可单次执行的「仓储任务（配送单）」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ACC381B-D8A2-3A1E-FE40-7B8FD33D5E29}"/>
              </a:ext>
            </a:extLst>
          </p:cNvPr>
          <p:cNvSpPr/>
          <p:nvPr/>
        </p:nvSpPr>
        <p:spPr>
          <a:xfrm>
            <a:off x="6172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将阶段二产出的「配送单号」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 创 拣配计划、短驳计划，并将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单据建立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关联，确保作业流程可追溯。</a:t>
            </a:r>
          </a:p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18EBF3-F3ED-1A73-E8B4-E33DA0631189}"/>
              </a:ext>
            </a:extLst>
          </p:cNvPr>
          <p:cNvSpPr/>
          <p:nvPr/>
        </p:nvSpPr>
        <p:spPr>
          <a:xfrm>
            <a:off x="9093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根据班别时段，自动将「配送单」推送至对应的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叉车司机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端，考虑司机技能与车辆设备限制。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4AA5D7-4AC3-747A-A7A8-96741D75217C}"/>
              </a:ext>
            </a:extLst>
          </p:cNvPr>
          <p:cNvSpPr txBox="1"/>
          <p:nvPr/>
        </p:nvSpPr>
        <p:spPr>
          <a:xfrm>
            <a:off x="330200" y="5025572"/>
            <a:ext cx="2880000" cy="1309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A0: </a:t>
            </a:r>
            <a:r>
              <a:rPr lang="zh-CN" altLang="en-US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物料检验标准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讯息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A1: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配送需求讯息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A2: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供应商送货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&amp;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紧急叫料讯息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A3: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可用库存讯息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A4: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码头延滞成本讯息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A5: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仓储作业成本讯息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A6: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领用部门断料成本讯息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模型产出数据表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A7: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配送需求货源分配表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3160E8-4950-88DA-3624-087661324DDB}"/>
              </a:ext>
            </a:extLst>
          </p:cNvPr>
          <p:cNvSpPr txBox="1"/>
          <p:nvPr/>
        </p:nvSpPr>
        <p:spPr>
          <a:xfrm>
            <a:off x="3251200" y="5025572"/>
            <a:ext cx="2880000" cy="6935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800"/>
              </a:lnSpc>
              <a:buNone/>
              <a:defRPr sz="800" b="1" kern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defRPr>
            </a:lvl1pPr>
          </a:lstStyle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B1: </a:t>
            </a:r>
            <a:r>
              <a:rPr lang="zh-CN" altLang="zh-CN" dirty="0"/>
              <a:t>配送需求货源分配表</a:t>
            </a:r>
            <a:r>
              <a:rPr lang="en-US" altLang="zh-CN" dirty="0"/>
              <a:t> - </a:t>
            </a:r>
            <a:r>
              <a:rPr lang="zh-CN" altLang="zh-CN" dirty="0"/>
              <a:t>阶段一产出</a:t>
            </a:r>
            <a:r>
              <a:rPr lang="en-US" altLang="zh-CN" dirty="0"/>
              <a:t>)</a:t>
            </a:r>
            <a:r>
              <a:rPr lang="zh-CN" altLang="zh-CN" dirty="0"/>
              <a:t>，此表即为</a:t>
            </a:r>
            <a:r>
              <a:rPr lang="en-US" altLang="zh-CN" dirty="0"/>
              <a:t> Table A7</a:t>
            </a:r>
            <a:r>
              <a:rPr lang="zh-CN" altLang="zh-CN" dirty="0"/>
              <a:t>，作为本阶段输入。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B2: </a:t>
            </a:r>
            <a:r>
              <a:rPr lang="zh-CN" altLang="zh-CN" dirty="0"/>
              <a:t>配送工具及装载限制表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模型产出数据表</a:t>
            </a:r>
            <a:r>
              <a:rPr lang="en-US" altLang="zh-CN" dirty="0"/>
              <a:t> (Table B3: </a:t>
            </a:r>
            <a:r>
              <a:rPr lang="zh-CN" altLang="zh-CN" dirty="0"/>
              <a:t>仓储任务（配送单）明细表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4D470D-46B3-0BAD-9EFB-2C19A22D74A9}"/>
              </a:ext>
            </a:extLst>
          </p:cNvPr>
          <p:cNvSpPr txBox="1"/>
          <p:nvPr/>
        </p:nvSpPr>
        <p:spPr>
          <a:xfrm>
            <a:off x="6172200" y="5025572"/>
            <a:ext cx="2880000" cy="1155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800"/>
              </a:lnSpc>
              <a:buNone/>
              <a:defRPr sz="800" b="1" kern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defRPr>
            </a:lvl1pPr>
          </a:lstStyle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C1: </a:t>
            </a:r>
            <a:r>
              <a:rPr lang="zh-CN" altLang="zh-CN" dirty="0"/>
              <a:t>仓储任务明细表</a:t>
            </a:r>
            <a:r>
              <a:rPr lang="en-US" altLang="zh-CN" dirty="0"/>
              <a:t> - </a:t>
            </a:r>
            <a:r>
              <a:rPr lang="zh-CN" altLang="zh-CN" dirty="0"/>
              <a:t>阶段二产出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zh-CN" altLang="zh-CN" dirty="0"/>
              <a:t>此表即为</a:t>
            </a:r>
            <a:r>
              <a:rPr lang="en-US" altLang="zh-CN" dirty="0"/>
              <a:t> Table B3</a:t>
            </a:r>
            <a:r>
              <a:rPr lang="zh-CN" altLang="zh-CN" dirty="0"/>
              <a:t>，作为本阶段输入。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模型逻辑处理（非表格输入）</a:t>
            </a:r>
          </a:p>
          <a:p>
            <a:pPr>
              <a:lnSpc>
                <a:spcPts val="1200"/>
              </a:lnSpc>
            </a:pPr>
            <a:r>
              <a:rPr lang="zh-CN" altLang="zh-CN" dirty="0"/>
              <a:t>此阶段主要为系统自动化映像，非优化计算。模型需输出以下关联结果，供物流园区平台进行任务下发：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模型产出数据表</a:t>
            </a:r>
            <a:r>
              <a:rPr lang="en-US" altLang="zh-CN" dirty="0"/>
              <a:t> (Table C2: </a:t>
            </a:r>
            <a:r>
              <a:rPr lang="zh-CN" altLang="zh-CN" dirty="0"/>
              <a:t>系统单据关联对照表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61DB2B5-ADE6-C328-23AC-F0BA19DA9520}"/>
              </a:ext>
            </a:extLst>
          </p:cNvPr>
          <p:cNvSpPr txBox="1"/>
          <p:nvPr/>
        </p:nvSpPr>
        <p:spPr>
          <a:xfrm>
            <a:off x="9093200" y="5025572"/>
            <a:ext cx="2880000" cy="17708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800"/>
              </a:lnSpc>
              <a:buNone/>
              <a:defRPr sz="800" b="1" kern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defRPr>
            </a:lvl1pPr>
          </a:lstStyle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D1: </a:t>
            </a:r>
            <a:r>
              <a:rPr lang="zh-CN" altLang="zh-CN" dirty="0"/>
              <a:t>系统单据关联对照表</a:t>
            </a:r>
            <a:r>
              <a:rPr lang="en-US" altLang="zh-CN" dirty="0"/>
              <a:t> - </a:t>
            </a:r>
            <a:r>
              <a:rPr lang="zh-CN" altLang="zh-CN" dirty="0"/>
              <a:t>阶段三产出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zh-CN" altLang="zh-CN" dirty="0"/>
              <a:t>此表即为</a:t>
            </a:r>
            <a:r>
              <a:rPr lang="en-US" altLang="zh-CN" dirty="0"/>
              <a:t> Table C2</a:t>
            </a:r>
            <a:r>
              <a:rPr lang="zh-CN" altLang="zh-CN" dirty="0"/>
              <a:t>，包含具体的拣配仓位与配送地点。</a:t>
            </a:r>
          </a:p>
          <a:p>
            <a:pPr>
              <a:lnSpc>
                <a:spcPts val="10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D2: </a:t>
            </a:r>
            <a:r>
              <a:rPr lang="zh-CN" altLang="zh-CN" dirty="0"/>
              <a:t>资源能力表</a:t>
            </a:r>
            <a:r>
              <a:rPr lang="en-US" altLang="zh-CN" dirty="0"/>
              <a:t> - </a:t>
            </a:r>
            <a:r>
              <a:rPr lang="zh-CN" altLang="zh-CN" dirty="0"/>
              <a:t>司机资源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D3: </a:t>
            </a:r>
            <a:r>
              <a:rPr lang="zh-CN" altLang="zh-CN" dirty="0"/>
              <a:t>资源能力表</a:t>
            </a:r>
            <a:r>
              <a:rPr lang="en-US" altLang="zh-CN" dirty="0"/>
              <a:t> - </a:t>
            </a:r>
            <a:r>
              <a:rPr lang="zh-CN" altLang="zh-CN" dirty="0"/>
              <a:t>设备资源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模型逻辑处理（任务指派）</a:t>
            </a:r>
          </a:p>
          <a:p>
            <a:pPr>
              <a:lnSpc>
                <a:spcPts val="1200"/>
              </a:lnSpc>
            </a:pPr>
            <a:r>
              <a:rPr lang="zh-CN" altLang="zh-CN" dirty="0"/>
              <a:t>核心逻辑：读取</a:t>
            </a:r>
            <a:r>
              <a:rPr lang="en-US" altLang="zh-CN" dirty="0"/>
              <a:t> Table C2 </a:t>
            </a:r>
            <a:r>
              <a:rPr lang="zh-CN" altLang="zh-CN" dirty="0"/>
              <a:t>中的</a:t>
            </a:r>
            <a:r>
              <a:rPr lang="en-US" altLang="zh-CN" dirty="0"/>
              <a:t> </a:t>
            </a:r>
            <a:r>
              <a:rPr lang="zh-CN" altLang="zh-CN" dirty="0"/>
              <a:t>任务预计配送时间</a:t>
            </a:r>
            <a:r>
              <a:rPr lang="en-US" altLang="zh-CN" dirty="0"/>
              <a:t> -&gt; </a:t>
            </a:r>
            <a:r>
              <a:rPr lang="zh-CN" altLang="zh-CN" dirty="0"/>
              <a:t>转换为对应班别</a:t>
            </a:r>
            <a:r>
              <a:rPr lang="en-US" altLang="zh-CN" dirty="0"/>
              <a:t> -&gt; </a:t>
            </a:r>
            <a:r>
              <a:rPr lang="zh-CN" altLang="zh-CN" dirty="0"/>
              <a:t>筛选该班别空闲司机</a:t>
            </a:r>
            <a:r>
              <a:rPr lang="en-US" altLang="zh-CN" dirty="0"/>
              <a:t> -&gt; </a:t>
            </a:r>
            <a:r>
              <a:rPr lang="zh-CN" altLang="zh-CN" dirty="0"/>
              <a:t>匹配</a:t>
            </a:r>
            <a:r>
              <a:rPr lang="en-US" altLang="zh-CN" dirty="0"/>
              <a:t> </a:t>
            </a:r>
            <a:r>
              <a:rPr lang="zh-CN" altLang="zh-CN" dirty="0"/>
              <a:t>可操作设备</a:t>
            </a:r>
            <a:r>
              <a:rPr lang="en-US" altLang="zh-CN" dirty="0"/>
              <a:t> </a:t>
            </a:r>
            <a:r>
              <a:rPr lang="zh-CN" altLang="zh-CN" dirty="0"/>
              <a:t>是否满足货物</a:t>
            </a:r>
            <a:r>
              <a:rPr lang="en-US" altLang="zh-CN" dirty="0"/>
              <a:t> </a:t>
            </a:r>
            <a:r>
              <a:rPr lang="zh-CN" altLang="zh-CN" dirty="0"/>
              <a:t>包装方式（平叉拉散货、抱夹夹纸箱、卷筒叉卷纸）</a:t>
            </a:r>
            <a:r>
              <a:rPr lang="en-US" altLang="zh-CN" dirty="0"/>
              <a:t> -&gt; </a:t>
            </a:r>
            <a:r>
              <a:rPr lang="zh-CN" altLang="zh-CN" dirty="0"/>
              <a:t>指派任务。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模型产出数据表</a:t>
            </a:r>
            <a:r>
              <a:rPr lang="en-US" altLang="zh-CN" dirty="0"/>
              <a:t> (Table D4: </a:t>
            </a:r>
            <a:r>
              <a:rPr lang="zh-CN" altLang="zh-CN" dirty="0"/>
              <a:t>仓储任务执行派工单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959374-742D-9A35-7150-ABF470C278E2}"/>
              </a:ext>
            </a:extLst>
          </p:cNvPr>
          <p:cNvSpPr/>
          <p:nvPr/>
        </p:nvSpPr>
        <p:spPr>
          <a:xfrm>
            <a:off x="182455" y="84101"/>
            <a:ext cx="10960027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领用配送流程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</a:p>
        </p:txBody>
      </p:sp>
    </p:spTree>
    <p:extLst>
      <p:ext uri="{BB962C8B-B14F-4D97-AF65-F5344CB8AC3E}">
        <p14:creationId xmlns:p14="http://schemas.microsoft.com/office/powerpoint/2010/main" val="309059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182455" y="84101"/>
            <a:ext cx="11952424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业务作业流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4F78BC9-1B40-45F4-A0C8-C4DEF9B7E713}"/>
              </a:ext>
            </a:extLst>
          </p:cNvPr>
          <p:cNvSpPr/>
          <p:nvPr/>
        </p:nvSpPr>
        <p:spPr>
          <a:xfrm>
            <a:off x="573148" y="840511"/>
            <a:ext cx="2665812" cy="35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现 场 部 门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82014D1-FAB8-4832-8302-3756F2F6DCDF}"/>
              </a:ext>
            </a:extLst>
          </p:cNvPr>
          <p:cNvSpPr/>
          <p:nvPr/>
        </p:nvSpPr>
        <p:spPr>
          <a:xfrm>
            <a:off x="6561256" y="799770"/>
            <a:ext cx="3273860" cy="41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资     材     部     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CCA2C16-84AD-44BE-A077-C2793C142E08}"/>
              </a:ext>
            </a:extLst>
          </p:cNvPr>
          <p:cNvCxnSpPr/>
          <p:nvPr/>
        </p:nvCxnSpPr>
        <p:spPr>
          <a:xfrm>
            <a:off x="137795" y="1253500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D08266D4-A38C-4B83-B949-AECF7CCDBAF1}"/>
              </a:ext>
            </a:extLst>
          </p:cNvPr>
          <p:cNvSpPr/>
          <p:nvPr/>
        </p:nvSpPr>
        <p:spPr>
          <a:xfrm>
            <a:off x="6438480" y="3147159"/>
            <a:ext cx="1921877" cy="61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码头短驳计划；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71" name="圆角矩形 139">
            <a:extLst>
              <a:ext uri="{FF2B5EF4-FFF2-40B4-BE49-F238E27FC236}">
                <a16:creationId xmlns:a16="http://schemas.microsoft.com/office/drawing/2014/main" id="{2B834A59-8014-4308-9036-91BBF0A32357}"/>
              </a:ext>
            </a:extLst>
          </p:cNvPr>
          <p:cNvSpPr/>
          <p:nvPr/>
        </p:nvSpPr>
        <p:spPr>
          <a:xfrm>
            <a:off x="667538" y="1453558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106" name="圆角矩形 139">
            <a:extLst>
              <a:ext uri="{FF2B5EF4-FFF2-40B4-BE49-F238E27FC236}">
                <a16:creationId xmlns:a16="http://schemas.microsoft.com/office/drawing/2014/main" id="{9B816546-5600-413B-B20F-CDA19C30DD4D}"/>
              </a:ext>
            </a:extLst>
          </p:cNvPr>
          <p:cNvSpPr/>
          <p:nvPr/>
        </p:nvSpPr>
        <p:spPr>
          <a:xfrm>
            <a:off x="5618459" y="2646560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</a:p>
        </p:txBody>
      </p:sp>
      <p:sp>
        <p:nvSpPr>
          <p:cNvPr id="2" name="流程图: 决策 1">
            <a:extLst>
              <a:ext uri="{FF2B5EF4-FFF2-40B4-BE49-F238E27FC236}">
                <a16:creationId xmlns:a16="http://schemas.microsoft.com/office/drawing/2014/main" id="{DAAA37FF-D82D-4582-8B47-B1A3482DD0DA}"/>
              </a:ext>
            </a:extLst>
          </p:cNvPr>
          <p:cNvSpPr/>
          <p:nvPr/>
        </p:nvSpPr>
        <p:spPr>
          <a:xfrm>
            <a:off x="8740196" y="4733949"/>
            <a:ext cx="1504113" cy="1324280"/>
          </a:xfrm>
          <a:prstGeom prst="flowChartDecision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多车次配送</a:t>
            </a:r>
          </a:p>
        </p:txBody>
      </p:sp>
      <p:sp>
        <p:nvSpPr>
          <p:cNvPr id="117" name="圆角矩形 139">
            <a:extLst>
              <a:ext uri="{FF2B5EF4-FFF2-40B4-BE49-F238E27FC236}">
                <a16:creationId xmlns:a16="http://schemas.microsoft.com/office/drawing/2014/main" id="{AD8A8D1C-C2AB-4FAD-B9ED-63744B01B562}"/>
              </a:ext>
            </a:extLst>
          </p:cNvPr>
          <p:cNvSpPr/>
          <p:nvPr/>
        </p:nvSpPr>
        <p:spPr>
          <a:xfrm>
            <a:off x="8844252" y="2646560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在库库存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971122-25DF-4F69-AF29-ECD190B04705}"/>
              </a:ext>
            </a:extLst>
          </p:cNvPr>
          <p:cNvCxnSpPr>
            <a:cxnSpLocks/>
            <a:stCxn id="71" idx="3"/>
            <a:endCxn id="32" idx="1"/>
          </p:cNvCxnSpPr>
          <p:nvPr/>
        </p:nvCxnSpPr>
        <p:spPr>
          <a:xfrm>
            <a:off x="1963538" y="1741558"/>
            <a:ext cx="4989058" cy="106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B07A95BD-3DB7-48E0-BDA5-108B1A86BFA5}"/>
              </a:ext>
            </a:extLst>
          </p:cNvPr>
          <p:cNvCxnSpPr>
            <a:cxnSpLocks/>
            <a:stCxn id="32" idx="2"/>
            <a:endCxn id="117" idx="0"/>
          </p:cNvCxnSpPr>
          <p:nvPr/>
        </p:nvCxnSpPr>
        <p:spPr>
          <a:xfrm rot="16200000" flipH="1">
            <a:off x="8387497" y="1541804"/>
            <a:ext cx="518371" cy="169114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E0352AE6-ED60-4EDC-90D9-8BACF09D067D}"/>
              </a:ext>
            </a:extLst>
          </p:cNvPr>
          <p:cNvCxnSpPr>
            <a:cxnSpLocks/>
            <a:stCxn id="32" idx="2"/>
            <a:endCxn id="106" idx="0"/>
          </p:cNvCxnSpPr>
          <p:nvPr/>
        </p:nvCxnSpPr>
        <p:spPr>
          <a:xfrm rot="5400000">
            <a:off x="6774601" y="1620048"/>
            <a:ext cx="518371" cy="153465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圆角矩形 139">
            <a:extLst>
              <a:ext uri="{FF2B5EF4-FFF2-40B4-BE49-F238E27FC236}">
                <a16:creationId xmlns:a16="http://schemas.microsoft.com/office/drawing/2014/main" id="{96E13DCD-DB56-462E-8989-8334978C542B}"/>
              </a:ext>
            </a:extLst>
          </p:cNvPr>
          <p:cNvSpPr/>
          <p:nvPr/>
        </p:nvSpPr>
        <p:spPr>
          <a:xfrm>
            <a:off x="667538" y="5108089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现场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</a:t>
            </a:r>
          </a:p>
        </p:txBody>
      </p: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513BEBFA-82F0-4972-A4AD-666F66682B28}"/>
              </a:ext>
            </a:extLst>
          </p:cNvPr>
          <p:cNvCxnSpPr>
            <a:stCxn id="106" idx="1"/>
            <a:endCxn id="128" idx="0"/>
          </p:cNvCxnSpPr>
          <p:nvPr/>
        </p:nvCxnSpPr>
        <p:spPr>
          <a:xfrm rot="10800000" flipV="1">
            <a:off x="1315539" y="2934559"/>
            <a:ext cx="4302921" cy="2173529"/>
          </a:xfrm>
          <a:prstGeom prst="bentConnector2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23F736DF-47B7-40B5-83ED-3B71E33EE47F}"/>
              </a:ext>
            </a:extLst>
          </p:cNvPr>
          <p:cNvCxnSpPr>
            <a:cxnSpLocks/>
            <a:stCxn id="117" idx="2"/>
            <a:endCxn id="34" idx="0"/>
          </p:cNvCxnSpPr>
          <p:nvPr/>
        </p:nvCxnSpPr>
        <p:spPr>
          <a:xfrm>
            <a:off x="9492252" y="3222560"/>
            <a:ext cx="1" cy="4986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8C29548-25FA-4CF1-A57C-F01D6152D62A}"/>
              </a:ext>
            </a:extLst>
          </p:cNvPr>
          <p:cNvCxnSpPr>
            <a:cxnSpLocks/>
            <a:stCxn id="34" idx="2"/>
            <a:endCxn id="2" idx="0"/>
          </p:cNvCxnSpPr>
          <p:nvPr/>
        </p:nvCxnSpPr>
        <p:spPr>
          <a:xfrm>
            <a:off x="9492253" y="4473147"/>
            <a:ext cx="0" cy="2608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9ACFF81-1436-4C48-8109-E2E16324B63B}"/>
              </a:ext>
            </a:extLst>
          </p:cNvPr>
          <p:cNvCxnSpPr>
            <a:cxnSpLocks/>
            <a:stCxn id="2" idx="1"/>
            <a:endCxn id="128" idx="3"/>
          </p:cNvCxnSpPr>
          <p:nvPr/>
        </p:nvCxnSpPr>
        <p:spPr>
          <a:xfrm flipH="1">
            <a:off x="1963538" y="5396089"/>
            <a:ext cx="6776658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D1172858-9A25-49AA-BD17-082BD3A3B4D0}"/>
              </a:ext>
            </a:extLst>
          </p:cNvPr>
          <p:cNvCxnSpPr>
            <a:stCxn id="2" idx="2"/>
            <a:endCxn id="128" idx="2"/>
          </p:cNvCxnSpPr>
          <p:nvPr/>
        </p:nvCxnSpPr>
        <p:spPr>
          <a:xfrm rot="5400000" flipH="1">
            <a:off x="5216826" y="1782802"/>
            <a:ext cx="374140" cy="8176715"/>
          </a:xfrm>
          <a:prstGeom prst="bentConnector3">
            <a:avLst>
              <a:gd name="adj1" fmla="val -61100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圆角矩形 139">
            <a:extLst>
              <a:ext uri="{FF2B5EF4-FFF2-40B4-BE49-F238E27FC236}">
                <a16:creationId xmlns:a16="http://schemas.microsoft.com/office/drawing/2014/main" id="{63A79F7D-DBC3-4BEC-98EA-2108C8359723}"/>
              </a:ext>
            </a:extLst>
          </p:cNvPr>
          <p:cNvSpPr/>
          <p:nvPr/>
        </p:nvSpPr>
        <p:spPr>
          <a:xfrm>
            <a:off x="1481877" y="380918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</a:t>
            </a: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CB1FFF91-6F48-4F2C-8A33-D4E5C88C986D}"/>
              </a:ext>
            </a:extLst>
          </p:cNvPr>
          <p:cNvCxnSpPr>
            <a:cxnSpLocks/>
            <a:stCxn id="148" idx="3"/>
            <a:endCxn id="34" idx="1"/>
          </p:cNvCxnSpPr>
          <p:nvPr/>
        </p:nvCxnSpPr>
        <p:spPr>
          <a:xfrm>
            <a:off x="2777877" y="4097182"/>
            <a:ext cx="5865860" cy="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F59537D9-A200-46C9-98F7-CD47D0547F62}"/>
              </a:ext>
            </a:extLst>
          </p:cNvPr>
          <p:cNvSpPr/>
          <p:nvPr/>
        </p:nvSpPr>
        <p:spPr>
          <a:xfrm>
            <a:off x="2021877" y="4446221"/>
            <a:ext cx="2688346" cy="43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大单多次配送，朝线上提交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7E10816E-93D0-44C8-96FE-FA4FF56E0F84}"/>
              </a:ext>
            </a:extLst>
          </p:cNvPr>
          <p:cNvSpPr/>
          <p:nvPr/>
        </p:nvSpPr>
        <p:spPr>
          <a:xfrm>
            <a:off x="7594631" y="5001006"/>
            <a:ext cx="1278734" cy="488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一次配送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D1BB6CF-4910-407B-8921-4B408DDA8628}"/>
              </a:ext>
            </a:extLst>
          </p:cNvPr>
          <p:cNvSpPr/>
          <p:nvPr/>
        </p:nvSpPr>
        <p:spPr>
          <a:xfrm>
            <a:off x="7996751" y="5904602"/>
            <a:ext cx="1278734" cy="488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多次配送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05469A-4FF8-4A02-A0C9-F5698FCD22C7}"/>
              </a:ext>
            </a:extLst>
          </p:cNvPr>
          <p:cNvSpPr/>
          <p:nvPr/>
        </p:nvSpPr>
        <p:spPr>
          <a:xfrm>
            <a:off x="9988898" y="4446221"/>
            <a:ext cx="2060917" cy="75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制定当班配送任务；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按时触发执行任务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801A1552-2397-43B2-8D3F-1B3170DE3244}"/>
              </a:ext>
            </a:extLst>
          </p:cNvPr>
          <p:cNvSpPr/>
          <p:nvPr/>
        </p:nvSpPr>
        <p:spPr>
          <a:xfrm>
            <a:off x="3238960" y="2563271"/>
            <a:ext cx="1276098" cy="735774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预约进厂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A12286-6A03-4CD9-BA5E-0AB3FA741327}"/>
              </a:ext>
            </a:extLst>
          </p:cNvPr>
          <p:cNvSpPr/>
          <p:nvPr/>
        </p:nvSpPr>
        <p:spPr>
          <a:xfrm>
            <a:off x="3101876" y="3311644"/>
            <a:ext cx="3053223" cy="73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码头短驳任务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作为短驳车队预约基础；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触发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预约方案需讨论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流程图: 存储数据 33">
            <a:extLst>
              <a:ext uri="{FF2B5EF4-FFF2-40B4-BE49-F238E27FC236}">
                <a16:creationId xmlns:a16="http://schemas.microsoft.com/office/drawing/2014/main" id="{D5D186AC-331D-423D-B486-D8A1710E1C5B}"/>
              </a:ext>
            </a:extLst>
          </p:cNvPr>
          <p:cNvSpPr/>
          <p:nvPr/>
        </p:nvSpPr>
        <p:spPr>
          <a:xfrm>
            <a:off x="8643737" y="3721218"/>
            <a:ext cx="1697031" cy="751929"/>
          </a:xfrm>
          <a:prstGeom prst="flowChartOnlineStorag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厂内配送任务安排</a:t>
            </a:r>
          </a:p>
        </p:txBody>
      </p:sp>
      <p:sp>
        <p:nvSpPr>
          <p:cNvPr id="32" name="流程图: 存储数据 31">
            <a:extLst>
              <a:ext uri="{FF2B5EF4-FFF2-40B4-BE49-F238E27FC236}">
                <a16:creationId xmlns:a16="http://schemas.microsoft.com/office/drawing/2014/main" id="{0DF417F0-38D9-44E5-BB8A-890D2C47EB1F}"/>
              </a:ext>
            </a:extLst>
          </p:cNvPr>
          <p:cNvSpPr/>
          <p:nvPr/>
        </p:nvSpPr>
        <p:spPr>
          <a:xfrm>
            <a:off x="6952596" y="1376260"/>
            <a:ext cx="1697031" cy="751929"/>
          </a:xfrm>
          <a:prstGeom prst="flowChartOnlineStorag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决定货物安排</a:t>
            </a:r>
          </a:p>
        </p:txBody>
      </p:sp>
      <p:sp>
        <p:nvSpPr>
          <p:cNvPr id="36" name="圆角矩形 139">
            <a:extLst>
              <a:ext uri="{FF2B5EF4-FFF2-40B4-BE49-F238E27FC236}">
                <a16:creationId xmlns:a16="http://schemas.microsoft.com/office/drawing/2014/main" id="{F24C5D0C-1131-4139-8435-BF6FC1953A4F}"/>
              </a:ext>
            </a:extLst>
          </p:cNvPr>
          <p:cNvSpPr/>
          <p:nvPr/>
        </p:nvSpPr>
        <p:spPr>
          <a:xfrm>
            <a:off x="922771" y="1872991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F4DB32-C844-798E-EF70-48B445848467}"/>
              </a:ext>
            </a:extLst>
          </p:cNvPr>
          <p:cNvSpPr/>
          <p:nvPr/>
        </p:nvSpPr>
        <p:spPr>
          <a:xfrm>
            <a:off x="9988898" y="4473147"/>
            <a:ext cx="2060917" cy="634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C6219A-070D-FD86-B23A-4D68E76116F3}"/>
              </a:ext>
            </a:extLst>
          </p:cNvPr>
          <p:cNvSpPr/>
          <p:nvPr/>
        </p:nvSpPr>
        <p:spPr>
          <a:xfrm>
            <a:off x="8599573" y="1419479"/>
            <a:ext cx="2532715" cy="75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计算最佳供货计划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A32D4F-D083-C7A2-F301-6D66E64A0492}"/>
              </a:ext>
            </a:extLst>
          </p:cNvPr>
          <p:cNvSpPr/>
          <p:nvPr/>
        </p:nvSpPr>
        <p:spPr>
          <a:xfrm>
            <a:off x="8620839" y="1510203"/>
            <a:ext cx="2088000" cy="54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68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DC50CA2-DCC3-AC7B-E1D7-CB8168E71FA3}"/>
              </a:ext>
            </a:extLst>
          </p:cNvPr>
          <p:cNvSpPr/>
          <p:nvPr/>
        </p:nvSpPr>
        <p:spPr>
          <a:xfrm>
            <a:off x="93729" y="3180335"/>
            <a:ext cx="11970675" cy="363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134699" y="43610"/>
            <a:ext cx="8881710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界面一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 确认 领料需求的货源来源与数量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F306A8-A296-4519-9762-628ED3E1D942}"/>
              </a:ext>
            </a:extLst>
          </p:cNvPr>
          <p:cNvSpPr/>
          <p:nvPr/>
        </p:nvSpPr>
        <p:spPr>
          <a:xfrm>
            <a:off x="1499902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BED22AB-26B2-477A-A75A-B283A2F3F30D}"/>
              </a:ext>
            </a:extLst>
          </p:cNvPr>
          <p:cNvSpPr/>
          <p:nvPr/>
        </p:nvSpPr>
        <p:spPr>
          <a:xfrm>
            <a:off x="2813323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7084584-0171-4C51-9C0F-7247C1127887}"/>
              </a:ext>
            </a:extLst>
          </p:cNvPr>
          <p:cNvSpPr/>
          <p:nvPr/>
        </p:nvSpPr>
        <p:spPr>
          <a:xfrm>
            <a:off x="5307839" y="1924688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78B3BFB-DA19-4108-ACEB-397096AF3A7B}"/>
              </a:ext>
            </a:extLst>
          </p:cNvPr>
          <p:cNvSpPr/>
          <p:nvPr/>
        </p:nvSpPr>
        <p:spPr>
          <a:xfrm>
            <a:off x="4111381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E548F0-DD64-4FF0-BD69-3BFA5CAA3D95}"/>
              </a:ext>
            </a:extLst>
          </p:cNvPr>
          <p:cNvSpPr/>
          <p:nvPr/>
        </p:nvSpPr>
        <p:spPr>
          <a:xfrm>
            <a:off x="5313182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500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14B2541-FE94-4D92-89F9-C03CFF6CFC75}"/>
              </a:ext>
            </a:extLst>
          </p:cNvPr>
          <p:cNvSpPr/>
          <p:nvPr/>
        </p:nvSpPr>
        <p:spPr>
          <a:xfrm>
            <a:off x="6504297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已交数量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4DF1335-854F-49C7-8FAA-B04F01F324EE}"/>
              </a:ext>
            </a:extLst>
          </p:cNvPr>
          <p:cNvSpPr/>
          <p:nvPr/>
        </p:nvSpPr>
        <p:spPr>
          <a:xfrm>
            <a:off x="6574921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CA651AB-ABCE-4287-B82D-16E85B3B8EBA}"/>
              </a:ext>
            </a:extLst>
          </p:cNvPr>
          <p:cNvSpPr/>
          <p:nvPr/>
        </p:nvSpPr>
        <p:spPr>
          <a:xfrm>
            <a:off x="7700755" y="1924688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已安排配送总量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1B88804-9160-418E-98B3-959148435E9A}"/>
              </a:ext>
            </a:extLst>
          </p:cNvPr>
          <p:cNvSpPr/>
          <p:nvPr/>
        </p:nvSpPr>
        <p:spPr>
          <a:xfrm>
            <a:off x="7766036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120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180E070-DBFB-4CB8-8037-35B2976CF9F6}"/>
              </a:ext>
            </a:extLst>
          </p:cNvPr>
          <p:cNvSpPr/>
          <p:nvPr/>
        </p:nvSpPr>
        <p:spPr>
          <a:xfrm>
            <a:off x="10828622" y="4468277"/>
            <a:ext cx="1080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4DC9466-F907-47FA-AE60-CFAD1BEF23BA}"/>
              </a:ext>
            </a:extLst>
          </p:cNvPr>
          <p:cNvSpPr/>
          <p:nvPr/>
        </p:nvSpPr>
        <p:spPr>
          <a:xfrm>
            <a:off x="9518496" y="4468277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</a:p>
        </p:txBody>
      </p:sp>
      <p:sp>
        <p:nvSpPr>
          <p:cNvPr id="21" name="流程图: 合并 20">
            <a:extLst>
              <a:ext uri="{FF2B5EF4-FFF2-40B4-BE49-F238E27FC236}">
                <a16:creationId xmlns:a16="http://schemas.microsoft.com/office/drawing/2014/main" id="{80695127-78CF-46E1-848C-D4BC2A9A0505}"/>
              </a:ext>
            </a:extLst>
          </p:cNvPr>
          <p:cNvSpPr/>
          <p:nvPr/>
        </p:nvSpPr>
        <p:spPr>
          <a:xfrm>
            <a:off x="1506747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标注: 下箭头 77">
            <a:extLst>
              <a:ext uri="{FF2B5EF4-FFF2-40B4-BE49-F238E27FC236}">
                <a16:creationId xmlns:a16="http://schemas.microsoft.com/office/drawing/2014/main" id="{71F92815-2116-4AC6-A096-E2DBC5F64AA0}"/>
              </a:ext>
            </a:extLst>
          </p:cNvPr>
          <p:cNvSpPr/>
          <p:nvPr/>
        </p:nvSpPr>
        <p:spPr>
          <a:xfrm>
            <a:off x="2721880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用户可单独输入料号带出该料号配送需求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03DEF4-9894-4D76-B92F-A76C1070D7C1}"/>
              </a:ext>
            </a:extLst>
          </p:cNvPr>
          <p:cNvSpPr/>
          <p:nvPr/>
        </p:nvSpPr>
        <p:spPr>
          <a:xfrm>
            <a:off x="5923846" y="755540"/>
            <a:ext cx="2378326" cy="590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当用户输入单号显示该单任务目前情况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BEBFC82-5BBA-4BE9-9B66-395F8838C2AF}"/>
              </a:ext>
            </a:extLst>
          </p:cNvPr>
          <p:cNvSpPr/>
          <p:nvPr/>
        </p:nvSpPr>
        <p:spPr>
          <a:xfrm>
            <a:off x="8840692" y="1924688"/>
            <a:ext cx="1080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尚需安排任务需求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4F0FD9D-53F3-4A8C-A1E1-4210D513DDEB}"/>
              </a:ext>
            </a:extLst>
          </p:cNvPr>
          <p:cNvSpPr/>
          <p:nvPr/>
        </p:nvSpPr>
        <p:spPr>
          <a:xfrm>
            <a:off x="8840692" y="2581756"/>
            <a:ext cx="1080000" cy="360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b="1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1BAA34-13D1-438D-B49F-C275914C8EB5}"/>
              </a:ext>
            </a:extLst>
          </p:cNvPr>
          <p:cNvSpPr/>
          <p:nvPr/>
        </p:nvSpPr>
        <p:spPr>
          <a:xfrm>
            <a:off x="113830" y="2998778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0402245-E1F6-49B0-A3F7-3DBE3536626D}"/>
              </a:ext>
            </a:extLst>
          </p:cNvPr>
          <p:cNvSpPr/>
          <p:nvPr/>
        </p:nvSpPr>
        <p:spPr>
          <a:xfrm>
            <a:off x="302828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7F09322-6EBC-4E71-8B42-E046BDFE29A2}"/>
              </a:ext>
            </a:extLst>
          </p:cNvPr>
          <p:cNvSpPr/>
          <p:nvPr/>
        </p:nvSpPr>
        <p:spPr>
          <a:xfrm>
            <a:off x="6082508" y="4468277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库存数量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3217DBCF-506E-48C6-A9D4-1C3A7EDB5EBA}"/>
              </a:ext>
            </a:extLst>
          </p:cNvPr>
          <p:cNvSpPr/>
          <p:nvPr/>
        </p:nvSpPr>
        <p:spPr>
          <a:xfrm>
            <a:off x="1502184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E7436D9F-6CC7-46E0-959E-266CF763148C}"/>
              </a:ext>
            </a:extLst>
          </p:cNvPr>
          <p:cNvSpPr/>
          <p:nvPr/>
        </p:nvSpPr>
        <p:spPr>
          <a:xfrm>
            <a:off x="7231403" y="4468277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已安排转储量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E582F96-FF29-483E-A888-F7D73269CB31}"/>
              </a:ext>
            </a:extLst>
          </p:cNvPr>
          <p:cNvSpPr/>
          <p:nvPr/>
        </p:nvSpPr>
        <p:spPr>
          <a:xfrm>
            <a:off x="8375818" y="4468277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尚可安排库存量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E1676DA1-8F89-494B-BCEE-72B71FB159B6}"/>
              </a:ext>
            </a:extLst>
          </p:cNvPr>
          <p:cNvSpPr/>
          <p:nvPr/>
        </p:nvSpPr>
        <p:spPr>
          <a:xfrm>
            <a:off x="6022570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291AC6EF-C8F4-4160-8AA4-17844E0F6C21}"/>
              </a:ext>
            </a:extLst>
          </p:cNvPr>
          <p:cNvSpPr/>
          <p:nvPr/>
        </p:nvSpPr>
        <p:spPr>
          <a:xfrm>
            <a:off x="7295197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60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0C38B16-D6A2-4397-8122-524CE5AFA979}"/>
              </a:ext>
            </a:extLst>
          </p:cNvPr>
          <p:cNvSpPr/>
          <p:nvPr/>
        </p:nvSpPr>
        <p:spPr>
          <a:xfrm>
            <a:off x="8439612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40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E8D543F3-D290-4909-9058-EFCF5C4D7826}"/>
              </a:ext>
            </a:extLst>
          </p:cNvPr>
          <p:cNvSpPr/>
          <p:nvPr/>
        </p:nvSpPr>
        <p:spPr>
          <a:xfrm>
            <a:off x="1505734" y="506273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号库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E561E9C5-CB40-4F2A-AC9E-EF0E153F23E8}"/>
              </a:ext>
            </a:extLst>
          </p:cNvPr>
          <p:cNvSpPr/>
          <p:nvPr/>
        </p:nvSpPr>
        <p:spPr>
          <a:xfrm>
            <a:off x="2649016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料号、批次号、仓位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76D70682-CC70-485C-8D44-42515963283F}"/>
              </a:ext>
            </a:extLst>
          </p:cNvPr>
          <p:cNvSpPr/>
          <p:nvPr/>
        </p:nvSpPr>
        <p:spPr>
          <a:xfrm>
            <a:off x="3791318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收货日期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FA5FC5CF-632B-4DC3-92A3-07D0BEF6389A}"/>
              </a:ext>
            </a:extLst>
          </p:cNvPr>
          <p:cNvSpPr/>
          <p:nvPr/>
        </p:nvSpPr>
        <p:spPr>
          <a:xfrm>
            <a:off x="4932554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免堆免箱日期</a:t>
            </a:r>
          </a:p>
        </p:txBody>
      </p:sp>
      <p:sp>
        <p:nvSpPr>
          <p:cNvPr id="88" name="标注: 下箭头 87">
            <a:extLst>
              <a:ext uri="{FF2B5EF4-FFF2-40B4-BE49-F238E27FC236}">
                <a16:creationId xmlns:a16="http://schemas.microsoft.com/office/drawing/2014/main" id="{27D6B5C0-082B-4B2C-B32B-E5686995789C}"/>
              </a:ext>
            </a:extLst>
          </p:cNvPr>
          <p:cNvSpPr/>
          <p:nvPr/>
        </p:nvSpPr>
        <p:spPr>
          <a:xfrm>
            <a:off x="1379202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用户输入领料单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带出配送需求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B04A13C0-64E7-4BA8-9F13-883C8822004A}"/>
              </a:ext>
            </a:extLst>
          </p:cNvPr>
          <p:cNvSpPr/>
          <p:nvPr/>
        </p:nvSpPr>
        <p:spPr>
          <a:xfrm rot="5400000">
            <a:off x="6690840" y="-620516"/>
            <a:ext cx="576000" cy="447965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流程图: 合并 88">
            <a:extLst>
              <a:ext uri="{FF2B5EF4-FFF2-40B4-BE49-F238E27FC236}">
                <a16:creationId xmlns:a16="http://schemas.microsoft.com/office/drawing/2014/main" id="{03C92B84-2178-444A-88DF-04AF65337B11}"/>
              </a:ext>
            </a:extLst>
          </p:cNvPr>
          <p:cNvSpPr/>
          <p:nvPr/>
        </p:nvSpPr>
        <p:spPr>
          <a:xfrm>
            <a:off x="2853285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左大括号 90">
            <a:extLst>
              <a:ext uri="{FF2B5EF4-FFF2-40B4-BE49-F238E27FC236}">
                <a16:creationId xmlns:a16="http://schemas.microsoft.com/office/drawing/2014/main" id="{E1BB3AA3-06A7-44F1-A8E5-6FED756A94BF}"/>
              </a:ext>
            </a:extLst>
          </p:cNvPr>
          <p:cNvSpPr/>
          <p:nvPr/>
        </p:nvSpPr>
        <p:spPr>
          <a:xfrm rot="5400000">
            <a:off x="4068070" y="1921185"/>
            <a:ext cx="576000" cy="4420733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FA8F2AB-A4B6-477F-928C-789AA25EEC33}"/>
              </a:ext>
            </a:extLst>
          </p:cNvPr>
          <p:cNvSpPr/>
          <p:nvPr/>
        </p:nvSpPr>
        <p:spPr>
          <a:xfrm>
            <a:off x="2628376" y="3483612"/>
            <a:ext cx="4030144" cy="521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显示字段负责工厂整理后提出讨论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C48A5D0F-C645-47B1-9F37-D35A1725D5DA}"/>
              </a:ext>
            </a:extLst>
          </p:cNvPr>
          <p:cNvSpPr/>
          <p:nvPr/>
        </p:nvSpPr>
        <p:spPr>
          <a:xfrm>
            <a:off x="6039754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300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AE356AB0-069F-4647-9708-2235D48DEEA0}"/>
              </a:ext>
            </a:extLst>
          </p:cNvPr>
          <p:cNvSpPr/>
          <p:nvPr/>
        </p:nvSpPr>
        <p:spPr>
          <a:xfrm>
            <a:off x="7312381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60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ECAF63DD-A714-4A3C-B789-051D54266DDE}"/>
              </a:ext>
            </a:extLst>
          </p:cNvPr>
          <p:cNvSpPr/>
          <p:nvPr/>
        </p:nvSpPr>
        <p:spPr>
          <a:xfrm>
            <a:off x="8456796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240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BC4E72BE-6BD1-4B91-9FEE-E060D083CC6C}"/>
              </a:ext>
            </a:extLst>
          </p:cNvPr>
          <p:cNvSpPr/>
          <p:nvPr/>
        </p:nvSpPr>
        <p:spPr>
          <a:xfrm>
            <a:off x="1505734" y="555312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号库</a:t>
            </a:r>
          </a:p>
        </p:txBody>
      </p:sp>
      <p:sp>
        <p:nvSpPr>
          <p:cNvPr id="97" name="标注: 下箭头 96">
            <a:extLst>
              <a:ext uri="{FF2B5EF4-FFF2-40B4-BE49-F238E27FC236}">
                <a16:creationId xmlns:a16="http://schemas.microsoft.com/office/drawing/2014/main" id="{46A96372-0DF4-4A26-87F6-602E72548F81}"/>
              </a:ext>
            </a:extLst>
          </p:cNvPr>
          <p:cNvSpPr/>
          <p:nvPr/>
        </p:nvSpPr>
        <p:spPr>
          <a:xfrm>
            <a:off x="10738446" y="3348420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决定是否执行</a:t>
            </a:r>
          </a:p>
        </p:txBody>
      </p:sp>
      <p:sp>
        <p:nvSpPr>
          <p:cNvPr id="98" name="标注: 下箭头 97">
            <a:extLst>
              <a:ext uri="{FF2B5EF4-FFF2-40B4-BE49-F238E27FC236}">
                <a16:creationId xmlns:a16="http://schemas.microsoft.com/office/drawing/2014/main" id="{DC417729-1850-4F83-B835-B3EF5FE30E0F}"/>
              </a:ext>
            </a:extLst>
          </p:cNvPr>
          <p:cNvSpPr/>
          <p:nvPr/>
        </p:nvSpPr>
        <p:spPr>
          <a:xfrm>
            <a:off x="9380231" y="3348420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系统根据作业成本最低决定发货来源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669AAC97-F6B6-4C4C-A29D-F35CF068949B}"/>
              </a:ext>
            </a:extLst>
          </p:cNvPr>
          <p:cNvSpPr/>
          <p:nvPr/>
        </p:nvSpPr>
        <p:spPr>
          <a:xfrm>
            <a:off x="9602094" y="507352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40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30E3EEDF-B941-4746-B8EE-8B731C7C17DE}"/>
              </a:ext>
            </a:extLst>
          </p:cNvPr>
          <p:cNvSpPr/>
          <p:nvPr/>
        </p:nvSpPr>
        <p:spPr>
          <a:xfrm>
            <a:off x="9619278" y="556391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215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A94EEB24-CE42-4E00-BADA-36FD15F4552C}"/>
              </a:ext>
            </a:extLst>
          </p:cNvPr>
          <p:cNvSpPr/>
          <p:nvPr/>
        </p:nvSpPr>
        <p:spPr>
          <a:xfrm>
            <a:off x="1043364" y="1449885"/>
            <a:ext cx="2196000" cy="25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筛选条件由各厂讨论订之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07BB75-6ECF-0EF6-CBB8-4A96FC7FCAB9}"/>
              </a:ext>
            </a:extLst>
          </p:cNvPr>
          <p:cNvSpPr/>
          <p:nvPr/>
        </p:nvSpPr>
        <p:spPr>
          <a:xfrm>
            <a:off x="6053925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CC082D-9DAE-6B55-73DD-BB7A493131E1}"/>
              </a:ext>
            </a:extLst>
          </p:cNvPr>
          <p:cNvSpPr/>
          <p:nvPr/>
        </p:nvSpPr>
        <p:spPr>
          <a:xfrm>
            <a:off x="7326552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E325693-32E8-4E32-A03C-D7F9A905C809}"/>
              </a:ext>
            </a:extLst>
          </p:cNvPr>
          <p:cNvSpPr/>
          <p:nvPr/>
        </p:nvSpPr>
        <p:spPr>
          <a:xfrm>
            <a:off x="8470967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4A2699-3106-730D-2392-31418DA33A65}"/>
              </a:ext>
            </a:extLst>
          </p:cNvPr>
          <p:cNvSpPr/>
          <p:nvPr/>
        </p:nvSpPr>
        <p:spPr>
          <a:xfrm>
            <a:off x="1505734" y="599261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供应商预约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CEC7610-1C31-7981-D53E-B741E8EECD89}"/>
              </a:ext>
            </a:extLst>
          </p:cNvPr>
          <p:cNvSpPr/>
          <p:nvPr/>
        </p:nvSpPr>
        <p:spPr>
          <a:xfrm>
            <a:off x="9633449" y="602880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24B3209-5695-259F-474C-CBF54A983571}"/>
              </a:ext>
            </a:extLst>
          </p:cNvPr>
          <p:cNvSpPr/>
          <p:nvPr/>
        </p:nvSpPr>
        <p:spPr>
          <a:xfrm>
            <a:off x="9553395" y="5106221"/>
            <a:ext cx="2355227" cy="165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系统默认，可修改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A611A39-3898-EC8A-6329-8AB9D2EF2C39}"/>
              </a:ext>
            </a:extLst>
          </p:cNvPr>
          <p:cNvSpPr/>
          <p:nvPr/>
        </p:nvSpPr>
        <p:spPr>
          <a:xfrm>
            <a:off x="10872094" y="507352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78C1C13-3BD6-47E8-B4D5-5CF4BAD7758A}"/>
              </a:ext>
            </a:extLst>
          </p:cNvPr>
          <p:cNvSpPr/>
          <p:nvPr/>
        </p:nvSpPr>
        <p:spPr>
          <a:xfrm>
            <a:off x="10889278" y="556391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6444629-0AC3-4904-26EE-5FD7790CC975}"/>
              </a:ext>
            </a:extLst>
          </p:cNvPr>
          <p:cNvSpPr/>
          <p:nvPr/>
        </p:nvSpPr>
        <p:spPr>
          <a:xfrm>
            <a:off x="10903449" y="602880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1CE0BAC-E38F-6815-F75D-EFFCC543981A}"/>
              </a:ext>
            </a:extLst>
          </p:cNvPr>
          <p:cNvSpPr/>
          <p:nvPr/>
        </p:nvSpPr>
        <p:spPr>
          <a:xfrm>
            <a:off x="137404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4EA0CC3F-DC25-0C9C-6A0A-C7CE0705A459}"/>
              </a:ext>
            </a:extLst>
          </p:cNvPr>
          <p:cNvSpPr/>
          <p:nvPr/>
        </p:nvSpPr>
        <p:spPr>
          <a:xfrm>
            <a:off x="20589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用户输入领料单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带出配送需求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流程图: 合并 16">
            <a:extLst>
              <a:ext uri="{FF2B5EF4-FFF2-40B4-BE49-F238E27FC236}">
                <a16:creationId xmlns:a16="http://schemas.microsoft.com/office/drawing/2014/main" id="{4C1C3562-9275-EDD1-5E52-7B29FB2146EA}"/>
              </a:ext>
            </a:extLst>
          </p:cNvPr>
          <p:cNvSpPr/>
          <p:nvPr/>
        </p:nvSpPr>
        <p:spPr>
          <a:xfrm>
            <a:off x="221325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600B61E-1B1F-5EE7-DD58-85DE5241902B}"/>
              </a:ext>
            </a:extLst>
          </p:cNvPr>
          <p:cNvSpPr/>
          <p:nvPr/>
        </p:nvSpPr>
        <p:spPr>
          <a:xfrm>
            <a:off x="10503592" y="1924688"/>
            <a:ext cx="1512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执行试算</a:t>
            </a:r>
          </a:p>
        </p:txBody>
      </p:sp>
      <p:sp>
        <p:nvSpPr>
          <p:cNvPr id="19" name="标注: 下箭头 18">
            <a:extLst>
              <a:ext uri="{FF2B5EF4-FFF2-40B4-BE49-F238E27FC236}">
                <a16:creationId xmlns:a16="http://schemas.microsoft.com/office/drawing/2014/main" id="{1EDDB07F-FF60-D1DD-F2C3-2512CE5DD9C5}"/>
              </a:ext>
            </a:extLst>
          </p:cNvPr>
          <p:cNvSpPr/>
          <p:nvPr/>
        </p:nvSpPr>
        <p:spPr>
          <a:xfrm>
            <a:off x="10634478" y="815493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点前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试算明天配送计划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3FC7C9-1CB5-3598-3C37-A6F50D2E1789}"/>
              </a:ext>
            </a:extLst>
          </p:cNvPr>
          <p:cNvSpPr/>
          <p:nvPr/>
        </p:nvSpPr>
        <p:spPr>
          <a:xfrm>
            <a:off x="10427326" y="676828"/>
            <a:ext cx="1656000" cy="1980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16E9594-3FDA-B92F-6AF1-1F6950844715}"/>
              </a:ext>
            </a:extLst>
          </p:cNvPr>
          <p:cNvSpPr/>
          <p:nvPr/>
        </p:nvSpPr>
        <p:spPr>
          <a:xfrm>
            <a:off x="302828" y="322286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配送需求日期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2045BCD-FFC9-A938-90D1-13FC06337DD0}"/>
              </a:ext>
            </a:extLst>
          </p:cNvPr>
          <p:cNvSpPr/>
          <p:nvPr/>
        </p:nvSpPr>
        <p:spPr>
          <a:xfrm>
            <a:off x="302828" y="3841370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配送需求单号</a:t>
            </a:r>
          </a:p>
        </p:txBody>
      </p:sp>
    </p:spTree>
    <p:extLst>
      <p:ext uri="{BB962C8B-B14F-4D97-AF65-F5344CB8AC3E}">
        <p14:creationId xmlns:p14="http://schemas.microsoft.com/office/powerpoint/2010/main" val="290628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DC4FEA25-484B-F484-30B0-00B72E62C415}"/>
              </a:ext>
            </a:extLst>
          </p:cNvPr>
          <p:cNvSpPr/>
          <p:nvPr/>
        </p:nvSpPr>
        <p:spPr>
          <a:xfrm>
            <a:off x="51198" y="1662691"/>
            <a:ext cx="12096000" cy="38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32661" y="0"/>
            <a:ext cx="12006963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界面二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 确认 仓储任务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)-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重点在资材库配送的拆单合理性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F306A8-A296-4519-9762-628ED3E1D942}"/>
              </a:ext>
            </a:extLst>
          </p:cNvPr>
          <p:cNvSpPr/>
          <p:nvPr/>
        </p:nvSpPr>
        <p:spPr>
          <a:xfrm>
            <a:off x="200368" y="1687642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配送需求日期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BED22AB-26B2-477A-A75A-B283A2F3F30D}"/>
              </a:ext>
            </a:extLst>
          </p:cNvPr>
          <p:cNvSpPr/>
          <p:nvPr/>
        </p:nvSpPr>
        <p:spPr>
          <a:xfrm>
            <a:off x="1446000" y="173195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配送需求单号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7084584-0171-4C51-9C0F-7247C1127887}"/>
              </a:ext>
            </a:extLst>
          </p:cNvPr>
          <p:cNvSpPr/>
          <p:nvPr/>
        </p:nvSpPr>
        <p:spPr>
          <a:xfrm>
            <a:off x="102369" y="2350509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配送需求总量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78B3BFB-DA19-4108-ACEB-397096AF3A7B}"/>
              </a:ext>
            </a:extLst>
          </p:cNvPr>
          <p:cNvSpPr/>
          <p:nvPr/>
        </p:nvSpPr>
        <p:spPr>
          <a:xfrm>
            <a:off x="3910824" y="169488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036FC7D-8793-49AE-92D0-724BC967470D}"/>
              </a:ext>
            </a:extLst>
          </p:cNvPr>
          <p:cNvSpPr/>
          <p:nvPr/>
        </p:nvSpPr>
        <p:spPr>
          <a:xfrm>
            <a:off x="2353925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任务号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565795D5-56E9-4BB7-AF7B-2A566BFD70E5}"/>
              </a:ext>
            </a:extLst>
          </p:cNvPr>
          <p:cNvSpPr/>
          <p:nvPr/>
        </p:nvSpPr>
        <p:spPr>
          <a:xfrm>
            <a:off x="4606011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D033027-6586-48D4-B068-18CBD94AACB7}"/>
              </a:ext>
            </a:extLst>
          </p:cNvPr>
          <p:cNvSpPr/>
          <p:nvPr/>
        </p:nvSpPr>
        <p:spPr>
          <a:xfrm>
            <a:off x="347820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配送单号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E605734-0D1F-44EF-8E4D-A4D1CF82893C}"/>
              </a:ext>
            </a:extLst>
          </p:cNvPr>
          <p:cNvSpPr/>
          <p:nvPr/>
        </p:nvSpPr>
        <p:spPr>
          <a:xfrm>
            <a:off x="9108495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配送任务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E548F0-DD64-4FF0-BD69-3BFA5CAA3D95}"/>
              </a:ext>
            </a:extLst>
          </p:cNvPr>
          <p:cNvSpPr/>
          <p:nvPr/>
        </p:nvSpPr>
        <p:spPr>
          <a:xfrm>
            <a:off x="102369" y="2962464"/>
            <a:ext cx="1074657" cy="5750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6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dirty="0">
              <a:solidFill>
                <a:schemeClr val="accent6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D19F59-FD88-4726-8FEF-7144CDECE7CD}"/>
              </a:ext>
            </a:extLst>
          </p:cNvPr>
          <p:cNvSpPr/>
          <p:nvPr/>
        </p:nvSpPr>
        <p:spPr>
          <a:xfrm>
            <a:off x="235392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FB0C5B7-FFD5-4BFC-A67F-3AD9DA150BE9}"/>
              </a:ext>
            </a:extLst>
          </p:cNvPr>
          <p:cNvSpPr/>
          <p:nvPr/>
        </p:nvSpPr>
        <p:spPr>
          <a:xfrm>
            <a:off x="2353925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963EE18-00F4-4072-9CDA-CC6530EB0B38}"/>
              </a:ext>
            </a:extLst>
          </p:cNvPr>
          <p:cNvSpPr/>
          <p:nvPr/>
        </p:nvSpPr>
        <p:spPr>
          <a:xfrm>
            <a:off x="2353925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0003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286CFC7-2B16-4A1F-9AB2-885F52E044D6}"/>
              </a:ext>
            </a:extLst>
          </p:cNvPr>
          <p:cNvSpPr/>
          <p:nvPr/>
        </p:nvSpPr>
        <p:spPr>
          <a:xfrm>
            <a:off x="4606011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C27BB5-529A-4453-B49B-31D825978AB5}"/>
              </a:ext>
            </a:extLst>
          </p:cNvPr>
          <p:cNvSpPr/>
          <p:nvPr/>
        </p:nvSpPr>
        <p:spPr>
          <a:xfrm>
            <a:off x="4606011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码头仓库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8C24F7B-879B-4790-B3B9-3CC8607E3A56}"/>
              </a:ext>
            </a:extLst>
          </p:cNvPr>
          <p:cNvSpPr/>
          <p:nvPr/>
        </p:nvSpPr>
        <p:spPr>
          <a:xfrm>
            <a:off x="4606011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7E23D08-17BE-4752-950F-C43CE96B89A4}"/>
              </a:ext>
            </a:extLst>
          </p:cNvPr>
          <p:cNvSpPr/>
          <p:nvPr/>
        </p:nvSpPr>
        <p:spPr>
          <a:xfrm>
            <a:off x="347820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D428E67-932F-4B84-8D55-F591B9815D12}"/>
              </a:ext>
            </a:extLst>
          </p:cNvPr>
          <p:cNvSpPr/>
          <p:nvPr/>
        </p:nvSpPr>
        <p:spPr>
          <a:xfrm>
            <a:off x="347820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7EBA61E-324A-4534-983A-B086C94EE6CD}"/>
              </a:ext>
            </a:extLst>
          </p:cNvPr>
          <p:cNvSpPr/>
          <p:nvPr/>
        </p:nvSpPr>
        <p:spPr>
          <a:xfrm>
            <a:off x="347820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PS0003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78521C2-92CA-4148-9556-E9538102EA61}"/>
              </a:ext>
            </a:extLst>
          </p:cNvPr>
          <p:cNvSpPr/>
          <p:nvPr/>
        </p:nvSpPr>
        <p:spPr>
          <a:xfrm>
            <a:off x="91084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D103E57-37AF-4E95-9F11-D3AA1E42B04B}"/>
              </a:ext>
            </a:extLst>
          </p:cNvPr>
          <p:cNvSpPr/>
          <p:nvPr/>
        </p:nvSpPr>
        <p:spPr>
          <a:xfrm>
            <a:off x="9108495" y="3569709"/>
            <a:ext cx="1080000" cy="576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B7E56CD-DA42-4832-8321-41EA74BDE5DE}"/>
              </a:ext>
            </a:extLst>
          </p:cNvPr>
          <p:cNvSpPr/>
          <p:nvPr/>
        </p:nvSpPr>
        <p:spPr>
          <a:xfrm>
            <a:off x="9108495" y="4181664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30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CA651AB-ABCE-4287-B82D-16E85B3B8EBA}"/>
              </a:ext>
            </a:extLst>
          </p:cNvPr>
          <p:cNvSpPr/>
          <p:nvPr/>
        </p:nvSpPr>
        <p:spPr>
          <a:xfrm>
            <a:off x="1225981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配送任务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总量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1B88804-9160-418E-98B3-959148435E9A}"/>
              </a:ext>
            </a:extLst>
          </p:cNvPr>
          <p:cNvSpPr/>
          <p:nvPr/>
        </p:nvSpPr>
        <p:spPr>
          <a:xfrm>
            <a:off x="1225981" y="2962464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180E070-DBFB-4CB8-8037-35B2976CF9F6}"/>
              </a:ext>
            </a:extLst>
          </p:cNvPr>
          <p:cNvSpPr/>
          <p:nvPr/>
        </p:nvSpPr>
        <p:spPr>
          <a:xfrm>
            <a:off x="11366220" y="2350509"/>
            <a:ext cx="730193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确认执行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C9DB8AC3-FD0A-4820-BE91-623BCB9472F1}"/>
              </a:ext>
            </a:extLst>
          </p:cNvPr>
          <p:cNvSpPr/>
          <p:nvPr/>
        </p:nvSpPr>
        <p:spPr>
          <a:xfrm>
            <a:off x="191383" y="5479768"/>
            <a:ext cx="11906887" cy="12934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考量最小配送单位数量，系统可设置配送需求数量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容差值，允许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配送任务总量 ≧ 配送需求总量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仓储任务号状态为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“进厂前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供应商送货、码头短驳进厂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“创建拣配行项目前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，可取消任务，其他状态则在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配送进度查询作业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仅可对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发货者，进行 配送任务数量 修改。 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3CE15F-C293-431C-88DA-19F935D8160B}"/>
              </a:ext>
            </a:extLst>
          </p:cNvPr>
          <p:cNvSpPr/>
          <p:nvPr/>
        </p:nvSpPr>
        <p:spPr>
          <a:xfrm>
            <a:off x="135096" y="1501050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5A43CE9-8850-44BC-BB64-2F0B790ACB1B}"/>
              </a:ext>
            </a:extLst>
          </p:cNvPr>
          <p:cNvSpPr/>
          <p:nvPr/>
        </p:nvSpPr>
        <p:spPr>
          <a:xfrm>
            <a:off x="179102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933BFA3-EBEB-44AE-AF89-7217323ED865}"/>
              </a:ext>
            </a:extLst>
          </p:cNvPr>
          <p:cNvSpPr/>
          <p:nvPr/>
        </p:nvSpPr>
        <p:spPr>
          <a:xfrm>
            <a:off x="2643926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41BC959-60EC-4BDF-8802-570CF5F27FDF}"/>
              </a:ext>
            </a:extLst>
          </p:cNvPr>
          <p:cNvSpPr/>
          <p:nvPr/>
        </p:nvSpPr>
        <p:spPr>
          <a:xfrm>
            <a:off x="3852093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结单判断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81F7AE5-6C58-4217-AC4B-76F91674B80D}"/>
              </a:ext>
            </a:extLst>
          </p:cNvPr>
          <p:cNvSpPr/>
          <p:nvPr/>
        </p:nvSpPr>
        <p:spPr>
          <a:xfrm>
            <a:off x="10120729" y="783690"/>
            <a:ext cx="1918895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CC9F481-DA7E-4559-85EA-8A1777C2DD00}"/>
              </a:ext>
            </a:extLst>
          </p:cNvPr>
          <p:cNvSpPr/>
          <p:nvPr/>
        </p:nvSpPr>
        <p:spPr>
          <a:xfrm>
            <a:off x="5092618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开单日期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15B1F52-C1AB-47BC-94C3-A65C41080E7C}"/>
              </a:ext>
            </a:extLst>
          </p:cNvPr>
          <p:cNvSpPr/>
          <p:nvPr/>
        </p:nvSpPr>
        <p:spPr>
          <a:xfrm>
            <a:off x="6355478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BDEE9BB-7D6C-4D45-B7F8-019D93152FE5}"/>
              </a:ext>
            </a:extLst>
          </p:cNvPr>
          <p:cNvSpPr/>
          <p:nvPr/>
        </p:nvSpPr>
        <p:spPr>
          <a:xfrm>
            <a:off x="7525517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AB241355-BDE0-42E2-BF9C-811A5B0AE62C}"/>
              </a:ext>
            </a:extLst>
          </p:cNvPr>
          <p:cNvSpPr/>
          <p:nvPr/>
        </p:nvSpPr>
        <p:spPr>
          <a:xfrm>
            <a:off x="8722275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到门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自提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D2CD252-0B0D-0288-5308-251AB80A9439}"/>
              </a:ext>
            </a:extLst>
          </p:cNvPr>
          <p:cNvSpPr/>
          <p:nvPr/>
        </p:nvSpPr>
        <p:spPr>
          <a:xfrm>
            <a:off x="10226095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实际数量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B7B1F1-FBAF-52AE-3D26-DF27A6B2B719}"/>
              </a:ext>
            </a:extLst>
          </p:cNvPr>
          <p:cNvSpPr/>
          <p:nvPr/>
        </p:nvSpPr>
        <p:spPr>
          <a:xfrm>
            <a:off x="102260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19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7ACFD6-71CE-F245-6171-673E5001E059}"/>
              </a:ext>
            </a:extLst>
          </p:cNvPr>
          <p:cNvSpPr/>
          <p:nvPr/>
        </p:nvSpPr>
        <p:spPr>
          <a:xfrm>
            <a:off x="10226095" y="3569709"/>
            <a:ext cx="1080000" cy="576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DB4B67-BF52-3067-CF8A-ED6BFFEF5FC8}"/>
              </a:ext>
            </a:extLst>
          </p:cNvPr>
          <p:cNvSpPr/>
          <p:nvPr/>
        </p:nvSpPr>
        <p:spPr>
          <a:xfrm>
            <a:off x="10226095" y="4181664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BA6BAEA-FBDB-EDFA-B67E-1B819558790A}"/>
              </a:ext>
            </a:extLst>
          </p:cNvPr>
          <p:cNvSpPr/>
          <p:nvPr/>
        </p:nvSpPr>
        <p:spPr>
          <a:xfrm>
            <a:off x="5730295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0C39B9-3DA5-A186-D8F6-23F1C6F0E560}"/>
              </a:ext>
            </a:extLst>
          </p:cNvPr>
          <p:cNvSpPr/>
          <p:nvPr/>
        </p:nvSpPr>
        <p:spPr>
          <a:xfrm>
            <a:off x="57302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8BF15C-5457-40EA-6E24-3CDC32A645E8}"/>
              </a:ext>
            </a:extLst>
          </p:cNvPr>
          <p:cNvSpPr/>
          <p:nvPr/>
        </p:nvSpPr>
        <p:spPr>
          <a:xfrm>
            <a:off x="5730295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进厂前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2F5455-5C6B-3607-FC65-15798C7F3671}"/>
              </a:ext>
            </a:extLst>
          </p:cNvPr>
          <p:cNvSpPr/>
          <p:nvPr/>
        </p:nvSpPr>
        <p:spPr>
          <a:xfrm>
            <a:off x="5730295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作业中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637DB58-3D59-78FA-8BEC-A104B37336AE}"/>
              </a:ext>
            </a:extLst>
          </p:cNvPr>
          <p:cNvSpPr/>
          <p:nvPr/>
        </p:nvSpPr>
        <p:spPr>
          <a:xfrm>
            <a:off x="1424734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EBCF991-A7BE-9B3F-35A2-D1F45524621D}"/>
              </a:ext>
            </a:extLst>
          </p:cNvPr>
          <p:cNvSpPr/>
          <p:nvPr/>
        </p:nvSpPr>
        <p:spPr>
          <a:xfrm>
            <a:off x="2665192" y="170169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CE388EF-F0DB-4E7E-7F7B-5AE24D060E8A}"/>
              </a:ext>
            </a:extLst>
          </p:cNvPr>
          <p:cNvSpPr/>
          <p:nvPr/>
        </p:nvSpPr>
        <p:spPr>
          <a:xfrm>
            <a:off x="797885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C03647-0D93-0F3E-16FB-61758F585246}"/>
              </a:ext>
            </a:extLst>
          </p:cNvPr>
          <p:cNvSpPr/>
          <p:nvPr/>
        </p:nvSpPr>
        <p:spPr>
          <a:xfrm>
            <a:off x="797885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337C5E-256A-6245-37DB-1A5FA6C1174B}"/>
              </a:ext>
            </a:extLst>
          </p:cNvPr>
          <p:cNvSpPr/>
          <p:nvPr/>
        </p:nvSpPr>
        <p:spPr>
          <a:xfrm>
            <a:off x="797885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85501B-5C1C-5437-DC79-3BCDE9442D7B}"/>
              </a:ext>
            </a:extLst>
          </p:cNvPr>
          <p:cNvSpPr/>
          <p:nvPr/>
        </p:nvSpPr>
        <p:spPr>
          <a:xfrm>
            <a:off x="797885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5565D90-C78C-8862-E50A-DFAF1E32AF60}"/>
              </a:ext>
            </a:extLst>
          </p:cNvPr>
          <p:cNvSpPr/>
          <p:nvPr/>
        </p:nvSpPr>
        <p:spPr>
          <a:xfrm>
            <a:off x="11131962" y="2962464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03DB361-98BE-FD8D-285A-80161482B17A}"/>
              </a:ext>
            </a:extLst>
          </p:cNvPr>
          <p:cNvSpPr/>
          <p:nvPr/>
        </p:nvSpPr>
        <p:spPr>
          <a:xfrm>
            <a:off x="11131962" y="3569709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550CECA-5E7C-1AAC-F254-DD7008EDE652}"/>
              </a:ext>
            </a:extLst>
          </p:cNvPr>
          <p:cNvSpPr/>
          <p:nvPr/>
        </p:nvSpPr>
        <p:spPr>
          <a:xfrm>
            <a:off x="11131962" y="4244493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143A995-65F1-39ED-8737-60E3E6BACF57}"/>
              </a:ext>
            </a:extLst>
          </p:cNvPr>
          <p:cNvSpPr/>
          <p:nvPr/>
        </p:nvSpPr>
        <p:spPr>
          <a:xfrm>
            <a:off x="684855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D46D12-3D32-7CF8-B3CC-763AA69C89B8}"/>
              </a:ext>
            </a:extLst>
          </p:cNvPr>
          <p:cNvSpPr/>
          <p:nvPr/>
        </p:nvSpPr>
        <p:spPr>
          <a:xfrm>
            <a:off x="684855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早上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53A1190-BC2C-834D-08BD-2D9DEB2610BD}"/>
              </a:ext>
            </a:extLst>
          </p:cNvPr>
          <p:cNvSpPr/>
          <p:nvPr/>
        </p:nvSpPr>
        <p:spPr>
          <a:xfrm>
            <a:off x="684855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晚上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62C31F-BDDB-0C2C-52FE-154060BA4601}"/>
              </a:ext>
            </a:extLst>
          </p:cNvPr>
          <p:cNvSpPr/>
          <p:nvPr/>
        </p:nvSpPr>
        <p:spPr>
          <a:xfrm>
            <a:off x="684855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21CBEB9-0D35-75EC-DF60-DF9C4A10541D}"/>
              </a:ext>
            </a:extLst>
          </p:cNvPr>
          <p:cNvSpPr/>
          <p:nvPr/>
        </p:nvSpPr>
        <p:spPr>
          <a:xfrm>
            <a:off x="102369" y="3569709"/>
            <a:ext cx="1080000" cy="57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已完成配送数量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CAE8EA3-2F37-D5C1-AECD-F1A22928CDB8}"/>
              </a:ext>
            </a:extLst>
          </p:cNvPr>
          <p:cNvSpPr/>
          <p:nvPr/>
        </p:nvSpPr>
        <p:spPr>
          <a:xfrm>
            <a:off x="102369" y="4181664"/>
            <a:ext cx="1074657" cy="5750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5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19</a:t>
            </a:r>
            <a:endParaRPr lang="zh-CN" altLang="en-US" sz="2800" dirty="0">
              <a:solidFill>
                <a:schemeClr val="accent5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标注: 下箭头 21">
            <a:extLst>
              <a:ext uri="{FF2B5EF4-FFF2-40B4-BE49-F238E27FC236}">
                <a16:creationId xmlns:a16="http://schemas.microsoft.com/office/drawing/2014/main" id="{539DC3FC-BD3B-4B52-B727-0A03D3C4850F}"/>
              </a:ext>
            </a:extLst>
          </p:cNvPr>
          <p:cNvSpPr/>
          <p:nvPr/>
        </p:nvSpPr>
        <p:spPr>
          <a:xfrm>
            <a:off x="10783862" y="1472507"/>
            <a:ext cx="1364302" cy="90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决定是否执行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E7FED9-6F2B-6C6F-A8C5-631210A98233}"/>
              </a:ext>
            </a:extLst>
          </p:cNvPr>
          <p:cNvSpPr/>
          <p:nvPr/>
        </p:nvSpPr>
        <p:spPr>
          <a:xfrm>
            <a:off x="2357464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0004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2ECC75-72D3-BC7F-3407-E179E704373D}"/>
              </a:ext>
            </a:extLst>
          </p:cNvPr>
          <p:cNvSpPr/>
          <p:nvPr/>
        </p:nvSpPr>
        <p:spPr>
          <a:xfrm>
            <a:off x="4609550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4B01A1-4078-3B85-D889-5314DD550828}"/>
              </a:ext>
            </a:extLst>
          </p:cNvPr>
          <p:cNvSpPr/>
          <p:nvPr/>
        </p:nvSpPr>
        <p:spPr>
          <a:xfrm>
            <a:off x="348174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PS0004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3BAA91-3EBB-926F-E803-3F5B46273184}"/>
              </a:ext>
            </a:extLst>
          </p:cNvPr>
          <p:cNvSpPr/>
          <p:nvPr/>
        </p:nvSpPr>
        <p:spPr>
          <a:xfrm>
            <a:off x="9112034" y="4801900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CFFF5F1-032A-5C2A-8F36-84837ABA1DB0}"/>
              </a:ext>
            </a:extLst>
          </p:cNvPr>
          <p:cNvSpPr/>
          <p:nvPr/>
        </p:nvSpPr>
        <p:spPr>
          <a:xfrm>
            <a:off x="11382851" y="3644357"/>
            <a:ext cx="684000" cy="169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0EBA4C-A87F-02F9-7011-FF12114525A3}"/>
              </a:ext>
            </a:extLst>
          </p:cNvPr>
          <p:cNvSpPr/>
          <p:nvPr/>
        </p:nvSpPr>
        <p:spPr>
          <a:xfrm>
            <a:off x="10229634" y="4801900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2348BC5-3BDA-2114-CE0F-1CBF5347A3CD}"/>
              </a:ext>
            </a:extLst>
          </p:cNvPr>
          <p:cNvSpPr/>
          <p:nvPr/>
        </p:nvSpPr>
        <p:spPr>
          <a:xfrm>
            <a:off x="5733834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创建拣配行项目前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7926D45-623C-6115-CF60-2F77418B040B}"/>
              </a:ext>
            </a:extLst>
          </p:cNvPr>
          <p:cNvSpPr/>
          <p:nvPr/>
        </p:nvSpPr>
        <p:spPr>
          <a:xfrm>
            <a:off x="798239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D09934F-33D8-87A0-F44E-B48AD08DEECA}"/>
              </a:ext>
            </a:extLst>
          </p:cNvPr>
          <p:cNvSpPr/>
          <p:nvPr/>
        </p:nvSpPr>
        <p:spPr>
          <a:xfrm>
            <a:off x="11135501" y="4864729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C70FB00-06B1-EA66-DD5E-EDC7ADF88788}"/>
              </a:ext>
            </a:extLst>
          </p:cNvPr>
          <p:cNvSpPr/>
          <p:nvPr/>
        </p:nvSpPr>
        <p:spPr>
          <a:xfrm>
            <a:off x="685209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2E7EFDE-4C2C-988F-47FB-E2C73570ACFD}"/>
              </a:ext>
            </a:extLst>
          </p:cNvPr>
          <p:cNvSpPr/>
          <p:nvPr/>
        </p:nvSpPr>
        <p:spPr>
          <a:xfrm>
            <a:off x="53927" y="2307956"/>
            <a:ext cx="2299998" cy="1296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F4879A6-FAF1-4EB0-998A-8C29FFBE4C1F}"/>
              </a:ext>
            </a:extLst>
          </p:cNvPr>
          <p:cNvSpPr/>
          <p:nvPr/>
        </p:nvSpPr>
        <p:spPr>
          <a:xfrm>
            <a:off x="9058858" y="4138853"/>
            <a:ext cx="1160001" cy="1218097"/>
          </a:xfrm>
          <a:prstGeom prst="round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400B846-476D-0E56-DD87-CBA42A5ADDB9}"/>
              </a:ext>
            </a:extLst>
          </p:cNvPr>
          <p:cNvSpPr/>
          <p:nvPr/>
        </p:nvSpPr>
        <p:spPr>
          <a:xfrm>
            <a:off x="4575443" y="4153028"/>
            <a:ext cx="1160001" cy="1218097"/>
          </a:xfrm>
          <a:prstGeom prst="round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C221B1BB-4A21-9A92-693B-32B312735129}"/>
              </a:ext>
            </a:extLst>
          </p:cNvPr>
          <p:cNvSpPr/>
          <p:nvPr/>
        </p:nvSpPr>
        <p:spPr>
          <a:xfrm>
            <a:off x="5719881" y="4764553"/>
            <a:ext cx="1116000" cy="61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299276F-5229-BE68-14EC-D682B6FBE05C}"/>
              </a:ext>
            </a:extLst>
          </p:cNvPr>
          <p:cNvSpPr/>
          <p:nvPr/>
        </p:nvSpPr>
        <p:spPr>
          <a:xfrm>
            <a:off x="5699727" y="3543963"/>
            <a:ext cx="1116000" cy="61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标注: 下箭头 80">
            <a:extLst>
              <a:ext uri="{FF2B5EF4-FFF2-40B4-BE49-F238E27FC236}">
                <a16:creationId xmlns:a16="http://schemas.microsoft.com/office/drawing/2014/main" id="{000CEDA9-DAAA-4CC2-3252-C58592A71BAA}"/>
              </a:ext>
            </a:extLst>
          </p:cNvPr>
          <p:cNvSpPr/>
          <p:nvPr/>
        </p:nvSpPr>
        <p:spPr>
          <a:xfrm>
            <a:off x="8894810" y="1433515"/>
            <a:ext cx="1364302" cy="90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决定是否修改</a:t>
            </a:r>
          </a:p>
        </p:txBody>
      </p:sp>
    </p:spTree>
    <p:extLst>
      <p:ext uri="{BB962C8B-B14F-4D97-AF65-F5344CB8AC3E}">
        <p14:creationId xmlns:p14="http://schemas.microsoft.com/office/powerpoint/2010/main" val="934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1" grpId="0" animBg="1"/>
      <p:bldP spid="2" grpId="0" animBg="1"/>
      <p:bldP spid="75" grpId="0" animBg="1"/>
      <p:bldP spid="79" grpId="0" animBg="1"/>
      <p:bldP spid="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6C8C240-0245-4830-1362-CDE3A97BC7E9}"/>
              </a:ext>
            </a:extLst>
          </p:cNvPr>
          <p:cNvSpPr/>
          <p:nvPr/>
        </p:nvSpPr>
        <p:spPr>
          <a:xfrm>
            <a:off x="97864" y="2213794"/>
            <a:ext cx="11880000" cy="30174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177230" y="43610"/>
            <a:ext cx="11465421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界面三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厂内配送作业操作界面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进度查询与操作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180E070-DBFB-4CB8-8037-35B2976CF9F6}"/>
              </a:ext>
            </a:extLst>
          </p:cNvPr>
          <p:cNvSpPr/>
          <p:nvPr/>
        </p:nvSpPr>
        <p:spPr>
          <a:xfrm>
            <a:off x="7344397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收货地点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1BAA34-13D1-438D-B49F-C275914C8EB5}"/>
              </a:ext>
            </a:extLst>
          </p:cNvPr>
          <p:cNvSpPr/>
          <p:nvPr/>
        </p:nvSpPr>
        <p:spPr>
          <a:xfrm>
            <a:off x="113830" y="2035347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0402245-E1F6-49B0-A3F7-3DBE3536626D}"/>
              </a:ext>
            </a:extLst>
          </p:cNvPr>
          <p:cNvSpPr/>
          <p:nvPr/>
        </p:nvSpPr>
        <p:spPr>
          <a:xfrm>
            <a:off x="2799570" y="2721721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发货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7F09322-6EBC-4E71-8B42-E046BDFE29A2}"/>
              </a:ext>
            </a:extLst>
          </p:cNvPr>
          <p:cNvSpPr/>
          <p:nvPr/>
        </p:nvSpPr>
        <p:spPr>
          <a:xfrm>
            <a:off x="5063852" y="3369278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设备工具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3217DBCF-506E-48C6-A9D4-1C3A7EDB5EBA}"/>
              </a:ext>
            </a:extLst>
          </p:cNvPr>
          <p:cNvSpPr/>
          <p:nvPr/>
        </p:nvSpPr>
        <p:spPr>
          <a:xfrm>
            <a:off x="1667880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配送单号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E7436D9F-6CC7-46E0-959E-266CF763148C}"/>
              </a:ext>
            </a:extLst>
          </p:cNvPr>
          <p:cNvSpPr/>
          <p:nvPr/>
        </p:nvSpPr>
        <p:spPr>
          <a:xfrm>
            <a:off x="6215505" y="3369278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E582F96-FF29-483E-A888-F7D73269CB31}"/>
              </a:ext>
            </a:extLst>
          </p:cNvPr>
          <p:cNvSpPr/>
          <p:nvPr/>
        </p:nvSpPr>
        <p:spPr>
          <a:xfrm>
            <a:off x="8473687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配送数量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76D70682-CC70-485C-8D44-42515963283F}"/>
              </a:ext>
            </a:extLst>
          </p:cNvPr>
          <p:cNvSpPr/>
          <p:nvPr/>
        </p:nvSpPr>
        <p:spPr>
          <a:xfrm>
            <a:off x="2799570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料号、批次号</a:t>
            </a:r>
          </a:p>
        </p:txBody>
      </p:sp>
      <p:sp>
        <p:nvSpPr>
          <p:cNvPr id="91" name="左大括号 90">
            <a:extLst>
              <a:ext uri="{FF2B5EF4-FFF2-40B4-BE49-F238E27FC236}">
                <a16:creationId xmlns:a16="http://schemas.microsoft.com/office/drawing/2014/main" id="{E1BB3AA3-06A7-44F1-A8E5-6FED756A94BF}"/>
              </a:ext>
            </a:extLst>
          </p:cNvPr>
          <p:cNvSpPr/>
          <p:nvPr/>
        </p:nvSpPr>
        <p:spPr>
          <a:xfrm rot="5400000">
            <a:off x="2584408" y="1615152"/>
            <a:ext cx="314161" cy="1984620"/>
          </a:xfrm>
          <a:prstGeom prst="leftBrace">
            <a:avLst>
              <a:gd name="adj1" fmla="val 4409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FA8F2AB-A4B6-477F-928C-789AA25EEC33}"/>
              </a:ext>
            </a:extLst>
          </p:cNvPr>
          <p:cNvSpPr/>
          <p:nvPr/>
        </p:nvSpPr>
        <p:spPr>
          <a:xfrm>
            <a:off x="911105" y="4057752"/>
            <a:ext cx="3106776" cy="521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。。。。。。。。。。。。。。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B6DE6BE8-C0BE-4A80-9C61-0BFE030D1DA5}"/>
              </a:ext>
            </a:extLst>
          </p:cNvPr>
          <p:cNvSpPr/>
          <p:nvPr/>
        </p:nvSpPr>
        <p:spPr>
          <a:xfrm>
            <a:off x="137253" y="4022399"/>
            <a:ext cx="540000" cy="54000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±</a:t>
            </a:r>
            <a:endParaRPr lang="zh-CN" altLang="en-US" sz="3600" dirty="0"/>
          </a:p>
        </p:txBody>
      </p:sp>
      <p:sp>
        <p:nvSpPr>
          <p:cNvPr id="60" name="标注: 下箭头 59">
            <a:extLst>
              <a:ext uri="{FF2B5EF4-FFF2-40B4-BE49-F238E27FC236}">
                <a16:creationId xmlns:a16="http://schemas.microsoft.com/office/drawing/2014/main" id="{0D3B1294-0274-4CAA-BE4E-0C22EDFE2361}"/>
              </a:ext>
            </a:extLst>
          </p:cNvPr>
          <p:cNvSpPr/>
          <p:nvPr/>
        </p:nvSpPr>
        <p:spPr>
          <a:xfrm>
            <a:off x="5029200" y="2219628"/>
            <a:ext cx="1080000" cy="1080000"/>
          </a:xfrm>
          <a:prstGeom prst="down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选择设备机具</a:t>
            </a:r>
          </a:p>
        </p:txBody>
      </p:sp>
      <p:sp>
        <p:nvSpPr>
          <p:cNvPr id="61" name="标注: 下箭头 60">
            <a:extLst>
              <a:ext uri="{FF2B5EF4-FFF2-40B4-BE49-F238E27FC236}">
                <a16:creationId xmlns:a16="http://schemas.microsoft.com/office/drawing/2014/main" id="{11EF7E45-0550-45AD-91FD-4BAD1DD8BBEA}"/>
              </a:ext>
            </a:extLst>
          </p:cNvPr>
          <p:cNvSpPr/>
          <p:nvPr/>
        </p:nvSpPr>
        <p:spPr>
          <a:xfrm>
            <a:off x="6182994" y="2219628"/>
            <a:ext cx="1080000" cy="1080000"/>
          </a:xfrm>
          <a:prstGeom prst="down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一天分三班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A37AACA1-F24A-40A7-9A92-EA60590E058C}"/>
              </a:ext>
            </a:extLst>
          </p:cNvPr>
          <p:cNvSpPr/>
          <p:nvPr/>
        </p:nvSpPr>
        <p:spPr>
          <a:xfrm>
            <a:off x="1453312" y="2213794"/>
            <a:ext cx="2490037" cy="2713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显示字段各厂讨论订之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86547D5-1BBE-4E9C-88ED-C17C2DAB349A}"/>
              </a:ext>
            </a:extLst>
          </p:cNvPr>
          <p:cNvSpPr/>
          <p:nvPr/>
        </p:nvSpPr>
        <p:spPr>
          <a:xfrm>
            <a:off x="559395" y="4352873"/>
            <a:ext cx="2350202" cy="4316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取消选定之仓储任务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7E3647DD-D8C6-4000-BD52-B28D80A6E272}"/>
              </a:ext>
            </a:extLst>
          </p:cNvPr>
          <p:cNvSpPr/>
          <p:nvPr/>
        </p:nvSpPr>
        <p:spPr>
          <a:xfrm>
            <a:off x="5082460" y="4089691"/>
            <a:ext cx="1116000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平叉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C8F36B93-310C-4FAA-9D90-08D690D3C11D}"/>
              </a:ext>
            </a:extLst>
          </p:cNvPr>
          <p:cNvSpPr/>
          <p:nvPr/>
        </p:nvSpPr>
        <p:spPr>
          <a:xfrm>
            <a:off x="6235777" y="4089691"/>
            <a:ext cx="1099191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中班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733BD19-6D2C-4A15-9FB2-C7E1504F46EB}"/>
              </a:ext>
            </a:extLst>
          </p:cNvPr>
          <p:cNvSpPr/>
          <p:nvPr/>
        </p:nvSpPr>
        <p:spPr>
          <a:xfrm>
            <a:off x="8508097" y="4089691"/>
            <a:ext cx="1099191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5228611-2E84-4A84-B886-D419E91A6799}"/>
              </a:ext>
            </a:extLst>
          </p:cNvPr>
          <p:cNvSpPr/>
          <p:nvPr/>
        </p:nvSpPr>
        <p:spPr>
          <a:xfrm>
            <a:off x="7259101" y="4001555"/>
            <a:ext cx="1209407" cy="6750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号纸机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号卸货点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208013-2E41-4383-AA71-1361E98B3F48}"/>
              </a:ext>
            </a:extLst>
          </p:cNvPr>
          <p:cNvSpPr/>
          <p:nvPr/>
        </p:nvSpPr>
        <p:spPr>
          <a:xfrm>
            <a:off x="206037" y="3522324"/>
            <a:ext cx="250143" cy="29771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3C21AB6-4202-2B15-665D-CED96679A55F}"/>
              </a:ext>
            </a:extLst>
          </p:cNvPr>
          <p:cNvSpPr/>
          <p:nvPr/>
        </p:nvSpPr>
        <p:spPr>
          <a:xfrm>
            <a:off x="531345" y="3369278"/>
            <a:ext cx="1080000" cy="5760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任务号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539CAC9-0FDD-657E-710B-0DAE3EFDE706}"/>
              </a:ext>
            </a:extLst>
          </p:cNvPr>
          <p:cNvSpPr/>
          <p:nvPr/>
        </p:nvSpPr>
        <p:spPr>
          <a:xfrm>
            <a:off x="1499902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A7C7A7-8D4A-5BD8-3DFE-4FBBFC38969A}"/>
              </a:ext>
            </a:extLst>
          </p:cNvPr>
          <p:cNvSpPr/>
          <p:nvPr/>
        </p:nvSpPr>
        <p:spPr>
          <a:xfrm>
            <a:off x="2813323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BFE8D14-F785-2566-0457-217BBCB4235A}"/>
              </a:ext>
            </a:extLst>
          </p:cNvPr>
          <p:cNvSpPr/>
          <p:nvPr/>
        </p:nvSpPr>
        <p:spPr>
          <a:xfrm>
            <a:off x="5307839" y="893325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B3FC4C7-20FE-2C17-1800-165AF11E310F}"/>
              </a:ext>
            </a:extLst>
          </p:cNvPr>
          <p:cNvSpPr/>
          <p:nvPr/>
        </p:nvSpPr>
        <p:spPr>
          <a:xfrm>
            <a:off x="4111381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7FFF75-7BCC-7856-27CB-6FE83F4CB1A3}"/>
              </a:ext>
            </a:extLst>
          </p:cNvPr>
          <p:cNvSpPr/>
          <p:nvPr/>
        </p:nvSpPr>
        <p:spPr>
          <a:xfrm>
            <a:off x="5313182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500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91A9564-ACBB-766D-ADFA-7001659F9114}"/>
              </a:ext>
            </a:extLst>
          </p:cNvPr>
          <p:cNvSpPr/>
          <p:nvPr/>
        </p:nvSpPr>
        <p:spPr>
          <a:xfrm>
            <a:off x="6504297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已交数量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2DFEA7-7B73-FA95-8BD5-CC6F172BF5F5}"/>
              </a:ext>
            </a:extLst>
          </p:cNvPr>
          <p:cNvSpPr/>
          <p:nvPr/>
        </p:nvSpPr>
        <p:spPr>
          <a:xfrm>
            <a:off x="6574921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8226A20-D7E6-8D79-56AE-E5E76B38023C}"/>
              </a:ext>
            </a:extLst>
          </p:cNvPr>
          <p:cNvSpPr/>
          <p:nvPr/>
        </p:nvSpPr>
        <p:spPr>
          <a:xfrm>
            <a:off x="7700755" y="893325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已安排配送总量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DFF5595-D0E8-6A23-884C-CF212CB2171B}"/>
              </a:ext>
            </a:extLst>
          </p:cNvPr>
          <p:cNvSpPr/>
          <p:nvPr/>
        </p:nvSpPr>
        <p:spPr>
          <a:xfrm>
            <a:off x="7766036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120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流程图: 合并 18">
            <a:extLst>
              <a:ext uri="{FF2B5EF4-FFF2-40B4-BE49-F238E27FC236}">
                <a16:creationId xmlns:a16="http://schemas.microsoft.com/office/drawing/2014/main" id="{440202F4-96B2-595A-BE2E-207D3164B1FE}"/>
              </a:ext>
            </a:extLst>
          </p:cNvPr>
          <p:cNvSpPr/>
          <p:nvPr/>
        </p:nvSpPr>
        <p:spPr>
          <a:xfrm>
            <a:off x="1506747" y="1550393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7C12C75-BED2-1E97-E378-6F4AFCD3ACED}"/>
              </a:ext>
            </a:extLst>
          </p:cNvPr>
          <p:cNvSpPr/>
          <p:nvPr/>
        </p:nvSpPr>
        <p:spPr>
          <a:xfrm>
            <a:off x="8845170" y="893325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尚需安排任务需求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5F16210-0E21-C291-3DA9-C31A473EA8DE}"/>
              </a:ext>
            </a:extLst>
          </p:cNvPr>
          <p:cNvSpPr/>
          <p:nvPr/>
        </p:nvSpPr>
        <p:spPr>
          <a:xfrm>
            <a:off x="8910451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流程图: 合并 25">
            <a:extLst>
              <a:ext uri="{FF2B5EF4-FFF2-40B4-BE49-F238E27FC236}">
                <a16:creationId xmlns:a16="http://schemas.microsoft.com/office/drawing/2014/main" id="{3037BBF8-A11C-AF58-CA7D-70118B0AA36F}"/>
              </a:ext>
            </a:extLst>
          </p:cNvPr>
          <p:cNvSpPr/>
          <p:nvPr/>
        </p:nvSpPr>
        <p:spPr>
          <a:xfrm>
            <a:off x="2853285" y="1550393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C04C048-4366-7175-34C8-5C8872C45CA2}"/>
              </a:ext>
            </a:extLst>
          </p:cNvPr>
          <p:cNvSpPr/>
          <p:nvPr/>
        </p:nvSpPr>
        <p:spPr>
          <a:xfrm>
            <a:off x="137404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30" name="流程图: 合并 29">
            <a:extLst>
              <a:ext uri="{FF2B5EF4-FFF2-40B4-BE49-F238E27FC236}">
                <a16:creationId xmlns:a16="http://schemas.microsoft.com/office/drawing/2014/main" id="{9FCF1D13-2432-123A-1002-6FBA8A5A647E}"/>
              </a:ext>
            </a:extLst>
          </p:cNvPr>
          <p:cNvSpPr/>
          <p:nvPr/>
        </p:nvSpPr>
        <p:spPr>
          <a:xfrm>
            <a:off x="221325" y="1550393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C515739-5AD9-B8BF-4C00-C07FC904583F}"/>
              </a:ext>
            </a:extLst>
          </p:cNvPr>
          <p:cNvSpPr/>
          <p:nvPr/>
        </p:nvSpPr>
        <p:spPr>
          <a:xfrm>
            <a:off x="1667334" y="2721721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关联单据编号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33879AF-4917-A704-D47F-79DD8623717F}"/>
              </a:ext>
            </a:extLst>
          </p:cNvPr>
          <p:cNvSpPr/>
          <p:nvPr/>
        </p:nvSpPr>
        <p:spPr>
          <a:xfrm>
            <a:off x="10759427" y="3369278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任务状态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576E07C-4354-02FB-91C2-D67A750F0F49}"/>
              </a:ext>
            </a:extLst>
          </p:cNvPr>
          <p:cNvSpPr/>
          <p:nvPr/>
        </p:nvSpPr>
        <p:spPr>
          <a:xfrm>
            <a:off x="10793039" y="4057880"/>
            <a:ext cx="1099191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作业中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38A03E2-EFA3-2F87-88F1-09A6837E846A}"/>
              </a:ext>
            </a:extLst>
          </p:cNvPr>
          <p:cNvSpPr/>
          <p:nvPr/>
        </p:nvSpPr>
        <p:spPr>
          <a:xfrm>
            <a:off x="509345" y="5352462"/>
            <a:ext cx="10331146" cy="13334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仅可对任务状态为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“进厂前、创建拣配行项目前”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进行取消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取消任务后，可从第一阶段重新创建配送需求，另也可从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直接创建 拣配行项目对应配送单。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如要变更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叉车司机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设备工具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，可在此直接修改变更。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3F072B3-44CD-1117-091C-AE85B93D8A2F}"/>
              </a:ext>
            </a:extLst>
          </p:cNvPr>
          <p:cNvSpPr/>
          <p:nvPr/>
        </p:nvSpPr>
        <p:spPr>
          <a:xfrm>
            <a:off x="3946252" y="3369278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叉车司机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</a:p>
        </p:txBody>
      </p:sp>
      <p:sp>
        <p:nvSpPr>
          <p:cNvPr id="40" name="标注: 下箭头 39">
            <a:extLst>
              <a:ext uri="{FF2B5EF4-FFF2-40B4-BE49-F238E27FC236}">
                <a16:creationId xmlns:a16="http://schemas.microsoft.com/office/drawing/2014/main" id="{5199FED4-5BF3-2CF8-04FA-367B18834A2A}"/>
              </a:ext>
            </a:extLst>
          </p:cNvPr>
          <p:cNvSpPr/>
          <p:nvPr/>
        </p:nvSpPr>
        <p:spPr>
          <a:xfrm>
            <a:off x="3911600" y="2219628"/>
            <a:ext cx="1080000" cy="1080000"/>
          </a:xfrm>
          <a:prstGeom prst="down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选择设备机具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D8DB952-6EEF-2DAC-4CA7-B8C933DBAAD6}"/>
              </a:ext>
            </a:extLst>
          </p:cNvPr>
          <p:cNvSpPr/>
          <p:nvPr/>
        </p:nvSpPr>
        <p:spPr>
          <a:xfrm>
            <a:off x="3926760" y="4089691"/>
            <a:ext cx="1152000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平叉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B954F70-6FD2-0F26-D33F-0330DF208202}"/>
              </a:ext>
            </a:extLst>
          </p:cNvPr>
          <p:cNvSpPr/>
          <p:nvPr/>
        </p:nvSpPr>
        <p:spPr>
          <a:xfrm>
            <a:off x="9617697" y="3369278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预计完成时间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3DD4F08-F659-632C-1B90-6BEB9D906682}"/>
              </a:ext>
            </a:extLst>
          </p:cNvPr>
          <p:cNvSpPr/>
          <p:nvPr/>
        </p:nvSpPr>
        <p:spPr>
          <a:xfrm>
            <a:off x="9612492" y="2721721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预计开始时间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EE5915-4A45-5876-0973-0858FEFD4101}"/>
              </a:ext>
            </a:extLst>
          </p:cNvPr>
          <p:cNvSpPr/>
          <p:nvPr/>
        </p:nvSpPr>
        <p:spPr>
          <a:xfrm>
            <a:off x="10692492" y="3221665"/>
            <a:ext cx="1209407" cy="1281203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3FCAC31-2A80-0713-9FDC-8AA8DAB08C89}"/>
              </a:ext>
            </a:extLst>
          </p:cNvPr>
          <p:cNvSpPr/>
          <p:nvPr/>
        </p:nvSpPr>
        <p:spPr>
          <a:xfrm>
            <a:off x="3912389" y="4061271"/>
            <a:ext cx="1080000" cy="54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D3B9260-E744-1021-A165-4B3A7FD28C6C}"/>
              </a:ext>
            </a:extLst>
          </p:cNvPr>
          <p:cNvSpPr/>
          <p:nvPr/>
        </p:nvSpPr>
        <p:spPr>
          <a:xfrm>
            <a:off x="5063852" y="4039695"/>
            <a:ext cx="1080000" cy="54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DB98C51-8B95-3E70-4FAB-3E7BD29B776D}"/>
              </a:ext>
            </a:extLst>
          </p:cNvPr>
          <p:cNvSpPr/>
          <p:nvPr/>
        </p:nvSpPr>
        <p:spPr>
          <a:xfrm>
            <a:off x="6215505" y="4057752"/>
            <a:ext cx="1080000" cy="54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42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7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4EFB-2CBE-AF96-D2D4-B09C6014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CAB805A-B920-CDCB-43BC-41316814A366}"/>
              </a:ext>
            </a:extLst>
          </p:cNvPr>
          <p:cNvSpPr/>
          <p:nvPr/>
        </p:nvSpPr>
        <p:spPr>
          <a:xfrm>
            <a:off x="946993" y="619638"/>
            <a:ext cx="576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二、决定配送货源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5C9A21E-B0D3-CC32-3DBE-14D9A4A75474}"/>
              </a:ext>
            </a:extLst>
          </p:cNvPr>
          <p:cNvSpPr/>
          <p:nvPr/>
        </p:nvSpPr>
        <p:spPr>
          <a:xfrm>
            <a:off x="1931282" y="1339638"/>
            <a:ext cx="9511417" cy="2991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总成本最低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仓储作业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断料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码头延滞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符合指定条件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批次号、小料号、特性值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数量平衡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247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E14A-B78B-8E2F-9257-8F9888DFD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DFD4CBE8-5B64-FBE5-3AAE-6510265E9898}"/>
              </a:ext>
            </a:extLst>
          </p:cNvPr>
          <p:cNvSpPr/>
          <p:nvPr/>
        </p:nvSpPr>
        <p:spPr>
          <a:xfrm>
            <a:off x="211631" y="703381"/>
            <a:ext cx="3257091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     场     部     门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FFE1A58-96CC-D04D-D8D8-09741CD0634C}"/>
              </a:ext>
            </a:extLst>
          </p:cNvPr>
          <p:cNvSpPr/>
          <p:nvPr/>
        </p:nvSpPr>
        <p:spPr>
          <a:xfrm>
            <a:off x="52862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4AD73ADB-8E25-6DAC-686D-991E630A1475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角矩形 139">
            <a:extLst>
              <a:ext uri="{FF2B5EF4-FFF2-40B4-BE49-F238E27FC236}">
                <a16:creationId xmlns:a16="http://schemas.microsoft.com/office/drawing/2014/main" id="{29D1C370-338B-5351-A3E7-7B5DA6FFC444}"/>
              </a:ext>
            </a:extLst>
          </p:cNvPr>
          <p:cNvSpPr/>
          <p:nvPr/>
        </p:nvSpPr>
        <p:spPr>
          <a:xfrm>
            <a:off x="178431" y="178831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36" name="圆角矩形 139">
            <a:extLst>
              <a:ext uri="{FF2B5EF4-FFF2-40B4-BE49-F238E27FC236}">
                <a16:creationId xmlns:a16="http://schemas.microsoft.com/office/drawing/2014/main" id="{9F5223E4-9F8D-5F1B-9432-707F95D0C157}"/>
              </a:ext>
            </a:extLst>
          </p:cNvPr>
          <p:cNvSpPr/>
          <p:nvPr/>
        </p:nvSpPr>
        <p:spPr>
          <a:xfrm>
            <a:off x="319364" y="221808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DA578C40-CA66-2950-4189-1D50F690C260}"/>
              </a:ext>
            </a:extLst>
          </p:cNvPr>
          <p:cNvSpPr/>
          <p:nvPr/>
        </p:nvSpPr>
        <p:spPr>
          <a:xfrm>
            <a:off x="7197604" y="1734996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8EF7060-F04D-9A04-7057-2A95342F639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007249" y="2076312"/>
            <a:ext cx="4190355" cy="186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643EF637-2F29-1D22-AAA2-432948839F3D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4901194" y="4675860"/>
            <a:ext cx="2296410" cy="814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88679C8C-6E1C-2B87-7D21-D886A1229D15}"/>
              </a:ext>
            </a:extLst>
          </p:cNvPr>
          <p:cNvSpPr/>
          <p:nvPr/>
        </p:nvSpPr>
        <p:spPr>
          <a:xfrm>
            <a:off x="7197604" y="3534200"/>
            <a:ext cx="1440000" cy="720000"/>
          </a:xfrm>
          <a:prstGeom prst="flowChartDocumen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可用库存</a:t>
            </a:r>
          </a:p>
        </p:txBody>
      </p:sp>
      <p:sp>
        <p:nvSpPr>
          <p:cNvPr id="12" name="流程图: 文档 11">
            <a:extLst>
              <a:ext uri="{FF2B5EF4-FFF2-40B4-BE49-F238E27FC236}">
                <a16:creationId xmlns:a16="http://schemas.microsoft.com/office/drawing/2014/main" id="{8DB3B37D-D8E7-3DE5-9BF7-E73AEEDB7C00}"/>
              </a:ext>
            </a:extLst>
          </p:cNvPr>
          <p:cNvSpPr/>
          <p:nvPr/>
        </p:nvSpPr>
        <p:spPr>
          <a:xfrm>
            <a:off x="7197604" y="2626125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220D10-E90F-0F6C-B664-DC23286D048C}"/>
              </a:ext>
            </a:extLst>
          </p:cNvPr>
          <p:cNvSpPr/>
          <p:nvPr/>
        </p:nvSpPr>
        <p:spPr>
          <a:xfrm>
            <a:off x="3392523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物流部门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ATMS/QM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流程图: 文档 13">
            <a:extLst>
              <a:ext uri="{FF2B5EF4-FFF2-40B4-BE49-F238E27FC236}">
                <a16:creationId xmlns:a16="http://schemas.microsoft.com/office/drawing/2014/main" id="{63ACEDB8-85E8-57AE-9436-688C484A3724}"/>
              </a:ext>
            </a:extLst>
          </p:cNvPr>
          <p:cNvSpPr/>
          <p:nvPr/>
        </p:nvSpPr>
        <p:spPr>
          <a:xfrm>
            <a:off x="7197604" y="432400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码头延滞成本</a:t>
            </a:r>
          </a:p>
        </p:txBody>
      </p:sp>
      <p:sp>
        <p:nvSpPr>
          <p:cNvPr id="16" name="圆角矩形 139">
            <a:extLst>
              <a:ext uri="{FF2B5EF4-FFF2-40B4-BE49-F238E27FC236}">
                <a16:creationId xmlns:a16="http://schemas.microsoft.com/office/drawing/2014/main" id="{007D9A57-2862-DA24-3AB1-6FE931915350}"/>
              </a:ext>
            </a:extLst>
          </p:cNvPr>
          <p:cNvSpPr/>
          <p:nvPr/>
        </p:nvSpPr>
        <p:spPr>
          <a:xfrm>
            <a:off x="5307781" y="219839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紧急叫料信息维护</a:t>
            </a:r>
          </a:p>
        </p:txBody>
      </p:sp>
      <p:sp>
        <p:nvSpPr>
          <p:cNvPr id="17" name="圆角矩形 139">
            <a:extLst>
              <a:ext uri="{FF2B5EF4-FFF2-40B4-BE49-F238E27FC236}">
                <a16:creationId xmlns:a16="http://schemas.microsoft.com/office/drawing/2014/main" id="{71714163-5B25-F7D1-F006-B4835EBF0C13}"/>
              </a:ext>
            </a:extLst>
          </p:cNvPr>
          <p:cNvSpPr/>
          <p:nvPr/>
        </p:nvSpPr>
        <p:spPr>
          <a:xfrm>
            <a:off x="3461194" y="2663590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</a:t>
            </a: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7F8A0798-7F1A-A098-883C-F0FABFDC2935}"/>
              </a:ext>
            </a:extLst>
          </p:cNvPr>
          <p:cNvCxnSpPr>
            <a:cxnSpLocks/>
            <a:stCxn id="16" idx="3"/>
            <a:endCxn id="12" idx="1"/>
          </p:cNvCxnSpPr>
          <p:nvPr/>
        </p:nvCxnSpPr>
        <p:spPr>
          <a:xfrm>
            <a:off x="6603781" y="2486392"/>
            <a:ext cx="593823" cy="4997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077E14C5-52A4-7B9C-93AF-1C9BB344E64E}"/>
              </a:ext>
            </a:extLst>
          </p:cNvPr>
          <p:cNvSpPr/>
          <p:nvPr/>
        </p:nvSpPr>
        <p:spPr>
          <a:xfrm>
            <a:off x="7185321" y="512938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仓储成本</a:t>
            </a: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id="{6430A5B3-84BE-DA02-00E8-34ACE8AD43BD}"/>
              </a:ext>
            </a:extLst>
          </p:cNvPr>
          <p:cNvSpPr/>
          <p:nvPr/>
        </p:nvSpPr>
        <p:spPr>
          <a:xfrm>
            <a:off x="7197604" y="5950111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领料部门断料成本</a:t>
            </a:r>
          </a:p>
        </p:txBody>
      </p:sp>
      <p:sp>
        <p:nvSpPr>
          <p:cNvPr id="31" name="圆角矩形 139">
            <a:extLst>
              <a:ext uri="{FF2B5EF4-FFF2-40B4-BE49-F238E27FC236}">
                <a16:creationId xmlns:a16="http://schemas.microsoft.com/office/drawing/2014/main" id="{21A389C9-0F1E-FCDF-0D60-628B71438A19}"/>
              </a:ext>
            </a:extLst>
          </p:cNvPr>
          <p:cNvSpPr/>
          <p:nvPr/>
        </p:nvSpPr>
        <p:spPr>
          <a:xfrm>
            <a:off x="1901749" y="178831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配送需求输入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DEA568F-69A6-EEA7-4F60-B3326A2897BB}"/>
              </a:ext>
            </a:extLst>
          </p:cNvPr>
          <p:cNvCxnSpPr>
            <a:cxnSpLocks/>
            <a:stCxn id="71" idx="3"/>
            <a:endCxn id="31" idx="1"/>
          </p:cNvCxnSpPr>
          <p:nvPr/>
        </p:nvCxnSpPr>
        <p:spPr>
          <a:xfrm>
            <a:off x="1474431" y="2076312"/>
            <a:ext cx="42731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96780D6-6D13-C076-8AE2-A88506B0AFB3}"/>
              </a:ext>
            </a:extLst>
          </p:cNvPr>
          <p:cNvCxnSpPr>
            <a:cxnSpLocks/>
          </p:cNvCxnSpPr>
          <p:nvPr/>
        </p:nvCxnSpPr>
        <p:spPr>
          <a:xfrm flipH="1">
            <a:off x="3324750" y="710481"/>
            <a:ext cx="36024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81016A8-6A1E-1A5D-3428-4E2866A093C5}"/>
              </a:ext>
            </a:extLst>
          </p:cNvPr>
          <p:cNvCxnSpPr>
            <a:cxnSpLocks/>
          </p:cNvCxnSpPr>
          <p:nvPr/>
        </p:nvCxnSpPr>
        <p:spPr>
          <a:xfrm flipH="1">
            <a:off x="52047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F9CE9596-AFD1-C563-48EA-20133FD21F3F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901194" y="3894200"/>
            <a:ext cx="2296410" cy="781660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73643235-B9A4-CC71-2D1F-100C3FDD041F}"/>
              </a:ext>
            </a:extLst>
          </p:cNvPr>
          <p:cNvSpPr/>
          <p:nvPr/>
        </p:nvSpPr>
        <p:spPr>
          <a:xfrm>
            <a:off x="5064592" y="4425570"/>
            <a:ext cx="101988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免堆讯息</a:t>
            </a:r>
          </a:p>
        </p:txBody>
      </p:sp>
      <p:sp>
        <p:nvSpPr>
          <p:cNvPr id="59" name="圆角矩形 139">
            <a:extLst>
              <a:ext uri="{FF2B5EF4-FFF2-40B4-BE49-F238E27FC236}">
                <a16:creationId xmlns:a16="http://schemas.microsoft.com/office/drawing/2014/main" id="{90512112-E80B-DD27-E5C9-05FCA098ED11}"/>
              </a:ext>
            </a:extLst>
          </p:cNvPr>
          <p:cNvSpPr/>
          <p:nvPr/>
        </p:nvSpPr>
        <p:spPr>
          <a:xfrm>
            <a:off x="1901749" y="6009111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领料部门断料成本维护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1231432-F429-F5C2-50D8-4604815EC70C}"/>
              </a:ext>
            </a:extLst>
          </p:cNvPr>
          <p:cNvCxnSpPr>
            <a:cxnSpLocks/>
            <a:stCxn id="59" idx="3"/>
            <a:endCxn id="25" idx="1"/>
          </p:cNvCxnSpPr>
          <p:nvPr/>
        </p:nvCxnSpPr>
        <p:spPr>
          <a:xfrm>
            <a:off x="3197749" y="6297111"/>
            <a:ext cx="3999855" cy="13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DA4A0DD8-D2D1-20D8-3ED4-A2A6DF9F2B27}"/>
              </a:ext>
            </a:extLst>
          </p:cNvPr>
          <p:cNvCxnSpPr>
            <a:cxnSpLocks/>
            <a:stCxn id="36" idx="2"/>
            <a:endCxn id="59" idx="1"/>
          </p:cNvCxnSpPr>
          <p:nvPr/>
        </p:nvCxnSpPr>
        <p:spPr>
          <a:xfrm rot="16200000" flipH="1">
            <a:off x="-316959" y="4078402"/>
            <a:ext cx="3503031" cy="93438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圆角矩形 139">
            <a:extLst>
              <a:ext uri="{FF2B5EF4-FFF2-40B4-BE49-F238E27FC236}">
                <a16:creationId xmlns:a16="http://schemas.microsoft.com/office/drawing/2014/main" id="{DF501260-808B-D13F-5805-ADE386F94108}"/>
              </a:ext>
            </a:extLst>
          </p:cNvPr>
          <p:cNvSpPr/>
          <p:nvPr/>
        </p:nvSpPr>
        <p:spPr>
          <a:xfrm>
            <a:off x="5307781" y="5201384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仓储成本维护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3A84147F-7511-E23A-3C79-B9CDE77654FE}"/>
              </a:ext>
            </a:extLst>
          </p:cNvPr>
          <p:cNvCxnSpPr>
            <a:cxnSpLocks/>
            <a:stCxn id="72" idx="3"/>
            <a:endCxn id="24" idx="1"/>
          </p:cNvCxnSpPr>
          <p:nvPr/>
        </p:nvCxnSpPr>
        <p:spPr>
          <a:xfrm>
            <a:off x="6603781" y="5489384"/>
            <a:ext cx="58154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C584700D-AE0D-3EC3-2F4A-B2D9280088FE}"/>
              </a:ext>
            </a:extLst>
          </p:cNvPr>
          <p:cNvCxnSpPr>
            <a:cxnSpLocks/>
          </p:cNvCxnSpPr>
          <p:nvPr/>
        </p:nvCxnSpPr>
        <p:spPr>
          <a:xfrm>
            <a:off x="4757194" y="2963164"/>
            <a:ext cx="2440410" cy="3453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263CCE68-389E-32D2-85B5-72C539BD9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第一阶段决定配送货源</a:t>
            </a:r>
          </a:p>
        </p:txBody>
      </p:sp>
      <p:sp>
        <p:nvSpPr>
          <p:cNvPr id="83" name="流程图: 直接访问存储器 82">
            <a:extLst>
              <a:ext uri="{FF2B5EF4-FFF2-40B4-BE49-F238E27FC236}">
                <a16:creationId xmlns:a16="http://schemas.microsoft.com/office/drawing/2014/main" id="{A8196C50-68D0-9F7C-4EC8-E80EE851A7D1}"/>
              </a:ext>
            </a:extLst>
          </p:cNvPr>
          <p:cNvSpPr/>
          <p:nvPr/>
        </p:nvSpPr>
        <p:spPr>
          <a:xfrm>
            <a:off x="9372600" y="3257525"/>
            <a:ext cx="1092200" cy="1609051"/>
          </a:xfrm>
          <a:prstGeom prst="flowChartMagneticDrum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货源分配</a:t>
            </a: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E786C6C9-F230-F958-0B72-283AE72FC1E9}"/>
              </a:ext>
            </a:extLst>
          </p:cNvPr>
          <p:cNvCxnSpPr>
            <a:cxnSpLocks/>
            <a:stCxn id="12" idx="3"/>
            <a:endCxn id="83" idx="1"/>
          </p:cNvCxnSpPr>
          <p:nvPr/>
        </p:nvCxnSpPr>
        <p:spPr>
          <a:xfrm>
            <a:off x="8637604" y="2986125"/>
            <a:ext cx="734996" cy="107592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0F649DC0-C463-C536-65AC-363CA0261930}"/>
              </a:ext>
            </a:extLst>
          </p:cNvPr>
          <p:cNvCxnSpPr>
            <a:cxnSpLocks/>
            <a:stCxn id="24" idx="3"/>
            <a:endCxn id="83" idx="1"/>
          </p:cNvCxnSpPr>
          <p:nvPr/>
        </p:nvCxnSpPr>
        <p:spPr>
          <a:xfrm flipV="1">
            <a:off x="8625321" y="4062051"/>
            <a:ext cx="747279" cy="14273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FADA9B38-9BCD-F49B-26A9-233740563ED2}"/>
              </a:ext>
            </a:extLst>
          </p:cNvPr>
          <p:cNvCxnSpPr>
            <a:cxnSpLocks/>
            <a:stCxn id="14" idx="3"/>
            <a:endCxn id="83" idx="1"/>
          </p:cNvCxnSpPr>
          <p:nvPr/>
        </p:nvCxnSpPr>
        <p:spPr>
          <a:xfrm flipV="1">
            <a:off x="8637604" y="4062051"/>
            <a:ext cx="734996" cy="621953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391F7ECD-5F74-EE83-76C8-13633F1820D6}"/>
              </a:ext>
            </a:extLst>
          </p:cNvPr>
          <p:cNvCxnSpPr>
            <a:cxnSpLocks/>
            <a:stCxn id="11" idx="3"/>
            <a:endCxn id="83" idx="1"/>
          </p:cNvCxnSpPr>
          <p:nvPr/>
        </p:nvCxnSpPr>
        <p:spPr>
          <a:xfrm>
            <a:off x="8637604" y="3894200"/>
            <a:ext cx="734996" cy="16785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532C86BE-9968-0DEF-ACA4-58E5A5A09A9B}"/>
              </a:ext>
            </a:extLst>
          </p:cNvPr>
          <p:cNvCxnSpPr>
            <a:cxnSpLocks/>
            <a:stCxn id="5" idx="3"/>
            <a:endCxn id="83" idx="1"/>
          </p:cNvCxnSpPr>
          <p:nvPr/>
        </p:nvCxnSpPr>
        <p:spPr>
          <a:xfrm>
            <a:off x="8637604" y="2094996"/>
            <a:ext cx="734996" cy="1967055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A7D537BD-10CA-243C-198B-DFF63D304A16}"/>
              </a:ext>
            </a:extLst>
          </p:cNvPr>
          <p:cNvCxnSpPr>
            <a:cxnSpLocks/>
            <a:stCxn id="25" idx="3"/>
            <a:endCxn id="83" idx="1"/>
          </p:cNvCxnSpPr>
          <p:nvPr/>
        </p:nvCxnSpPr>
        <p:spPr>
          <a:xfrm flipV="1">
            <a:off x="8637604" y="4062051"/>
            <a:ext cx="734996" cy="22480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流程图: 文档 101">
            <a:extLst>
              <a:ext uri="{FF2B5EF4-FFF2-40B4-BE49-F238E27FC236}">
                <a16:creationId xmlns:a16="http://schemas.microsoft.com/office/drawing/2014/main" id="{054D04C3-AB2A-0E33-C38A-29576E2B8884}"/>
              </a:ext>
            </a:extLst>
          </p:cNvPr>
          <p:cNvSpPr/>
          <p:nvPr/>
        </p:nvSpPr>
        <p:spPr>
          <a:xfrm>
            <a:off x="10716350" y="3701756"/>
            <a:ext cx="1440000" cy="720000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A7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8166BB77-2C6A-A18B-EC7D-21F917A8F172}"/>
              </a:ext>
            </a:extLst>
          </p:cNvPr>
          <p:cNvCxnSpPr>
            <a:cxnSpLocks/>
            <a:stCxn id="83" idx="4"/>
            <a:endCxn id="102" idx="1"/>
          </p:cNvCxnSpPr>
          <p:nvPr/>
        </p:nvCxnSpPr>
        <p:spPr>
          <a:xfrm flipV="1">
            <a:off x="10464800" y="4061756"/>
            <a:ext cx="251550" cy="2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6861CED4-C4C7-019F-4B3A-3D5BC2E5A9C9}"/>
              </a:ext>
            </a:extLst>
          </p:cNvPr>
          <p:cNvSpPr/>
          <p:nvPr/>
        </p:nvSpPr>
        <p:spPr>
          <a:xfrm>
            <a:off x="3461194" y="334797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A01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物料检验标准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3EE175-6B07-48C1-FB4A-0F856EB099D0}"/>
              </a:ext>
            </a:extLst>
          </p:cNvPr>
          <p:cNvSpPr/>
          <p:nvPr/>
        </p:nvSpPr>
        <p:spPr>
          <a:xfrm>
            <a:off x="4772812" y="3474789"/>
            <a:ext cx="101988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检验讯息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7865378-DF49-3535-B0BD-7490B6DB601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901194" y="3239590"/>
            <a:ext cx="2303999" cy="46838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D49461D-B4F8-6612-130D-42BD52CC525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901194" y="3707973"/>
            <a:ext cx="229641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流程图: 文档 1">
            <a:extLst>
              <a:ext uri="{FF2B5EF4-FFF2-40B4-BE49-F238E27FC236}">
                <a16:creationId xmlns:a16="http://schemas.microsoft.com/office/drawing/2014/main" id="{437E5A2E-0367-98C6-4E59-5175D05B0D93}"/>
              </a:ext>
            </a:extLst>
          </p:cNvPr>
          <p:cNvSpPr/>
          <p:nvPr/>
        </p:nvSpPr>
        <p:spPr>
          <a:xfrm>
            <a:off x="3461194" y="431586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A02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码头收货免堆</a:t>
            </a:r>
          </a:p>
        </p:txBody>
      </p:sp>
    </p:spTree>
    <p:extLst>
      <p:ext uri="{BB962C8B-B14F-4D97-AF65-F5344CB8AC3E}">
        <p14:creationId xmlns:p14="http://schemas.microsoft.com/office/powerpoint/2010/main" val="802755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5778" y="130205"/>
            <a:ext cx="9866895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智慧物流园 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模型函数与参数 </a:t>
            </a:r>
            <a:r>
              <a:rPr lang="en-US" altLang="zh-CN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– 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计算最佳 配送货源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E31A45A-375B-4F0B-AA87-39102B2A7E2A}"/>
              </a:ext>
            </a:extLst>
          </p:cNvPr>
          <p:cNvSpPr/>
          <p:nvPr/>
        </p:nvSpPr>
        <p:spPr>
          <a:xfrm>
            <a:off x="308821" y="724703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目标函数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CCB89F-7DEB-49F2-B1DE-185CAF322416}"/>
              </a:ext>
            </a:extLst>
          </p:cNvPr>
          <p:cNvSpPr/>
          <p:nvPr/>
        </p:nvSpPr>
        <p:spPr>
          <a:xfrm>
            <a:off x="2083323" y="566446"/>
            <a:ext cx="8220171" cy="707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总作业成本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（仓储成本、断料成本、码头延滞成本）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883B9D5-7613-44F6-BFE2-F3AF3F1E3FF9}"/>
              </a:ext>
            </a:extLst>
          </p:cNvPr>
          <p:cNvCxnSpPr>
            <a:cxnSpLocks/>
          </p:cNvCxnSpPr>
          <p:nvPr/>
        </p:nvCxnSpPr>
        <p:spPr>
          <a:xfrm>
            <a:off x="444215" y="1252290"/>
            <a:ext cx="108000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B8F1022-DD29-40B7-8F97-D58F4EA0D297}"/>
              </a:ext>
            </a:extLst>
          </p:cNvPr>
          <p:cNvSpPr/>
          <p:nvPr/>
        </p:nvSpPr>
        <p:spPr>
          <a:xfrm>
            <a:off x="308821" y="1320054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必要条件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A137DC-8498-4C1B-BB0A-33D561E50344}"/>
              </a:ext>
            </a:extLst>
          </p:cNvPr>
          <p:cNvSpPr/>
          <p:nvPr/>
        </p:nvSpPr>
        <p:spPr>
          <a:xfrm>
            <a:off x="458355" y="1788667"/>
            <a:ext cx="11665676" cy="17058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领料需求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提供领用需求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物料号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批次号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认证种类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配送地点</a:t>
            </a:r>
            <a:endParaRPr lang="en-US" altLang="zh-CN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在库库存</a:t>
            </a:r>
            <a:r>
              <a:rPr lang="en-US" altLang="zh-CN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提供库存信息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物料号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批次号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认证种类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可用库存数量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收货日期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码头免堆期限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库存状态</a:t>
            </a:r>
            <a:endParaRPr lang="en-US" altLang="zh-CN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在途库存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提供供应商送货信息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物料号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送货数量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送货进厂日期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可供货时间</a:t>
            </a:r>
            <a:endParaRPr lang="en-US" altLang="zh-CN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作业成本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 提供各项成本信息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仓储作业成本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延后配送断料成本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码头库存逾期延滞成本</a:t>
            </a:r>
            <a:endParaRPr lang="zh-CN" alt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85EFDED-D732-409E-85B3-7543093C79D9}"/>
              </a:ext>
            </a:extLst>
          </p:cNvPr>
          <p:cNvCxnSpPr>
            <a:cxnSpLocks/>
          </p:cNvCxnSpPr>
          <p:nvPr/>
        </p:nvCxnSpPr>
        <p:spPr>
          <a:xfrm>
            <a:off x="445783" y="3542071"/>
            <a:ext cx="108000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5F61071-E428-4E30-B960-15E6DE617CBE}"/>
              </a:ext>
            </a:extLst>
          </p:cNvPr>
          <p:cNvSpPr/>
          <p:nvPr/>
        </p:nvSpPr>
        <p:spPr>
          <a:xfrm>
            <a:off x="308821" y="3620467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附加条件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B9C330-ED20-4170-B9DB-16294DD56D6C}"/>
              </a:ext>
            </a:extLst>
          </p:cNvPr>
          <p:cNvSpPr/>
          <p:nvPr/>
        </p:nvSpPr>
        <p:spPr>
          <a:xfrm>
            <a:off x="459924" y="4089082"/>
            <a:ext cx="11616000" cy="455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 indent="-342891"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目前无</a:t>
            </a:r>
            <a:endParaRPr lang="en-US" altLang="zh-CN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561E53-F15D-4522-BEBB-212DF21CFD5B}"/>
              </a:ext>
            </a:extLst>
          </p:cNvPr>
          <p:cNvSpPr/>
          <p:nvPr/>
        </p:nvSpPr>
        <p:spPr>
          <a:xfrm>
            <a:off x="2159892" y="3494565"/>
            <a:ext cx="4601857" cy="707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非必要，可节降 总作业成本 则采用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1A04583-F46F-4A7A-81CA-F5AB91117FAA}"/>
              </a:ext>
            </a:extLst>
          </p:cNvPr>
          <p:cNvCxnSpPr>
            <a:cxnSpLocks/>
          </p:cNvCxnSpPr>
          <p:nvPr/>
        </p:nvCxnSpPr>
        <p:spPr>
          <a:xfrm>
            <a:off x="494487" y="4617081"/>
            <a:ext cx="108000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02AEF4F-438F-4B2F-AAF1-0DF442AAB549}"/>
              </a:ext>
            </a:extLst>
          </p:cNvPr>
          <p:cNvSpPr/>
          <p:nvPr/>
        </p:nvSpPr>
        <p:spPr>
          <a:xfrm>
            <a:off x="308821" y="4669937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限制条件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9B2A32-34A2-4B49-A1AE-2EC73DE28A81}"/>
              </a:ext>
            </a:extLst>
          </p:cNvPr>
          <p:cNvSpPr/>
          <p:nvPr/>
        </p:nvSpPr>
        <p:spPr>
          <a:xfrm>
            <a:off x="496063" y="5097079"/>
            <a:ext cx="11665677" cy="163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数量平衡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Σ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预计配送数量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 =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配送需求数量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en-US" altLang="zh-CN" sz="1600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批次</a:t>
            </a:r>
            <a:r>
              <a:rPr lang="en-US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认证匹配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供货批次的属性必须完全等于需求指定的属性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时间约束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一般情况：库存可使用时间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&lt;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配送需求时间。软约束：若违反上述时间，需承担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断料成本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免堆期约束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码头来源：预计配送日期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码头最后免堆日（若违反，需承担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延滞成本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4D6E27-D3F2-403C-953D-DFE9A74CAEF5}"/>
              </a:ext>
            </a:extLst>
          </p:cNvPr>
          <p:cNvSpPr/>
          <p:nvPr/>
        </p:nvSpPr>
        <p:spPr>
          <a:xfrm>
            <a:off x="2205961" y="4572000"/>
            <a:ext cx="6264084" cy="707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必要，创建计划必须严格遵守限制条件下执行函数</a:t>
            </a:r>
          </a:p>
        </p:txBody>
      </p:sp>
    </p:spTree>
    <p:extLst>
      <p:ext uri="{BB962C8B-B14F-4D97-AF65-F5344CB8AC3E}">
        <p14:creationId xmlns:p14="http://schemas.microsoft.com/office/powerpoint/2010/main" val="3945536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72BD-D7FF-40AB-CCC7-9A7354D1B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FA335E8-8D33-C1FA-E5D0-E8A32C8FF8A8}"/>
              </a:ext>
            </a:extLst>
          </p:cNvPr>
          <p:cNvSpPr/>
          <p:nvPr/>
        </p:nvSpPr>
        <p:spPr>
          <a:xfrm>
            <a:off x="305805" y="127355"/>
            <a:ext cx="9866895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仓储作业成本 </a:t>
            </a: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– 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不同货源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作业成本不一样时配置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C935BC2-6A9A-092F-23CB-08C0819BB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12590"/>
              </p:ext>
            </p:extLst>
          </p:nvPr>
        </p:nvGraphicFramePr>
        <p:xfrm>
          <a:off x="305805" y="784256"/>
          <a:ext cx="9731333" cy="4047703"/>
        </p:xfrm>
        <a:graphic>
          <a:graphicData uri="http://schemas.openxmlformats.org/drawingml/2006/table">
            <a:tbl>
              <a:tblPr/>
              <a:tblGrid>
                <a:gridCol w="170974">
                  <a:extLst>
                    <a:ext uri="{9D8B030D-6E8A-4147-A177-3AD203B41FA5}">
                      <a16:colId xmlns:a16="http://schemas.microsoft.com/office/drawing/2014/main" val="771204794"/>
                    </a:ext>
                  </a:extLst>
                </a:gridCol>
                <a:gridCol w="170974">
                  <a:extLst>
                    <a:ext uri="{9D8B030D-6E8A-4147-A177-3AD203B41FA5}">
                      <a16:colId xmlns:a16="http://schemas.microsoft.com/office/drawing/2014/main" val="105305273"/>
                    </a:ext>
                  </a:extLst>
                </a:gridCol>
                <a:gridCol w="1299406">
                  <a:extLst>
                    <a:ext uri="{9D8B030D-6E8A-4147-A177-3AD203B41FA5}">
                      <a16:colId xmlns:a16="http://schemas.microsoft.com/office/drawing/2014/main" val="2551371585"/>
                    </a:ext>
                  </a:extLst>
                </a:gridCol>
                <a:gridCol w="1299406">
                  <a:extLst>
                    <a:ext uri="{9D8B030D-6E8A-4147-A177-3AD203B41FA5}">
                      <a16:colId xmlns:a16="http://schemas.microsoft.com/office/drawing/2014/main" val="2790591397"/>
                    </a:ext>
                  </a:extLst>
                </a:gridCol>
                <a:gridCol w="1299406">
                  <a:extLst>
                    <a:ext uri="{9D8B030D-6E8A-4147-A177-3AD203B41FA5}">
                      <a16:colId xmlns:a16="http://schemas.microsoft.com/office/drawing/2014/main" val="295929718"/>
                    </a:ext>
                  </a:extLst>
                </a:gridCol>
                <a:gridCol w="1299406">
                  <a:extLst>
                    <a:ext uri="{9D8B030D-6E8A-4147-A177-3AD203B41FA5}">
                      <a16:colId xmlns:a16="http://schemas.microsoft.com/office/drawing/2014/main" val="1161200246"/>
                    </a:ext>
                  </a:extLst>
                </a:gridCol>
                <a:gridCol w="1384893">
                  <a:extLst>
                    <a:ext uri="{9D8B030D-6E8A-4147-A177-3AD203B41FA5}">
                      <a16:colId xmlns:a16="http://schemas.microsoft.com/office/drawing/2014/main" val="3764391731"/>
                    </a:ext>
                  </a:extLst>
                </a:gridCol>
                <a:gridCol w="1299406">
                  <a:extLst>
                    <a:ext uri="{9D8B030D-6E8A-4147-A177-3AD203B41FA5}">
                      <a16:colId xmlns:a16="http://schemas.microsoft.com/office/drawing/2014/main" val="3518422917"/>
                    </a:ext>
                  </a:extLst>
                </a:gridCol>
                <a:gridCol w="1299406">
                  <a:extLst>
                    <a:ext uri="{9D8B030D-6E8A-4147-A177-3AD203B41FA5}">
                      <a16:colId xmlns:a16="http://schemas.microsoft.com/office/drawing/2014/main" val="4034222760"/>
                    </a:ext>
                  </a:extLst>
                </a:gridCol>
                <a:gridCol w="170974">
                  <a:extLst>
                    <a:ext uri="{9D8B030D-6E8A-4147-A177-3AD203B41FA5}">
                      <a16:colId xmlns:a16="http://schemas.microsoft.com/office/drawing/2014/main" val="4098140170"/>
                    </a:ext>
                  </a:extLst>
                </a:gridCol>
                <a:gridCol w="37082">
                  <a:extLst>
                    <a:ext uri="{9D8B030D-6E8A-4147-A177-3AD203B41FA5}">
                      <a16:colId xmlns:a16="http://schemas.microsoft.com/office/drawing/2014/main" val="3388408616"/>
                    </a:ext>
                  </a:extLst>
                </a:gridCol>
              </a:tblGrid>
              <a:tr h="330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仓储作业成本维护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893767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货物来源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包装单位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包装单位数量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吨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包装单位成本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吨作业费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吨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2196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material_no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source_type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packaging_type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packaging_unit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packaging_unit_qty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packaging_unit_cost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ton_handling_fee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58074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67439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厂内资材库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散装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09178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厂内资材库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托盘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556332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厂内资材库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集装箱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尺柜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40269"/>
                  </a:ext>
                </a:extLst>
              </a:tr>
              <a:tr h="40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码头仓库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46266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供应商送货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                 </a:t>
                      </a:r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612220"/>
                  </a:ext>
                </a:extLst>
              </a:tr>
              <a:tr h="2647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154387"/>
                  </a:ext>
                </a:extLst>
              </a:tr>
            </a:tbl>
          </a:graphicData>
        </a:graphic>
      </p:graphicFrame>
      <p:sp>
        <p:nvSpPr>
          <p:cNvPr id="9" name="线形标注 1 1">
            <a:extLst>
              <a:ext uri="{FF2B5EF4-FFF2-40B4-BE49-F238E27FC236}">
                <a16:creationId xmlns:a16="http://schemas.microsoft.com/office/drawing/2014/main" id="{B22E168D-36DF-4A9E-9BB7-460EB12E681A}"/>
              </a:ext>
            </a:extLst>
          </p:cNvPr>
          <p:cNvSpPr/>
          <p:nvPr/>
        </p:nvSpPr>
        <p:spPr>
          <a:xfrm>
            <a:off x="3263898" y="3843855"/>
            <a:ext cx="2832102" cy="498598"/>
          </a:xfrm>
          <a:prstGeom prst="borderCallout1">
            <a:avLst>
              <a:gd name="adj1" fmla="val 1035"/>
              <a:gd name="adj2" fmla="val 275"/>
              <a:gd name="adj3" fmla="val 30391"/>
              <a:gd name="adj4" fmla="val -77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不同货源攸关直卸费率</a:t>
            </a:r>
          </a:p>
        </p:txBody>
      </p:sp>
      <p:sp>
        <p:nvSpPr>
          <p:cNvPr id="10" name="线形标注 1 1">
            <a:extLst>
              <a:ext uri="{FF2B5EF4-FFF2-40B4-BE49-F238E27FC236}">
                <a16:creationId xmlns:a16="http://schemas.microsoft.com/office/drawing/2014/main" id="{51AD5768-3ACE-4220-8E4B-3D1220FAA500}"/>
              </a:ext>
            </a:extLst>
          </p:cNvPr>
          <p:cNvSpPr/>
          <p:nvPr/>
        </p:nvSpPr>
        <p:spPr>
          <a:xfrm>
            <a:off x="4791813" y="2610164"/>
            <a:ext cx="3101975" cy="579603"/>
          </a:xfrm>
          <a:prstGeom prst="borderCallout1">
            <a:avLst>
              <a:gd name="adj1" fmla="val 1035"/>
              <a:gd name="adj2" fmla="val 275"/>
              <a:gd name="adj3" fmla="val 23630"/>
              <a:gd name="adj4" fmla="val -163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不同包装攸关作业费率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A65168-1CB4-0AC5-C7A4-667002D644F9}"/>
              </a:ext>
            </a:extLst>
          </p:cNvPr>
          <p:cNvSpPr/>
          <p:nvPr/>
        </p:nvSpPr>
        <p:spPr>
          <a:xfrm>
            <a:off x="344865" y="4990262"/>
            <a:ext cx="11283506" cy="159671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为鼓励直付，在维护作业成本时，资材库作业成本应该大于预约进厂；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资材库总成本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=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卸货成本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+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配送成本；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如没维护，则系统默认不同货源，作业成本一致；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7062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D6C0-DAB8-919B-3225-72FFA345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476C87-68FE-2083-B9A6-7F1C67A4B2BD}"/>
              </a:ext>
            </a:extLst>
          </p:cNvPr>
          <p:cNvSpPr/>
          <p:nvPr/>
        </p:nvSpPr>
        <p:spPr>
          <a:xfrm>
            <a:off x="1413754" y="230789"/>
            <a:ext cx="9866895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断料成本 </a:t>
            </a:r>
            <a:r>
              <a:rPr lang="en-US" altLang="zh-CN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– 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可延迟配送物料 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产生的成本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64174D7-24EE-03FB-C206-2D9CC8A7E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340024"/>
              </p:ext>
            </p:extLst>
          </p:nvPr>
        </p:nvGraphicFramePr>
        <p:xfrm>
          <a:off x="252663" y="1141118"/>
          <a:ext cx="11682660" cy="2829620"/>
        </p:xfrm>
        <a:graphic>
          <a:graphicData uri="http://schemas.openxmlformats.org/drawingml/2006/table">
            <a:tbl>
              <a:tblPr/>
              <a:tblGrid>
                <a:gridCol w="128664">
                  <a:extLst>
                    <a:ext uri="{9D8B030D-6E8A-4147-A177-3AD203B41FA5}">
                      <a16:colId xmlns:a16="http://schemas.microsoft.com/office/drawing/2014/main" val="2838688215"/>
                    </a:ext>
                  </a:extLst>
                </a:gridCol>
                <a:gridCol w="1904222">
                  <a:extLst>
                    <a:ext uri="{9D8B030D-6E8A-4147-A177-3AD203B41FA5}">
                      <a16:colId xmlns:a16="http://schemas.microsoft.com/office/drawing/2014/main" val="955296264"/>
                    </a:ext>
                  </a:extLst>
                </a:gridCol>
                <a:gridCol w="1904222">
                  <a:extLst>
                    <a:ext uri="{9D8B030D-6E8A-4147-A177-3AD203B41FA5}">
                      <a16:colId xmlns:a16="http://schemas.microsoft.com/office/drawing/2014/main" val="2593593235"/>
                    </a:ext>
                  </a:extLst>
                </a:gridCol>
                <a:gridCol w="1904222">
                  <a:extLst>
                    <a:ext uri="{9D8B030D-6E8A-4147-A177-3AD203B41FA5}">
                      <a16:colId xmlns:a16="http://schemas.microsoft.com/office/drawing/2014/main" val="2133796544"/>
                    </a:ext>
                  </a:extLst>
                </a:gridCol>
                <a:gridCol w="1904222">
                  <a:extLst>
                    <a:ext uri="{9D8B030D-6E8A-4147-A177-3AD203B41FA5}">
                      <a16:colId xmlns:a16="http://schemas.microsoft.com/office/drawing/2014/main" val="3126229898"/>
                    </a:ext>
                  </a:extLst>
                </a:gridCol>
                <a:gridCol w="1904222">
                  <a:extLst>
                    <a:ext uri="{9D8B030D-6E8A-4147-A177-3AD203B41FA5}">
                      <a16:colId xmlns:a16="http://schemas.microsoft.com/office/drawing/2014/main" val="1918937792"/>
                    </a:ext>
                  </a:extLst>
                </a:gridCol>
                <a:gridCol w="1904222">
                  <a:extLst>
                    <a:ext uri="{9D8B030D-6E8A-4147-A177-3AD203B41FA5}">
                      <a16:colId xmlns:a16="http://schemas.microsoft.com/office/drawing/2014/main" val="3415141845"/>
                    </a:ext>
                  </a:extLst>
                </a:gridCol>
                <a:gridCol w="128664">
                  <a:extLst>
                    <a:ext uri="{9D8B030D-6E8A-4147-A177-3AD203B41FA5}">
                      <a16:colId xmlns:a16="http://schemas.microsoft.com/office/drawing/2014/main" val="487680277"/>
                    </a:ext>
                  </a:extLst>
                </a:gridCol>
              </a:tblGrid>
              <a:tr h="3672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断料成本维护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63258"/>
                  </a:ext>
                </a:extLst>
              </a:tr>
              <a:tr h="6373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领料部门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领料单位每天断料成本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延误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一天成本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延误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两天成本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延误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三天成本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98618"/>
                  </a:ext>
                </a:extLst>
              </a:tr>
              <a:tr h="367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demand_dept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material_no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stockout_cost_per_unit_per_day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delay_1_day_cost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delay_2_days_cost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delay_3_days_cost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621741"/>
                  </a:ext>
                </a:extLst>
              </a:tr>
              <a:tr h="367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自填或是系统推算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自填或是系统推算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自填或是系统推算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772525"/>
                  </a:ext>
                </a:extLst>
              </a:tr>
              <a:tr h="444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号纸机生产部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350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350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700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1050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27206"/>
                  </a:ext>
                </a:extLst>
              </a:tr>
              <a:tr h="367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446864"/>
                  </a:ext>
                </a:extLst>
              </a:tr>
              <a:tr h="274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791" marR="5791" marT="579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64861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2E887FA-0CA6-722B-F92F-72F1CB7E5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204777"/>
              </p:ext>
            </p:extLst>
          </p:nvPr>
        </p:nvGraphicFramePr>
        <p:xfrm>
          <a:off x="545592" y="3966400"/>
          <a:ext cx="10515600" cy="14537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2468866"/>
                    </a:ext>
                  </a:extLst>
                </a:gridCol>
              </a:tblGrid>
              <a:tr h="363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一、表单类别：输入界面</a:t>
                      </a:r>
                    </a:p>
                  </a:txBody>
                  <a:tcPr marL="5921" marR="5921" marT="59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12220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二、使用时机：当需求部门能接受 配送日期延误几天，则可维护断料成本，作为系统计算总成本使用</a:t>
                      </a:r>
                    </a:p>
                  </a:txBody>
                  <a:tcPr marL="5921" marR="5921" marT="59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702405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三、使用部门：仓储部门</a:t>
                      </a:r>
                    </a:p>
                  </a:txBody>
                  <a:tcPr marL="5921" marR="5921" marT="59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038472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四、使用方法： 作为系统计算，当配送日期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 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配送需求日期，会产生的断料成本</a:t>
                      </a:r>
                    </a:p>
                  </a:txBody>
                  <a:tcPr marL="5921" marR="5921" marT="59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2444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D63C0A5-76DF-1922-0476-9B5B0B1971A9}"/>
              </a:ext>
            </a:extLst>
          </p:cNvPr>
          <p:cNvSpPr/>
          <p:nvPr/>
        </p:nvSpPr>
        <p:spPr>
          <a:xfrm>
            <a:off x="826169" y="5889761"/>
            <a:ext cx="9625262" cy="6516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没有维护的，则系统默认 断料成本为 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999,999,999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59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E9EE-DF26-6AB6-B63A-C85ADBCF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9D01C12-8CAF-0EF1-F5A7-8AFAD6E773A5}"/>
              </a:ext>
            </a:extLst>
          </p:cNvPr>
          <p:cNvSpPr/>
          <p:nvPr/>
        </p:nvSpPr>
        <p:spPr>
          <a:xfrm>
            <a:off x="1413754" y="230789"/>
            <a:ext cx="9866895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断码头延滞成本</a:t>
            </a:r>
            <a:r>
              <a:rPr lang="en-US" altLang="zh-CN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– 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配置码头收货 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免堆日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期 与 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延滞成本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EC172EB-B51B-A662-C43C-C73C8F219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01210"/>
              </p:ext>
            </p:extLst>
          </p:nvPr>
        </p:nvGraphicFramePr>
        <p:xfrm>
          <a:off x="704849" y="776889"/>
          <a:ext cx="11342770" cy="4148037"/>
        </p:xfrm>
        <a:graphic>
          <a:graphicData uri="http://schemas.openxmlformats.org/drawingml/2006/table">
            <a:tbl>
              <a:tblPr/>
              <a:tblGrid>
                <a:gridCol w="180617">
                  <a:extLst>
                    <a:ext uri="{9D8B030D-6E8A-4147-A177-3AD203B41FA5}">
                      <a16:colId xmlns:a16="http://schemas.microsoft.com/office/drawing/2014/main" val="2475779351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1731057241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2657965162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876950547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3038987704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2218877647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2732159970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525859716"/>
                    </a:ext>
                  </a:extLst>
                </a:gridCol>
                <a:gridCol w="1372692">
                  <a:extLst>
                    <a:ext uri="{9D8B030D-6E8A-4147-A177-3AD203B41FA5}">
                      <a16:colId xmlns:a16="http://schemas.microsoft.com/office/drawing/2014/main" val="3669268091"/>
                    </a:ext>
                  </a:extLst>
                </a:gridCol>
                <a:gridCol w="180617">
                  <a:extLst>
                    <a:ext uri="{9D8B030D-6E8A-4147-A177-3AD203B41FA5}">
                      <a16:colId xmlns:a16="http://schemas.microsoft.com/office/drawing/2014/main" val="1648449292"/>
                    </a:ext>
                  </a:extLst>
                </a:gridCol>
              </a:tblGrid>
              <a:tr h="7786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码头库存查询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59929"/>
                  </a:ext>
                </a:extLst>
              </a:tr>
              <a:tr h="778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库存地点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仓储类型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采购订单号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内向交货单号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码头免堆到期日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订单行项目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船属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005890"/>
                  </a:ext>
                </a:extLst>
              </a:tr>
              <a:tr h="778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storage_loc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storage_type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po_number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inbound_delivery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wharf_free_until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line_item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material_no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vessel_owner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643160"/>
                  </a:ext>
                </a:extLst>
              </a:tr>
              <a:tr h="778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他档转入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180816"/>
                  </a:ext>
                </a:extLst>
              </a:tr>
              <a:tr h="778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z010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中远海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267631"/>
                  </a:ext>
                </a:extLst>
              </a:tr>
              <a:tr h="2549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04844"/>
                  </a:ext>
                </a:extLst>
              </a:tr>
            </a:tbl>
          </a:graphicData>
        </a:graphic>
      </p:graphicFrame>
      <p:sp>
        <p:nvSpPr>
          <p:cNvPr id="14" name="圆角矩形 25">
            <a:extLst>
              <a:ext uri="{FF2B5EF4-FFF2-40B4-BE49-F238E27FC236}">
                <a16:creationId xmlns:a16="http://schemas.microsoft.com/office/drawing/2014/main" id="{D618DED7-22B9-420E-B437-B371B94294FB}"/>
              </a:ext>
            </a:extLst>
          </p:cNvPr>
          <p:cNvSpPr/>
          <p:nvPr/>
        </p:nvSpPr>
        <p:spPr>
          <a:xfrm>
            <a:off x="9353300" y="860326"/>
            <a:ext cx="1378868" cy="5040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查询</a:t>
            </a:r>
            <a:r>
              <a:rPr lang="zh-CN" altLang="zh-CN" sz="2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条件</a:t>
            </a:r>
            <a:endPara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83B4118-735F-BDF8-1C74-9BFB4929B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56483"/>
              </p:ext>
            </p:extLst>
          </p:nvPr>
        </p:nvGraphicFramePr>
        <p:xfrm>
          <a:off x="704848" y="5008362"/>
          <a:ext cx="10941719" cy="1457789"/>
        </p:xfrm>
        <a:graphic>
          <a:graphicData uri="http://schemas.openxmlformats.org/drawingml/2006/table">
            <a:tbl>
              <a:tblPr/>
              <a:tblGrid>
                <a:gridCol w="10941719">
                  <a:extLst>
                    <a:ext uri="{9D8B030D-6E8A-4147-A177-3AD203B41FA5}">
                      <a16:colId xmlns:a16="http://schemas.microsoft.com/office/drawing/2014/main" val="4255141826"/>
                    </a:ext>
                  </a:extLst>
                </a:gridCol>
              </a:tblGrid>
              <a:tr h="381785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一、表单类别：输入界面</a:t>
                      </a:r>
                    </a:p>
                  </a:txBody>
                  <a:tcPr marL="5195" marR="5195" marT="519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794397"/>
                  </a:ext>
                </a:extLst>
              </a:tr>
              <a:tr h="358668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二、使用时机：办理码头收货后，需要进一步维护 免堆日期与延滞成本，作为系统计算总成本使用</a:t>
                      </a:r>
                    </a:p>
                  </a:txBody>
                  <a:tcPr marL="5195" marR="5195" marT="519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680662"/>
                  </a:ext>
                </a:extLst>
              </a:tr>
              <a:tr h="358668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三、使用部门：仓储部门</a:t>
                      </a:r>
                    </a:p>
                  </a:txBody>
                  <a:tcPr marL="5195" marR="5195" marT="519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373715"/>
                  </a:ext>
                </a:extLst>
              </a:tr>
              <a:tr h="358668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四、使用方法：</a:t>
                      </a: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先查询码头库存信息，再对查询库存维护延滞费数据</a:t>
                      </a:r>
                    </a:p>
                  </a:txBody>
                  <a:tcPr marL="5195" marR="5195" marT="519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314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633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8738-F1F2-80BF-E20F-39204E71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008FD02-E1D5-28D0-1C2B-87A61FFD6751}"/>
              </a:ext>
            </a:extLst>
          </p:cNvPr>
          <p:cNvSpPr/>
          <p:nvPr/>
        </p:nvSpPr>
        <p:spPr>
          <a:xfrm>
            <a:off x="1413754" y="230789"/>
            <a:ext cx="9866895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断码头延滞成本</a:t>
            </a:r>
            <a:r>
              <a:rPr lang="en-US" altLang="zh-CN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– 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配置码头收货 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免堆日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期 与 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延滞成本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8A6154C-0D53-6F02-87D9-D1F182D5C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305948"/>
              </p:ext>
            </p:extLst>
          </p:nvPr>
        </p:nvGraphicFramePr>
        <p:xfrm>
          <a:off x="152401" y="942776"/>
          <a:ext cx="11887197" cy="4074096"/>
        </p:xfrm>
        <a:graphic>
          <a:graphicData uri="http://schemas.openxmlformats.org/drawingml/2006/table">
            <a:tbl>
              <a:tblPr/>
              <a:tblGrid>
                <a:gridCol w="126999">
                  <a:extLst>
                    <a:ext uri="{9D8B030D-6E8A-4147-A177-3AD203B41FA5}">
                      <a16:colId xmlns:a16="http://schemas.microsoft.com/office/drawing/2014/main" val="3623643777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53498879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9782621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66058759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00307900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85376199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602322848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58022326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693214580"/>
                    </a:ext>
                  </a:extLst>
                </a:gridCol>
                <a:gridCol w="126999">
                  <a:extLst>
                    <a:ext uri="{9D8B030D-6E8A-4147-A177-3AD203B41FA5}">
                      <a16:colId xmlns:a16="http://schemas.microsoft.com/office/drawing/2014/main" val="314682639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42206814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56907399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08725342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321940350"/>
                    </a:ext>
                  </a:extLst>
                </a:gridCol>
                <a:gridCol w="126999">
                  <a:extLst>
                    <a:ext uri="{9D8B030D-6E8A-4147-A177-3AD203B41FA5}">
                      <a16:colId xmlns:a16="http://schemas.microsoft.com/office/drawing/2014/main" val="1171260796"/>
                    </a:ext>
                  </a:extLst>
                </a:gridCol>
              </a:tblGrid>
              <a:tr h="6391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码头库存延滞数据维护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964373"/>
                  </a:ext>
                </a:extLst>
              </a:tr>
              <a:tr h="2617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52250"/>
                  </a:ext>
                </a:extLst>
              </a:tr>
              <a:tr h="7456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码头免堆到期日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船属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包装方式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包装单位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包装单位数量（吨）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包装单位延滞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包装单位延滞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包装单位延滞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延滞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吨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延滞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吨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延滞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吨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094468"/>
                  </a:ext>
                </a:extLst>
              </a:tr>
              <a:tr h="994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material_no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wharf_free_until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vessel_owner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packaging_type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packaging_unit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packaging_unit_qty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demurrage_cost_day1_per_unit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demurrage_cost_day2_per_unit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demurrage_cost_day3_per_unit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demurrage_cost_day1_per_ton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demurrage_cost_day2_per_ton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demurrage_cost_day3_per_ton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575967"/>
                  </a:ext>
                </a:extLst>
              </a:tr>
              <a:tr h="2617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他档转入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187228"/>
                  </a:ext>
                </a:extLst>
              </a:tr>
              <a:tr h="497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3/25/26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中远海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集装箱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尺柜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'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柜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700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柜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900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柜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07234"/>
                  </a:ext>
                </a:extLst>
              </a:tr>
              <a:tr h="497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4/2/26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中远海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散装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88593"/>
                  </a:ext>
                </a:extLst>
              </a:tr>
              <a:tr h="177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004064"/>
                  </a:ext>
                </a:extLst>
              </a:tr>
            </a:tbl>
          </a:graphicData>
        </a:graphic>
      </p:graphicFrame>
      <p:sp>
        <p:nvSpPr>
          <p:cNvPr id="11" name="圆角矩形 25">
            <a:extLst>
              <a:ext uri="{FF2B5EF4-FFF2-40B4-BE49-F238E27FC236}">
                <a16:creationId xmlns:a16="http://schemas.microsoft.com/office/drawing/2014/main" id="{D9887176-11F4-3D54-D17C-7B03B5753B28}"/>
              </a:ext>
            </a:extLst>
          </p:cNvPr>
          <p:cNvSpPr/>
          <p:nvPr/>
        </p:nvSpPr>
        <p:spPr>
          <a:xfrm>
            <a:off x="9056939" y="1221928"/>
            <a:ext cx="936625" cy="28733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存档</a:t>
            </a:r>
          </a:p>
        </p:txBody>
      </p:sp>
      <p:sp>
        <p:nvSpPr>
          <p:cNvPr id="12" name="圆角矩形 25">
            <a:extLst>
              <a:ext uri="{FF2B5EF4-FFF2-40B4-BE49-F238E27FC236}">
                <a16:creationId xmlns:a16="http://schemas.microsoft.com/office/drawing/2014/main" id="{ADD743EF-2FC5-F4C4-D935-C9396131366A}"/>
              </a:ext>
            </a:extLst>
          </p:cNvPr>
          <p:cNvSpPr/>
          <p:nvPr/>
        </p:nvSpPr>
        <p:spPr>
          <a:xfrm>
            <a:off x="10179302" y="1221928"/>
            <a:ext cx="936625" cy="28733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编辑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6474328-372A-E359-E3FF-858D6871A262}"/>
              </a:ext>
            </a:extLst>
          </p:cNvPr>
          <p:cNvSpPr/>
          <p:nvPr/>
        </p:nvSpPr>
        <p:spPr>
          <a:xfrm>
            <a:off x="1203157" y="1925053"/>
            <a:ext cx="1008000" cy="2988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011DDD5-C8F5-04E0-1045-F0AE2EA587EC}"/>
              </a:ext>
            </a:extLst>
          </p:cNvPr>
          <p:cNvSpPr/>
          <p:nvPr/>
        </p:nvSpPr>
        <p:spPr>
          <a:xfrm>
            <a:off x="9007640" y="1933075"/>
            <a:ext cx="2916000" cy="2988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71A330-DB87-A9BA-C0BA-96F18528D526}"/>
              </a:ext>
            </a:extLst>
          </p:cNvPr>
          <p:cNvSpPr/>
          <p:nvPr/>
        </p:nvSpPr>
        <p:spPr>
          <a:xfrm>
            <a:off x="554040" y="5114854"/>
            <a:ext cx="9625262" cy="129798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维护 免堆日期 与 逾期的延滞费；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会与关务运输讨论，在办理码头收货时输入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。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05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7F88-5AE8-F3BA-87B8-55294D74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305A986-B6DF-7FBB-7F9E-58BB4D680DE1}"/>
              </a:ext>
            </a:extLst>
          </p:cNvPr>
          <p:cNvSpPr/>
          <p:nvPr/>
        </p:nvSpPr>
        <p:spPr>
          <a:xfrm>
            <a:off x="93729" y="3180335"/>
            <a:ext cx="11970675" cy="363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ED7E8F6-C18A-7012-BF62-9039D452C572}"/>
              </a:ext>
            </a:extLst>
          </p:cNvPr>
          <p:cNvSpPr/>
          <p:nvPr/>
        </p:nvSpPr>
        <p:spPr>
          <a:xfrm>
            <a:off x="134699" y="43610"/>
            <a:ext cx="8881710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界面一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 确认 领料需求的货源来源与数量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C368AF5-2D11-654B-58F9-10725CD509DB}"/>
              </a:ext>
            </a:extLst>
          </p:cNvPr>
          <p:cNvSpPr/>
          <p:nvPr/>
        </p:nvSpPr>
        <p:spPr>
          <a:xfrm>
            <a:off x="1499902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DA95810-2A05-F48D-D297-C5D2E362ECA7}"/>
              </a:ext>
            </a:extLst>
          </p:cNvPr>
          <p:cNvSpPr/>
          <p:nvPr/>
        </p:nvSpPr>
        <p:spPr>
          <a:xfrm>
            <a:off x="2813323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ED7AF9E2-07C8-6D6E-68CD-7B37B721607F}"/>
              </a:ext>
            </a:extLst>
          </p:cNvPr>
          <p:cNvSpPr/>
          <p:nvPr/>
        </p:nvSpPr>
        <p:spPr>
          <a:xfrm>
            <a:off x="5307839" y="1924688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B244687-5571-0849-2A60-B7045133B280}"/>
              </a:ext>
            </a:extLst>
          </p:cNvPr>
          <p:cNvSpPr/>
          <p:nvPr/>
        </p:nvSpPr>
        <p:spPr>
          <a:xfrm>
            <a:off x="4111381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EC8DE3B-B63B-1E7E-BCB1-A669644FCD51}"/>
              </a:ext>
            </a:extLst>
          </p:cNvPr>
          <p:cNvSpPr/>
          <p:nvPr/>
        </p:nvSpPr>
        <p:spPr>
          <a:xfrm>
            <a:off x="5313182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500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191616E-DCDD-D363-0F8E-89DA00A56F98}"/>
              </a:ext>
            </a:extLst>
          </p:cNvPr>
          <p:cNvSpPr/>
          <p:nvPr/>
        </p:nvSpPr>
        <p:spPr>
          <a:xfrm>
            <a:off x="6504297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已交数量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25DEE1A-87A1-AE84-7AEE-9E775A7BC197}"/>
              </a:ext>
            </a:extLst>
          </p:cNvPr>
          <p:cNvSpPr/>
          <p:nvPr/>
        </p:nvSpPr>
        <p:spPr>
          <a:xfrm>
            <a:off x="6574921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70A79D9-6FA1-101F-9DE0-DF9879D16001}"/>
              </a:ext>
            </a:extLst>
          </p:cNvPr>
          <p:cNvSpPr/>
          <p:nvPr/>
        </p:nvSpPr>
        <p:spPr>
          <a:xfrm>
            <a:off x="7700755" y="1924688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已安排配送总量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43FA0BF6-9AD3-6416-CA98-E3A25FE50DDD}"/>
              </a:ext>
            </a:extLst>
          </p:cNvPr>
          <p:cNvSpPr/>
          <p:nvPr/>
        </p:nvSpPr>
        <p:spPr>
          <a:xfrm>
            <a:off x="7766036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120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023E4C6-ECEC-FA0F-5F1F-C457E871EDFC}"/>
              </a:ext>
            </a:extLst>
          </p:cNvPr>
          <p:cNvSpPr/>
          <p:nvPr/>
        </p:nvSpPr>
        <p:spPr>
          <a:xfrm>
            <a:off x="10828622" y="4468277"/>
            <a:ext cx="1080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58A3539-0586-1753-8BB5-8AAFC682BD22}"/>
              </a:ext>
            </a:extLst>
          </p:cNvPr>
          <p:cNvSpPr/>
          <p:nvPr/>
        </p:nvSpPr>
        <p:spPr>
          <a:xfrm>
            <a:off x="9518496" y="4468277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</a:p>
        </p:txBody>
      </p:sp>
      <p:sp>
        <p:nvSpPr>
          <p:cNvPr id="21" name="流程图: 合并 20">
            <a:extLst>
              <a:ext uri="{FF2B5EF4-FFF2-40B4-BE49-F238E27FC236}">
                <a16:creationId xmlns:a16="http://schemas.microsoft.com/office/drawing/2014/main" id="{AA9456EE-F5E9-6090-084F-551709163733}"/>
              </a:ext>
            </a:extLst>
          </p:cNvPr>
          <p:cNvSpPr/>
          <p:nvPr/>
        </p:nvSpPr>
        <p:spPr>
          <a:xfrm>
            <a:off x="1506747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标注: 下箭头 77">
            <a:extLst>
              <a:ext uri="{FF2B5EF4-FFF2-40B4-BE49-F238E27FC236}">
                <a16:creationId xmlns:a16="http://schemas.microsoft.com/office/drawing/2014/main" id="{C78F385E-0371-0E97-8D8F-D710DE564C1E}"/>
              </a:ext>
            </a:extLst>
          </p:cNvPr>
          <p:cNvSpPr/>
          <p:nvPr/>
        </p:nvSpPr>
        <p:spPr>
          <a:xfrm>
            <a:off x="2721880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用户可单独输入料号带出该料号配送需求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DC7C76E-28D8-91A2-3346-89903F304F62}"/>
              </a:ext>
            </a:extLst>
          </p:cNvPr>
          <p:cNvSpPr/>
          <p:nvPr/>
        </p:nvSpPr>
        <p:spPr>
          <a:xfrm>
            <a:off x="5923846" y="755540"/>
            <a:ext cx="2378326" cy="590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当用户输入单号显示该单任务目前情况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020E7A6-11F9-A00C-AE50-87B9C5744734}"/>
              </a:ext>
            </a:extLst>
          </p:cNvPr>
          <p:cNvSpPr/>
          <p:nvPr/>
        </p:nvSpPr>
        <p:spPr>
          <a:xfrm>
            <a:off x="8840692" y="1924688"/>
            <a:ext cx="1080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尚需安排任务需求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F226E05-10CA-A36D-A69D-203E50879284}"/>
              </a:ext>
            </a:extLst>
          </p:cNvPr>
          <p:cNvSpPr/>
          <p:nvPr/>
        </p:nvSpPr>
        <p:spPr>
          <a:xfrm>
            <a:off x="8840692" y="2581756"/>
            <a:ext cx="1080000" cy="360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b="1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F2EC27-1DE7-98BC-01E9-89DBE885E16F}"/>
              </a:ext>
            </a:extLst>
          </p:cNvPr>
          <p:cNvSpPr/>
          <p:nvPr/>
        </p:nvSpPr>
        <p:spPr>
          <a:xfrm>
            <a:off x="113830" y="2998778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BD9F66E-2860-EFC5-B2D1-94121DF354DA}"/>
              </a:ext>
            </a:extLst>
          </p:cNvPr>
          <p:cNvSpPr/>
          <p:nvPr/>
        </p:nvSpPr>
        <p:spPr>
          <a:xfrm>
            <a:off x="302828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DB9634D4-2721-07C4-5B6A-D388E0F08798}"/>
              </a:ext>
            </a:extLst>
          </p:cNvPr>
          <p:cNvSpPr/>
          <p:nvPr/>
        </p:nvSpPr>
        <p:spPr>
          <a:xfrm>
            <a:off x="6082508" y="4468277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库存数量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DDA89CEA-27D8-952E-9AF8-86B61F55CB16}"/>
              </a:ext>
            </a:extLst>
          </p:cNvPr>
          <p:cNvSpPr/>
          <p:nvPr/>
        </p:nvSpPr>
        <p:spPr>
          <a:xfrm>
            <a:off x="1502184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5AE5B261-AB93-D05C-433A-565DE7695B6D}"/>
              </a:ext>
            </a:extLst>
          </p:cNvPr>
          <p:cNvSpPr/>
          <p:nvPr/>
        </p:nvSpPr>
        <p:spPr>
          <a:xfrm>
            <a:off x="7231403" y="4468277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已安排转储量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1FA4C83B-C947-F662-F49F-7D80D58D0182}"/>
              </a:ext>
            </a:extLst>
          </p:cNvPr>
          <p:cNvSpPr/>
          <p:nvPr/>
        </p:nvSpPr>
        <p:spPr>
          <a:xfrm>
            <a:off x="8375818" y="4468277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尚可安排库存量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0EAA280-047C-EFD2-BDAC-DB07D0A63D87}"/>
              </a:ext>
            </a:extLst>
          </p:cNvPr>
          <p:cNvSpPr/>
          <p:nvPr/>
        </p:nvSpPr>
        <p:spPr>
          <a:xfrm>
            <a:off x="6022570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177EABB-B3CD-4F41-3F8E-EBCB15FAAD78}"/>
              </a:ext>
            </a:extLst>
          </p:cNvPr>
          <p:cNvSpPr/>
          <p:nvPr/>
        </p:nvSpPr>
        <p:spPr>
          <a:xfrm>
            <a:off x="7295197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60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C73C4D1D-DA80-D862-3C55-EAA1EC4D1703}"/>
              </a:ext>
            </a:extLst>
          </p:cNvPr>
          <p:cNvSpPr/>
          <p:nvPr/>
        </p:nvSpPr>
        <p:spPr>
          <a:xfrm>
            <a:off x="8439612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40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E75D2658-EF3C-D084-3B02-54AAE99DC288}"/>
              </a:ext>
            </a:extLst>
          </p:cNvPr>
          <p:cNvSpPr/>
          <p:nvPr/>
        </p:nvSpPr>
        <p:spPr>
          <a:xfrm>
            <a:off x="1505734" y="506273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号库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85599690-40C3-83FD-F57B-FA092DDEE733}"/>
              </a:ext>
            </a:extLst>
          </p:cNvPr>
          <p:cNvSpPr/>
          <p:nvPr/>
        </p:nvSpPr>
        <p:spPr>
          <a:xfrm>
            <a:off x="2649016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料号、批次号、仓位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A901BEC9-CE80-F33F-07B5-DA2017683AB0}"/>
              </a:ext>
            </a:extLst>
          </p:cNvPr>
          <p:cNvSpPr/>
          <p:nvPr/>
        </p:nvSpPr>
        <p:spPr>
          <a:xfrm>
            <a:off x="3791318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收货日期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6869E17-6B09-FBB9-E73F-9CB65A7E486C}"/>
              </a:ext>
            </a:extLst>
          </p:cNvPr>
          <p:cNvSpPr/>
          <p:nvPr/>
        </p:nvSpPr>
        <p:spPr>
          <a:xfrm>
            <a:off x="4932554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免堆免箱日期</a:t>
            </a:r>
          </a:p>
        </p:txBody>
      </p:sp>
      <p:sp>
        <p:nvSpPr>
          <p:cNvPr id="88" name="标注: 下箭头 87">
            <a:extLst>
              <a:ext uri="{FF2B5EF4-FFF2-40B4-BE49-F238E27FC236}">
                <a16:creationId xmlns:a16="http://schemas.microsoft.com/office/drawing/2014/main" id="{6BFA87B7-CEC1-D071-FD97-353D9E77C1D6}"/>
              </a:ext>
            </a:extLst>
          </p:cNvPr>
          <p:cNvSpPr/>
          <p:nvPr/>
        </p:nvSpPr>
        <p:spPr>
          <a:xfrm>
            <a:off x="1379202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用户输入领料单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带出配送需求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6E1B9BEB-AEEF-3D75-1569-164D3F0DD41C}"/>
              </a:ext>
            </a:extLst>
          </p:cNvPr>
          <p:cNvSpPr/>
          <p:nvPr/>
        </p:nvSpPr>
        <p:spPr>
          <a:xfrm rot="5400000">
            <a:off x="6690840" y="-620516"/>
            <a:ext cx="576000" cy="447965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流程图: 合并 88">
            <a:extLst>
              <a:ext uri="{FF2B5EF4-FFF2-40B4-BE49-F238E27FC236}">
                <a16:creationId xmlns:a16="http://schemas.microsoft.com/office/drawing/2014/main" id="{238A0A21-DBD4-0FBC-4196-006F4C8AB13F}"/>
              </a:ext>
            </a:extLst>
          </p:cNvPr>
          <p:cNvSpPr/>
          <p:nvPr/>
        </p:nvSpPr>
        <p:spPr>
          <a:xfrm>
            <a:off x="2853285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左大括号 90">
            <a:extLst>
              <a:ext uri="{FF2B5EF4-FFF2-40B4-BE49-F238E27FC236}">
                <a16:creationId xmlns:a16="http://schemas.microsoft.com/office/drawing/2014/main" id="{83A33A49-578D-D376-2F29-D72729114CF0}"/>
              </a:ext>
            </a:extLst>
          </p:cNvPr>
          <p:cNvSpPr/>
          <p:nvPr/>
        </p:nvSpPr>
        <p:spPr>
          <a:xfrm rot="5400000">
            <a:off x="4068070" y="1921185"/>
            <a:ext cx="576000" cy="4420733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604EB906-EE03-B997-CFF7-094CF98D7B3D}"/>
              </a:ext>
            </a:extLst>
          </p:cNvPr>
          <p:cNvSpPr/>
          <p:nvPr/>
        </p:nvSpPr>
        <p:spPr>
          <a:xfrm>
            <a:off x="2628376" y="3483612"/>
            <a:ext cx="4030144" cy="521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显示字段负责工厂整理后提出讨论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7ADE48C8-D127-3BCC-D9D2-58DC1DCC90A4}"/>
              </a:ext>
            </a:extLst>
          </p:cNvPr>
          <p:cNvSpPr/>
          <p:nvPr/>
        </p:nvSpPr>
        <p:spPr>
          <a:xfrm>
            <a:off x="6039754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300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E45620D-4B7C-34A9-7BC4-96E27DFD166A}"/>
              </a:ext>
            </a:extLst>
          </p:cNvPr>
          <p:cNvSpPr/>
          <p:nvPr/>
        </p:nvSpPr>
        <p:spPr>
          <a:xfrm>
            <a:off x="7312381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60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B7AC8366-8C7D-8DB8-E7AE-9CF671424C47}"/>
              </a:ext>
            </a:extLst>
          </p:cNvPr>
          <p:cNvSpPr/>
          <p:nvPr/>
        </p:nvSpPr>
        <p:spPr>
          <a:xfrm>
            <a:off x="8456796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240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948E242E-B6C6-C298-A11E-89CBC90FD0ED}"/>
              </a:ext>
            </a:extLst>
          </p:cNvPr>
          <p:cNvSpPr/>
          <p:nvPr/>
        </p:nvSpPr>
        <p:spPr>
          <a:xfrm>
            <a:off x="1505734" y="555312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号库</a:t>
            </a:r>
          </a:p>
        </p:txBody>
      </p:sp>
      <p:sp>
        <p:nvSpPr>
          <p:cNvPr id="97" name="标注: 下箭头 96">
            <a:extLst>
              <a:ext uri="{FF2B5EF4-FFF2-40B4-BE49-F238E27FC236}">
                <a16:creationId xmlns:a16="http://schemas.microsoft.com/office/drawing/2014/main" id="{D68C1064-36A9-31D0-1316-D7F450B9B6C6}"/>
              </a:ext>
            </a:extLst>
          </p:cNvPr>
          <p:cNvSpPr/>
          <p:nvPr/>
        </p:nvSpPr>
        <p:spPr>
          <a:xfrm>
            <a:off x="10738446" y="3348420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决定是否执行</a:t>
            </a:r>
          </a:p>
        </p:txBody>
      </p:sp>
      <p:sp>
        <p:nvSpPr>
          <p:cNvPr id="98" name="标注: 下箭头 97">
            <a:extLst>
              <a:ext uri="{FF2B5EF4-FFF2-40B4-BE49-F238E27FC236}">
                <a16:creationId xmlns:a16="http://schemas.microsoft.com/office/drawing/2014/main" id="{5A70CF80-0DE0-6AFF-F95B-C4324BCA7A97}"/>
              </a:ext>
            </a:extLst>
          </p:cNvPr>
          <p:cNvSpPr/>
          <p:nvPr/>
        </p:nvSpPr>
        <p:spPr>
          <a:xfrm>
            <a:off x="9380231" y="3348420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系统根据作业成本最低决定发货来源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05894643-4603-9AA9-7F35-98512CD096A6}"/>
              </a:ext>
            </a:extLst>
          </p:cNvPr>
          <p:cNvSpPr/>
          <p:nvPr/>
        </p:nvSpPr>
        <p:spPr>
          <a:xfrm>
            <a:off x="9602094" y="507352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40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A6C14D58-0BB0-3F90-8D8F-12F7023604F3}"/>
              </a:ext>
            </a:extLst>
          </p:cNvPr>
          <p:cNvSpPr/>
          <p:nvPr/>
        </p:nvSpPr>
        <p:spPr>
          <a:xfrm>
            <a:off x="9619278" y="556391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215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3DA9C05C-7C27-F771-90B9-4E04C27D6B4E}"/>
              </a:ext>
            </a:extLst>
          </p:cNvPr>
          <p:cNvSpPr/>
          <p:nvPr/>
        </p:nvSpPr>
        <p:spPr>
          <a:xfrm>
            <a:off x="1043364" y="1449885"/>
            <a:ext cx="2196000" cy="25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筛选条件由各厂讨论订之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60CA019-F4AD-76A3-CF6A-F31C5DF01ACC}"/>
              </a:ext>
            </a:extLst>
          </p:cNvPr>
          <p:cNvSpPr/>
          <p:nvPr/>
        </p:nvSpPr>
        <p:spPr>
          <a:xfrm>
            <a:off x="6053925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4DC5F6-879E-9AD0-8193-D6C3C8B13F2F}"/>
              </a:ext>
            </a:extLst>
          </p:cNvPr>
          <p:cNvSpPr/>
          <p:nvPr/>
        </p:nvSpPr>
        <p:spPr>
          <a:xfrm>
            <a:off x="7326552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065199A-DE87-E401-3E5B-EC6B02082A0B}"/>
              </a:ext>
            </a:extLst>
          </p:cNvPr>
          <p:cNvSpPr/>
          <p:nvPr/>
        </p:nvSpPr>
        <p:spPr>
          <a:xfrm>
            <a:off x="8470967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FF2036-B9B3-234B-2781-99E4715F2B4D}"/>
              </a:ext>
            </a:extLst>
          </p:cNvPr>
          <p:cNvSpPr/>
          <p:nvPr/>
        </p:nvSpPr>
        <p:spPr>
          <a:xfrm>
            <a:off x="1505734" y="599261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供应商预约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EA3AD11-61D8-119D-7343-A773CA7583BD}"/>
              </a:ext>
            </a:extLst>
          </p:cNvPr>
          <p:cNvSpPr/>
          <p:nvPr/>
        </p:nvSpPr>
        <p:spPr>
          <a:xfrm>
            <a:off x="9633449" y="602880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9FF0724-A22E-F716-BCF6-C264944FA616}"/>
              </a:ext>
            </a:extLst>
          </p:cNvPr>
          <p:cNvSpPr/>
          <p:nvPr/>
        </p:nvSpPr>
        <p:spPr>
          <a:xfrm>
            <a:off x="9553395" y="5106221"/>
            <a:ext cx="2355227" cy="165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系统默认，可修改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BC44DD-9B4A-E1CB-F087-87857F0652D9}"/>
              </a:ext>
            </a:extLst>
          </p:cNvPr>
          <p:cNvSpPr/>
          <p:nvPr/>
        </p:nvSpPr>
        <p:spPr>
          <a:xfrm>
            <a:off x="10872094" y="507352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F6041E2-62FC-55D4-120C-85739F6968BD}"/>
              </a:ext>
            </a:extLst>
          </p:cNvPr>
          <p:cNvSpPr/>
          <p:nvPr/>
        </p:nvSpPr>
        <p:spPr>
          <a:xfrm>
            <a:off x="10889278" y="556391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B349206-2761-B30F-A1CC-CCB7C2D678EE}"/>
              </a:ext>
            </a:extLst>
          </p:cNvPr>
          <p:cNvSpPr/>
          <p:nvPr/>
        </p:nvSpPr>
        <p:spPr>
          <a:xfrm>
            <a:off x="10903449" y="602880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0C2CC9-B13C-8DE7-C77A-B560D07EF239}"/>
              </a:ext>
            </a:extLst>
          </p:cNvPr>
          <p:cNvSpPr/>
          <p:nvPr/>
        </p:nvSpPr>
        <p:spPr>
          <a:xfrm>
            <a:off x="137404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BC233AE6-5A2C-6CC6-826B-3B1C32AC1F07}"/>
              </a:ext>
            </a:extLst>
          </p:cNvPr>
          <p:cNvSpPr/>
          <p:nvPr/>
        </p:nvSpPr>
        <p:spPr>
          <a:xfrm>
            <a:off x="20589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用户输入领料单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带出配送需求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流程图: 合并 16">
            <a:extLst>
              <a:ext uri="{FF2B5EF4-FFF2-40B4-BE49-F238E27FC236}">
                <a16:creationId xmlns:a16="http://schemas.microsoft.com/office/drawing/2014/main" id="{4631F32D-95A8-AF7A-2DDB-94E540159008}"/>
              </a:ext>
            </a:extLst>
          </p:cNvPr>
          <p:cNvSpPr/>
          <p:nvPr/>
        </p:nvSpPr>
        <p:spPr>
          <a:xfrm>
            <a:off x="221325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F734636-C9C3-0546-D4EA-DA5BDCB94D14}"/>
              </a:ext>
            </a:extLst>
          </p:cNvPr>
          <p:cNvSpPr/>
          <p:nvPr/>
        </p:nvSpPr>
        <p:spPr>
          <a:xfrm>
            <a:off x="10503592" y="1924688"/>
            <a:ext cx="1512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执行试算</a:t>
            </a:r>
          </a:p>
        </p:txBody>
      </p:sp>
      <p:sp>
        <p:nvSpPr>
          <p:cNvPr id="19" name="标注: 下箭头 18">
            <a:extLst>
              <a:ext uri="{FF2B5EF4-FFF2-40B4-BE49-F238E27FC236}">
                <a16:creationId xmlns:a16="http://schemas.microsoft.com/office/drawing/2014/main" id="{8B0B3996-2C6E-4FDF-9F99-E2CC2BA80DF9}"/>
              </a:ext>
            </a:extLst>
          </p:cNvPr>
          <p:cNvSpPr/>
          <p:nvPr/>
        </p:nvSpPr>
        <p:spPr>
          <a:xfrm>
            <a:off x="10634478" y="815493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点前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试算明天配送计划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B16171-FAE1-597E-ADB3-6A91AAD09385}"/>
              </a:ext>
            </a:extLst>
          </p:cNvPr>
          <p:cNvSpPr/>
          <p:nvPr/>
        </p:nvSpPr>
        <p:spPr>
          <a:xfrm>
            <a:off x="10427326" y="676828"/>
            <a:ext cx="1656000" cy="1980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8EBB7B6-031C-7083-50A1-3A5FF5EFCF9B}"/>
              </a:ext>
            </a:extLst>
          </p:cNvPr>
          <p:cNvSpPr/>
          <p:nvPr/>
        </p:nvSpPr>
        <p:spPr>
          <a:xfrm>
            <a:off x="302828" y="322286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配送需求日期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6A7ACEC-42CF-C967-8581-4322C6D3F93E}"/>
              </a:ext>
            </a:extLst>
          </p:cNvPr>
          <p:cNvSpPr/>
          <p:nvPr/>
        </p:nvSpPr>
        <p:spPr>
          <a:xfrm>
            <a:off x="302828" y="3841370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配送需求单号</a:t>
            </a:r>
          </a:p>
        </p:txBody>
      </p:sp>
    </p:spTree>
    <p:extLst>
      <p:ext uri="{BB962C8B-B14F-4D97-AF65-F5344CB8AC3E}">
        <p14:creationId xmlns:p14="http://schemas.microsoft.com/office/powerpoint/2010/main" val="179354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03D8-7DD8-C026-7028-B0DC307A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C31A26D-45C8-711D-898B-59FC6B0CD248}"/>
              </a:ext>
            </a:extLst>
          </p:cNvPr>
          <p:cNvSpPr/>
          <p:nvPr/>
        </p:nvSpPr>
        <p:spPr>
          <a:xfrm>
            <a:off x="946993" y="619638"/>
            <a:ext cx="576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三、拆解仓储任务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8DAD828-574C-C815-4F87-1C17673BCE6B}"/>
              </a:ext>
            </a:extLst>
          </p:cNvPr>
          <p:cNvSpPr/>
          <p:nvPr/>
        </p:nvSpPr>
        <p:spPr>
          <a:xfrm>
            <a:off x="2116276" y="1339638"/>
            <a:ext cx="9656624" cy="2991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设定各物资最大载配送量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设定不同配送单合并为一个仓储任务的条件</a:t>
            </a: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制定单一执行颗粒度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006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5DC1-5C02-7861-C1E2-2DE585B1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FE488935-3267-CC8D-274C-3024C10CD9E6}"/>
              </a:ext>
            </a:extLst>
          </p:cNvPr>
          <p:cNvSpPr/>
          <p:nvPr/>
        </p:nvSpPr>
        <p:spPr>
          <a:xfrm>
            <a:off x="211631" y="703381"/>
            <a:ext cx="5112119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   一    阶    段    输    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965E36B-C995-2AFB-FAB4-418CBC1E7186}"/>
              </a:ext>
            </a:extLst>
          </p:cNvPr>
          <p:cNvSpPr/>
          <p:nvPr/>
        </p:nvSpPr>
        <p:spPr>
          <a:xfrm>
            <a:off x="61625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E251CC7-DD3E-B38B-9070-6A99774AD4BE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71F531AB-6EBA-3EF5-2A93-663EF0C4A0AA}"/>
              </a:ext>
            </a:extLst>
          </p:cNvPr>
          <p:cNvSpPr/>
          <p:nvPr/>
        </p:nvSpPr>
        <p:spPr>
          <a:xfrm>
            <a:off x="365004" y="1734996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</a:t>
            </a:r>
          </a:p>
        </p:txBody>
      </p: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45C85C17-20DF-2B4E-7F31-96C2CAD4A504}"/>
              </a:ext>
            </a:extLst>
          </p:cNvPr>
          <p:cNvSpPr/>
          <p:nvPr/>
        </p:nvSpPr>
        <p:spPr>
          <a:xfrm>
            <a:off x="365004" y="2537525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sp>
        <p:nvSpPr>
          <p:cNvPr id="12" name="流程图: 文档 11">
            <a:extLst>
              <a:ext uri="{FF2B5EF4-FFF2-40B4-BE49-F238E27FC236}">
                <a16:creationId xmlns:a16="http://schemas.microsoft.com/office/drawing/2014/main" id="{76035026-A451-0C47-DBDA-82B6EE4FF3D2}"/>
              </a:ext>
            </a:extLst>
          </p:cNvPr>
          <p:cNvSpPr/>
          <p:nvPr/>
        </p:nvSpPr>
        <p:spPr>
          <a:xfrm>
            <a:off x="365004" y="4146576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码头延滞成本</a:t>
            </a:r>
          </a:p>
        </p:txBody>
      </p:sp>
      <p:sp>
        <p:nvSpPr>
          <p:cNvPr id="14" name="流程图: 文档 13">
            <a:extLst>
              <a:ext uri="{FF2B5EF4-FFF2-40B4-BE49-F238E27FC236}">
                <a16:creationId xmlns:a16="http://schemas.microsoft.com/office/drawing/2014/main" id="{55F1E146-EA34-7153-CA4A-2BAF370DDDC6}"/>
              </a:ext>
            </a:extLst>
          </p:cNvPr>
          <p:cNvSpPr/>
          <p:nvPr/>
        </p:nvSpPr>
        <p:spPr>
          <a:xfrm>
            <a:off x="365004" y="3327329"/>
            <a:ext cx="1440000" cy="720000"/>
          </a:xfrm>
          <a:prstGeom prst="flowChartDocumen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可用库存</a:t>
            </a: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A5C9E47F-0AB7-0476-FDF0-A4B8B8E29639}"/>
              </a:ext>
            </a:extLst>
          </p:cNvPr>
          <p:cNvSpPr/>
          <p:nvPr/>
        </p:nvSpPr>
        <p:spPr>
          <a:xfrm>
            <a:off x="352721" y="4950852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A5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仓储成本</a:t>
            </a: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id="{95E13D83-1C8F-57D5-0946-485F4C5172FA}"/>
              </a:ext>
            </a:extLst>
          </p:cNvPr>
          <p:cNvSpPr/>
          <p:nvPr/>
        </p:nvSpPr>
        <p:spPr>
          <a:xfrm>
            <a:off x="365004" y="5771579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领料部门断料成本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CF6A0F3-EDBF-DCA1-9458-F8FD74ED968E}"/>
              </a:ext>
            </a:extLst>
          </p:cNvPr>
          <p:cNvCxnSpPr>
            <a:cxnSpLocks/>
          </p:cNvCxnSpPr>
          <p:nvPr/>
        </p:nvCxnSpPr>
        <p:spPr>
          <a:xfrm flipH="1">
            <a:off x="57635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1F9E9497-6DC6-9F4D-C39A-760F8A326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第二阶段  拆解配送单  合并仓储任务</a:t>
            </a:r>
          </a:p>
        </p:txBody>
      </p:sp>
      <p:sp>
        <p:nvSpPr>
          <p:cNvPr id="83" name="流程图: 直接访问存储器 82">
            <a:extLst>
              <a:ext uri="{FF2B5EF4-FFF2-40B4-BE49-F238E27FC236}">
                <a16:creationId xmlns:a16="http://schemas.microsoft.com/office/drawing/2014/main" id="{F44A3824-30CE-CB5D-A4D0-A07BEE15E3CD}"/>
              </a:ext>
            </a:extLst>
          </p:cNvPr>
          <p:cNvSpPr/>
          <p:nvPr/>
        </p:nvSpPr>
        <p:spPr>
          <a:xfrm>
            <a:off x="2540000" y="3257525"/>
            <a:ext cx="1092200" cy="1609051"/>
          </a:xfrm>
          <a:prstGeom prst="flowChartMagneticDrum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货源分配</a:t>
            </a: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4B5ADF2A-F9A2-30B0-6722-B0F60588CE45}"/>
              </a:ext>
            </a:extLst>
          </p:cNvPr>
          <p:cNvCxnSpPr>
            <a:cxnSpLocks/>
            <a:stCxn id="12" idx="3"/>
            <a:endCxn id="83" idx="1"/>
          </p:cNvCxnSpPr>
          <p:nvPr/>
        </p:nvCxnSpPr>
        <p:spPr>
          <a:xfrm flipV="1">
            <a:off x="1805004" y="4062051"/>
            <a:ext cx="734996" cy="444525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04D13331-AE85-2B0A-2A4D-A6EA1CDF9E65}"/>
              </a:ext>
            </a:extLst>
          </p:cNvPr>
          <p:cNvCxnSpPr>
            <a:cxnSpLocks/>
            <a:stCxn id="24" idx="3"/>
            <a:endCxn id="83" idx="1"/>
          </p:cNvCxnSpPr>
          <p:nvPr/>
        </p:nvCxnSpPr>
        <p:spPr>
          <a:xfrm flipV="1">
            <a:off x="1792721" y="4062051"/>
            <a:ext cx="747279" cy="124880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4B6EF120-92DA-34C0-50B4-32BED28BD62B}"/>
              </a:ext>
            </a:extLst>
          </p:cNvPr>
          <p:cNvCxnSpPr>
            <a:cxnSpLocks/>
            <a:stCxn id="14" idx="3"/>
            <a:endCxn id="83" idx="1"/>
          </p:cNvCxnSpPr>
          <p:nvPr/>
        </p:nvCxnSpPr>
        <p:spPr>
          <a:xfrm>
            <a:off x="1805004" y="3687329"/>
            <a:ext cx="734996" cy="374722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2737B85-9841-12BF-67B6-CBF1D6D2EFFE}"/>
              </a:ext>
            </a:extLst>
          </p:cNvPr>
          <p:cNvCxnSpPr>
            <a:cxnSpLocks/>
            <a:stCxn id="11" idx="3"/>
            <a:endCxn id="83" idx="1"/>
          </p:cNvCxnSpPr>
          <p:nvPr/>
        </p:nvCxnSpPr>
        <p:spPr>
          <a:xfrm>
            <a:off x="1805004" y="2897525"/>
            <a:ext cx="734996" cy="1164526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D3CBAF67-BF78-5A13-E927-5FB06991B90B}"/>
              </a:ext>
            </a:extLst>
          </p:cNvPr>
          <p:cNvCxnSpPr>
            <a:cxnSpLocks/>
            <a:stCxn id="5" idx="3"/>
            <a:endCxn id="83" idx="1"/>
          </p:cNvCxnSpPr>
          <p:nvPr/>
        </p:nvCxnSpPr>
        <p:spPr>
          <a:xfrm>
            <a:off x="1805004" y="2094996"/>
            <a:ext cx="734996" cy="1967055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944095C0-BC5F-6B05-DFAB-BCED11CA5032}"/>
              </a:ext>
            </a:extLst>
          </p:cNvPr>
          <p:cNvCxnSpPr>
            <a:cxnSpLocks/>
            <a:stCxn id="25" idx="3"/>
            <a:endCxn id="83" idx="1"/>
          </p:cNvCxnSpPr>
          <p:nvPr/>
        </p:nvCxnSpPr>
        <p:spPr>
          <a:xfrm flipV="1">
            <a:off x="1805004" y="4062051"/>
            <a:ext cx="734996" cy="206952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流程图: 文档 101">
            <a:extLst>
              <a:ext uri="{FF2B5EF4-FFF2-40B4-BE49-F238E27FC236}">
                <a16:creationId xmlns:a16="http://schemas.microsoft.com/office/drawing/2014/main" id="{894E3147-571A-406A-52C0-29030B7E24A4}"/>
              </a:ext>
            </a:extLst>
          </p:cNvPr>
          <p:cNvSpPr/>
          <p:nvPr/>
        </p:nvSpPr>
        <p:spPr>
          <a:xfrm>
            <a:off x="4048850" y="3702050"/>
            <a:ext cx="1440000" cy="720000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A7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7BFAA041-94A1-5324-2541-68CB60AB0FC5}"/>
              </a:ext>
            </a:extLst>
          </p:cNvPr>
          <p:cNvCxnSpPr>
            <a:cxnSpLocks/>
            <a:stCxn id="83" idx="4"/>
            <a:endCxn id="102" idx="1"/>
          </p:cNvCxnSpPr>
          <p:nvPr/>
        </p:nvCxnSpPr>
        <p:spPr>
          <a:xfrm flipV="1">
            <a:off x="3632200" y="4062050"/>
            <a:ext cx="41665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圆角矩形 139">
            <a:extLst>
              <a:ext uri="{FF2B5EF4-FFF2-40B4-BE49-F238E27FC236}">
                <a16:creationId xmlns:a16="http://schemas.microsoft.com/office/drawing/2014/main" id="{368B75FD-A97B-F11B-FE22-5B18E9C9646E}"/>
              </a:ext>
            </a:extLst>
          </p:cNvPr>
          <p:cNvSpPr/>
          <p:nvPr/>
        </p:nvSpPr>
        <p:spPr>
          <a:xfrm>
            <a:off x="6410663" y="1771325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配送工具装载限制维护</a:t>
            </a:r>
          </a:p>
        </p:txBody>
      </p: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70641C80-B000-6C12-64A3-25DDB249CA03}"/>
              </a:ext>
            </a:extLst>
          </p:cNvPr>
          <p:cNvSpPr/>
          <p:nvPr/>
        </p:nvSpPr>
        <p:spPr>
          <a:xfrm>
            <a:off x="6338663" y="278271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配送工具及装载限制表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C3190F6-6102-B4FC-082B-6E8890A6028B}"/>
              </a:ext>
            </a:extLst>
          </p:cNvPr>
          <p:cNvCxnSpPr>
            <a:cxnSpLocks/>
          </p:cNvCxnSpPr>
          <p:nvPr/>
        </p:nvCxnSpPr>
        <p:spPr>
          <a:xfrm>
            <a:off x="7058663" y="2347325"/>
            <a:ext cx="0" cy="4353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76B8EB69-BFE9-0A40-A06E-ED6D6752DCA1}"/>
              </a:ext>
            </a:extLst>
          </p:cNvPr>
          <p:cNvSpPr/>
          <p:nvPr/>
        </p:nvSpPr>
        <p:spPr>
          <a:xfrm>
            <a:off x="8788400" y="3257525"/>
            <a:ext cx="1092200" cy="1609051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拆解配送单</a:t>
            </a: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930E2B0D-19D1-E367-BC61-00952F0349BE}"/>
              </a:ext>
            </a:extLst>
          </p:cNvPr>
          <p:cNvSpPr/>
          <p:nvPr/>
        </p:nvSpPr>
        <p:spPr>
          <a:xfrm>
            <a:off x="6338663" y="37020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1A352C6-61F0-20AB-D413-F672A62104CE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7778663" y="4062050"/>
            <a:ext cx="100973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F235FF2-D5DE-66FA-CE23-D6182D2A0243}"/>
              </a:ext>
            </a:extLst>
          </p:cNvPr>
          <p:cNvCxnSpPr>
            <a:cxnSpLocks/>
            <a:stCxn id="102" idx="3"/>
            <a:endCxn id="18" idx="1"/>
          </p:cNvCxnSpPr>
          <p:nvPr/>
        </p:nvCxnSpPr>
        <p:spPr>
          <a:xfrm>
            <a:off x="5488850" y="4062050"/>
            <a:ext cx="84981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736B3633-1232-DCB5-96CE-15BC7C1E6D01}"/>
              </a:ext>
            </a:extLst>
          </p:cNvPr>
          <p:cNvCxnSpPr>
            <a:stCxn id="3" idx="3"/>
            <a:endCxn id="15" idx="1"/>
          </p:cNvCxnSpPr>
          <p:nvPr/>
        </p:nvCxnSpPr>
        <p:spPr>
          <a:xfrm>
            <a:off x="7778663" y="3142713"/>
            <a:ext cx="1009737" cy="919338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F9E80C2F-C3B6-EEBD-2D9C-D077DC9882B4}"/>
              </a:ext>
            </a:extLst>
          </p:cNvPr>
          <p:cNvSpPr/>
          <p:nvPr/>
        </p:nvSpPr>
        <p:spPr>
          <a:xfrm>
            <a:off x="10536693" y="37020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B4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明细表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D5D174C-7086-507B-AA7E-CE22CDC67287}"/>
              </a:ext>
            </a:extLst>
          </p:cNvPr>
          <p:cNvCxnSpPr>
            <a:cxnSpLocks/>
            <a:stCxn id="15" idx="4"/>
            <a:endCxn id="30" idx="1"/>
          </p:cNvCxnSpPr>
          <p:nvPr/>
        </p:nvCxnSpPr>
        <p:spPr>
          <a:xfrm flipV="1">
            <a:off x="9880600" y="4062050"/>
            <a:ext cx="65609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圆角矩形 139">
            <a:extLst>
              <a:ext uri="{FF2B5EF4-FFF2-40B4-BE49-F238E27FC236}">
                <a16:creationId xmlns:a16="http://schemas.microsoft.com/office/drawing/2014/main" id="{F5390B05-2B35-E781-EB5C-208A9D3D9DE7}"/>
              </a:ext>
            </a:extLst>
          </p:cNvPr>
          <p:cNvSpPr/>
          <p:nvPr/>
        </p:nvSpPr>
        <p:spPr>
          <a:xfrm>
            <a:off x="6410663" y="5966234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物料对应叉车类型维护</a:t>
            </a:r>
          </a:p>
        </p:txBody>
      </p:sp>
      <p:sp>
        <p:nvSpPr>
          <p:cNvPr id="13" name="流程图: 文档 12">
            <a:extLst>
              <a:ext uri="{FF2B5EF4-FFF2-40B4-BE49-F238E27FC236}">
                <a16:creationId xmlns:a16="http://schemas.microsoft.com/office/drawing/2014/main" id="{16D692A4-EB1F-1E6D-FE8D-97FC76E47BCB}"/>
              </a:ext>
            </a:extLst>
          </p:cNvPr>
          <p:cNvSpPr/>
          <p:nvPr/>
        </p:nvSpPr>
        <p:spPr>
          <a:xfrm>
            <a:off x="6338663" y="4834142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物料与叉车对应表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F719046-B9EF-53EC-EE83-80F08FF493CC}"/>
              </a:ext>
            </a:extLst>
          </p:cNvPr>
          <p:cNvCxnSpPr>
            <a:stCxn id="10" idx="0"/>
            <a:endCxn id="13" idx="2"/>
          </p:cNvCxnSpPr>
          <p:nvPr/>
        </p:nvCxnSpPr>
        <p:spPr>
          <a:xfrm flipV="1">
            <a:off x="7058663" y="5506542"/>
            <a:ext cx="0" cy="4596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7F049660-8D7A-1B0D-924A-0A9E6614499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778663" y="4062051"/>
            <a:ext cx="1009737" cy="113209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DAFDF234-8C69-C8E6-F245-770A6AB78CF0}"/>
              </a:ext>
            </a:extLst>
          </p:cNvPr>
          <p:cNvSpPr/>
          <p:nvPr/>
        </p:nvSpPr>
        <p:spPr>
          <a:xfrm>
            <a:off x="6096000" y="2569609"/>
            <a:ext cx="1866531" cy="98913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7777F7-9E6F-8AD7-36D5-96E5CB0FC6F1}"/>
              </a:ext>
            </a:extLst>
          </p:cNvPr>
          <p:cNvSpPr/>
          <p:nvPr/>
        </p:nvSpPr>
        <p:spPr>
          <a:xfrm>
            <a:off x="6102263" y="4648624"/>
            <a:ext cx="1866531" cy="98913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27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300F6-125E-34D6-6035-8701636A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3189DF8-10A4-813A-365C-B1AEFB7F3992}"/>
              </a:ext>
            </a:extLst>
          </p:cNvPr>
          <p:cNvSpPr/>
          <p:nvPr/>
        </p:nvSpPr>
        <p:spPr>
          <a:xfrm>
            <a:off x="1413754" y="230789"/>
            <a:ext cx="9866895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配送量维护 </a:t>
            </a:r>
            <a:r>
              <a:rPr lang="en-US" altLang="zh-CN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– 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配置资材库存单次配送量上限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DD7017A-E02B-5DC7-266A-E980B2D57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15641"/>
              </p:ext>
            </p:extLst>
          </p:nvPr>
        </p:nvGraphicFramePr>
        <p:xfrm>
          <a:off x="565817" y="755444"/>
          <a:ext cx="10423024" cy="2602539"/>
        </p:xfrm>
        <a:graphic>
          <a:graphicData uri="http://schemas.openxmlformats.org/drawingml/2006/table">
            <a:tbl>
              <a:tblPr/>
              <a:tblGrid>
                <a:gridCol w="175768">
                  <a:extLst>
                    <a:ext uri="{9D8B030D-6E8A-4147-A177-3AD203B41FA5}">
                      <a16:colId xmlns:a16="http://schemas.microsoft.com/office/drawing/2014/main" val="41144388"/>
                    </a:ext>
                  </a:extLst>
                </a:gridCol>
                <a:gridCol w="1441295">
                  <a:extLst>
                    <a:ext uri="{9D8B030D-6E8A-4147-A177-3AD203B41FA5}">
                      <a16:colId xmlns:a16="http://schemas.microsoft.com/office/drawing/2014/main" val="1884606346"/>
                    </a:ext>
                  </a:extLst>
                </a:gridCol>
                <a:gridCol w="1441295">
                  <a:extLst>
                    <a:ext uri="{9D8B030D-6E8A-4147-A177-3AD203B41FA5}">
                      <a16:colId xmlns:a16="http://schemas.microsoft.com/office/drawing/2014/main" val="3720936954"/>
                    </a:ext>
                  </a:extLst>
                </a:gridCol>
                <a:gridCol w="1441295">
                  <a:extLst>
                    <a:ext uri="{9D8B030D-6E8A-4147-A177-3AD203B41FA5}">
                      <a16:colId xmlns:a16="http://schemas.microsoft.com/office/drawing/2014/main" val="1796312043"/>
                    </a:ext>
                  </a:extLst>
                </a:gridCol>
                <a:gridCol w="1441295">
                  <a:extLst>
                    <a:ext uri="{9D8B030D-6E8A-4147-A177-3AD203B41FA5}">
                      <a16:colId xmlns:a16="http://schemas.microsoft.com/office/drawing/2014/main" val="1432757447"/>
                    </a:ext>
                  </a:extLst>
                </a:gridCol>
                <a:gridCol w="1441295">
                  <a:extLst>
                    <a:ext uri="{9D8B030D-6E8A-4147-A177-3AD203B41FA5}">
                      <a16:colId xmlns:a16="http://schemas.microsoft.com/office/drawing/2014/main" val="473153363"/>
                    </a:ext>
                  </a:extLst>
                </a:gridCol>
                <a:gridCol w="1441295">
                  <a:extLst>
                    <a:ext uri="{9D8B030D-6E8A-4147-A177-3AD203B41FA5}">
                      <a16:colId xmlns:a16="http://schemas.microsoft.com/office/drawing/2014/main" val="4021123858"/>
                    </a:ext>
                  </a:extLst>
                </a:gridCol>
                <a:gridCol w="1599486">
                  <a:extLst>
                    <a:ext uri="{9D8B030D-6E8A-4147-A177-3AD203B41FA5}">
                      <a16:colId xmlns:a16="http://schemas.microsoft.com/office/drawing/2014/main" val="1880210327"/>
                    </a:ext>
                  </a:extLst>
                </a:gridCol>
              </a:tblGrid>
              <a:tr h="3146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厂内单次配送上限维护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096"/>
                  </a:ext>
                </a:extLst>
              </a:tr>
              <a:tr h="2155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09190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工厂代码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库存地点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仓储类型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包装方式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包装单位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单次配送量上限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22041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material_no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plant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storage_loc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storage_type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packaging_type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packaging_unit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max_delivery_qty_per_trip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144424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861178"/>
                  </a:ext>
                </a:extLst>
              </a:tr>
              <a:tr h="3476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200A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散装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679899"/>
                  </a:ext>
                </a:extLst>
              </a:tr>
              <a:tr h="3476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200A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托盘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250401"/>
                  </a:ext>
                </a:extLst>
              </a:tr>
              <a:tr h="3476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200A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1112</a:t>
                      </a:r>
                      <a:r>
                        <a:rPr lang="zh-CN" alt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？</a:t>
                      </a:r>
                      <a:endParaRPr lang="en-US" altLang="zh-CN" sz="2400" b="1" i="0" u="none" strike="noStrike" dirty="0">
                        <a:solidFill>
                          <a:srgbClr val="FF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z01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散装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2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？</a:t>
                      </a:r>
                      <a:endParaRPr lang="en-US" altLang="zh-CN" sz="2800" b="1" i="0" u="none" strike="noStrike" dirty="0">
                        <a:solidFill>
                          <a:srgbClr val="FF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7887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8DC9268-21B9-7F64-E151-A9E0615E1840}"/>
              </a:ext>
            </a:extLst>
          </p:cNvPr>
          <p:cNvSpPr/>
          <p:nvPr/>
        </p:nvSpPr>
        <p:spPr>
          <a:xfrm>
            <a:off x="9368584" y="1302286"/>
            <a:ext cx="1656000" cy="157913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A1A29EB-C431-3184-3000-CCC9312C6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534846"/>
              </p:ext>
            </p:extLst>
          </p:nvPr>
        </p:nvGraphicFramePr>
        <p:xfrm>
          <a:off x="377364" y="3320719"/>
          <a:ext cx="6044703" cy="3306492"/>
        </p:xfrm>
        <a:graphic>
          <a:graphicData uri="http://schemas.openxmlformats.org/drawingml/2006/table">
            <a:tbl>
              <a:tblPr/>
              <a:tblGrid>
                <a:gridCol w="84405">
                  <a:extLst>
                    <a:ext uri="{9D8B030D-6E8A-4147-A177-3AD203B41FA5}">
                      <a16:colId xmlns:a16="http://schemas.microsoft.com/office/drawing/2014/main" val="1529185390"/>
                    </a:ext>
                  </a:extLst>
                </a:gridCol>
                <a:gridCol w="5285057">
                  <a:extLst>
                    <a:ext uri="{9D8B030D-6E8A-4147-A177-3AD203B41FA5}">
                      <a16:colId xmlns:a16="http://schemas.microsoft.com/office/drawing/2014/main" val="3802682196"/>
                    </a:ext>
                  </a:extLst>
                </a:gridCol>
                <a:gridCol w="675241">
                  <a:extLst>
                    <a:ext uri="{9D8B030D-6E8A-4147-A177-3AD203B41FA5}">
                      <a16:colId xmlns:a16="http://schemas.microsoft.com/office/drawing/2014/main" val="2561858568"/>
                    </a:ext>
                  </a:extLst>
                </a:gridCol>
              </a:tblGrid>
              <a:tr h="27554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一、表单类别：输入界面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21193"/>
                  </a:ext>
                </a:extLst>
              </a:tr>
              <a:tr h="27554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二、使用时机：维护单次配送量上限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905482"/>
                  </a:ext>
                </a:extLst>
              </a:tr>
              <a:tr h="27554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三、使用部门：仓储部门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65654"/>
                  </a:ext>
                </a:extLst>
              </a:tr>
              <a:tr h="27554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四、使用方法： 作为系统拆解任务计算使用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25234"/>
                  </a:ext>
                </a:extLst>
              </a:tr>
              <a:tr h="27554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五、栏位说明：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7792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、物料号：维护配送物料号；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358604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、工厂代码：如工厂影响配送量，则维护工厂代码；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587149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、库存地点：如 厂内库存 与 码头库存 配送不一样，要维护库存地点；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12030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、仓储类型：如果不同码头的配送量不同，则需维护仓储类型；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95654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、包装方式：如不同包装方式影响配送量，则需维护 包装方式；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789993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、包装单位：如包装方式为集装箱，则要维护箱型；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001034"/>
                  </a:ext>
                </a:extLst>
              </a:tr>
              <a:tr h="275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、单次配送量上限：维护上述各项维度组合下单次最大配送量；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1908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28C4248-D2C7-DE35-C070-3C2E9B707A45}"/>
              </a:ext>
            </a:extLst>
          </p:cNvPr>
          <p:cNvSpPr/>
          <p:nvPr/>
        </p:nvSpPr>
        <p:spPr>
          <a:xfrm>
            <a:off x="3617493" y="1294266"/>
            <a:ext cx="1404000" cy="166158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006C68-A778-0E1C-064A-79EBE8C5BD5C}"/>
              </a:ext>
            </a:extLst>
          </p:cNvPr>
          <p:cNvSpPr/>
          <p:nvPr/>
        </p:nvSpPr>
        <p:spPr>
          <a:xfrm>
            <a:off x="4989091" y="1302288"/>
            <a:ext cx="1512000" cy="166158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4C0A21-F43A-8BE7-4225-C50E1E6CBC60}"/>
              </a:ext>
            </a:extLst>
          </p:cNvPr>
          <p:cNvSpPr/>
          <p:nvPr/>
        </p:nvSpPr>
        <p:spPr>
          <a:xfrm>
            <a:off x="6501090" y="3539714"/>
            <a:ext cx="5313545" cy="21507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342900" indent="-3429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原则只维护原料料号；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342900" indent="-3429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码头库存只给短驳计划，每车装多少由车队自行决定；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342900" indent="-3429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如果是备品物料，也不做任务拆解；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145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1923-7BB5-9658-EA3A-690F9473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9405E07-22A9-84C3-69E8-71170B1C61C3}"/>
              </a:ext>
            </a:extLst>
          </p:cNvPr>
          <p:cNvSpPr/>
          <p:nvPr/>
        </p:nvSpPr>
        <p:spPr>
          <a:xfrm>
            <a:off x="515391" y="345166"/>
            <a:ext cx="2452392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案例说明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B1340F2-DDA6-D30A-CD63-2FBACE40F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775978"/>
              </p:ext>
            </p:extLst>
          </p:nvPr>
        </p:nvGraphicFramePr>
        <p:xfrm>
          <a:off x="64167" y="930623"/>
          <a:ext cx="11967412" cy="5582211"/>
        </p:xfrm>
        <a:graphic>
          <a:graphicData uri="http://schemas.openxmlformats.org/drawingml/2006/table">
            <a:tbl>
              <a:tblPr/>
              <a:tblGrid>
                <a:gridCol w="904685">
                  <a:extLst>
                    <a:ext uri="{9D8B030D-6E8A-4147-A177-3AD203B41FA5}">
                      <a16:colId xmlns:a16="http://schemas.microsoft.com/office/drawing/2014/main" val="3714669102"/>
                    </a:ext>
                  </a:extLst>
                </a:gridCol>
                <a:gridCol w="580179">
                  <a:extLst>
                    <a:ext uri="{9D8B030D-6E8A-4147-A177-3AD203B41FA5}">
                      <a16:colId xmlns:a16="http://schemas.microsoft.com/office/drawing/2014/main" val="4110072798"/>
                    </a:ext>
                  </a:extLst>
                </a:gridCol>
                <a:gridCol w="745975">
                  <a:extLst>
                    <a:ext uri="{9D8B030D-6E8A-4147-A177-3AD203B41FA5}">
                      <a16:colId xmlns:a16="http://schemas.microsoft.com/office/drawing/2014/main" val="1248237266"/>
                    </a:ext>
                  </a:extLst>
                </a:gridCol>
                <a:gridCol w="705339">
                  <a:extLst>
                    <a:ext uri="{9D8B030D-6E8A-4147-A177-3AD203B41FA5}">
                      <a16:colId xmlns:a16="http://schemas.microsoft.com/office/drawing/2014/main" val="4279585656"/>
                    </a:ext>
                  </a:extLst>
                </a:gridCol>
                <a:gridCol w="770952">
                  <a:extLst>
                    <a:ext uri="{9D8B030D-6E8A-4147-A177-3AD203B41FA5}">
                      <a16:colId xmlns:a16="http://schemas.microsoft.com/office/drawing/2014/main" val="1154238178"/>
                    </a:ext>
                  </a:extLst>
                </a:gridCol>
                <a:gridCol w="967790">
                  <a:extLst>
                    <a:ext uri="{9D8B030D-6E8A-4147-A177-3AD203B41FA5}">
                      <a16:colId xmlns:a16="http://schemas.microsoft.com/office/drawing/2014/main" val="2763103064"/>
                    </a:ext>
                  </a:extLst>
                </a:gridCol>
                <a:gridCol w="688935">
                  <a:extLst>
                    <a:ext uri="{9D8B030D-6E8A-4147-A177-3AD203B41FA5}">
                      <a16:colId xmlns:a16="http://schemas.microsoft.com/office/drawing/2014/main" val="944881785"/>
                    </a:ext>
                  </a:extLst>
                </a:gridCol>
                <a:gridCol w="951388">
                  <a:extLst>
                    <a:ext uri="{9D8B030D-6E8A-4147-A177-3AD203B41FA5}">
                      <a16:colId xmlns:a16="http://schemas.microsoft.com/office/drawing/2014/main" val="555433997"/>
                    </a:ext>
                  </a:extLst>
                </a:gridCol>
                <a:gridCol w="1109076">
                  <a:extLst>
                    <a:ext uri="{9D8B030D-6E8A-4147-A177-3AD203B41FA5}">
                      <a16:colId xmlns:a16="http://schemas.microsoft.com/office/drawing/2014/main" val="1016079529"/>
                    </a:ext>
                  </a:extLst>
                </a:gridCol>
                <a:gridCol w="894852">
                  <a:extLst>
                    <a:ext uri="{9D8B030D-6E8A-4147-A177-3AD203B41FA5}">
                      <a16:colId xmlns:a16="http://schemas.microsoft.com/office/drawing/2014/main" val="506705372"/>
                    </a:ext>
                  </a:extLst>
                </a:gridCol>
                <a:gridCol w="1355888">
                  <a:extLst>
                    <a:ext uri="{9D8B030D-6E8A-4147-A177-3AD203B41FA5}">
                      <a16:colId xmlns:a16="http://schemas.microsoft.com/office/drawing/2014/main" val="553204670"/>
                    </a:ext>
                  </a:extLst>
                </a:gridCol>
                <a:gridCol w="1410677">
                  <a:extLst>
                    <a:ext uri="{9D8B030D-6E8A-4147-A177-3AD203B41FA5}">
                      <a16:colId xmlns:a16="http://schemas.microsoft.com/office/drawing/2014/main" val="1248790483"/>
                    </a:ext>
                  </a:extLst>
                </a:gridCol>
                <a:gridCol w="881676">
                  <a:extLst>
                    <a:ext uri="{9D8B030D-6E8A-4147-A177-3AD203B41FA5}">
                      <a16:colId xmlns:a16="http://schemas.microsoft.com/office/drawing/2014/main" val="170565028"/>
                    </a:ext>
                  </a:extLst>
                </a:gridCol>
              </a:tblGrid>
              <a:tr h="7727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第一阶段 决定 每个配送需求号的供货源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第二阶段 拆解仓储任务</a:t>
                      </a:r>
                      <a:r>
                        <a:rPr lang="en-US" alt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配送单</a:t>
                      </a:r>
                      <a:r>
                        <a:rPr lang="en-US" alt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68447"/>
                  </a:ext>
                </a:extLst>
              </a:tr>
              <a:tr h="4259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领料需求单号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领用需求总量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配送需求单号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配送需求数量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预计配送数量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货物来源类型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库存地点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物料号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收货批次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ATMS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预约号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仓储任务号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配送单号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仓储任务预计配送数量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176765"/>
                  </a:ext>
                </a:extLst>
              </a:tr>
              <a:tr h="331992"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DEL-202602-1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250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55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厂内资材库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1103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0000000001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DEL-20260214-001-00A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DEL-20260214-001-001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070507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DEL-20260214-001-00B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DEL-20260214-001-002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142319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35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厂内资材库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1103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0000000002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DEL-20260214-001-00B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DEL-20260214-001-003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68605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DEL-20260214-001-00C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DEL-20260214-001-004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121811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码头仓库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1112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0000000003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DEL-20260214-001-00D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DEL-20260214-001-005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384368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DEL-20260214-001-00E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DEL-20260214-001-006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7703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120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CEE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码头仓库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1112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13000000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0000000003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DEL-20260218-002-00A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DEL-20260218-002-001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57951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DEL-20260218-002-00B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DEL-20260218-002-002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220168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DEL-20260218-002-00C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DEL-20260218-002-003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396566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CE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微软雅黑" panose="020B0503020204020204" pitchFamily="34" charset="-122"/>
                        </a:rPr>
                        <a:t>供应商送货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ATMS 0001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DEL-20260218-002-00D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DEL-20260218-002-004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311517"/>
                  </a:ext>
                </a:extLst>
              </a:tr>
              <a:tr h="3319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ATMS 0002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DEL-20260218-002-00E</a:t>
                      </a:r>
                    </a:p>
                  </a:txBody>
                  <a:tcPr marL="4552" marR="4552" marT="45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DEL-20260218-002-005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A4BF089-8BD3-1930-5629-5F4242E4F9BA}"/>
              </a:ext>
            </a:extLst>
          </p:cNvPr>
          <p:cNvSpPr/>
          <p:nvPr/>
        </p:nvSpPr>
        <p:spPr>
          <a:xfrm>
            <a:off x="2967783" y="1705728"/>
            <a:ext cx="1780679" cy="4807106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1E8649-E455-C723-7E26-20B629337280}"/>
              </a:ext>
            </a:extLst>
          </p:cNvPr>
          <p:cNvSpPr/>
          <p:nvPr/>
        </p:nvSpPr>
        <p:spPr>
          <a:xfrm>
            <a:off x="9721515" y="2807368"/>
            <a:ext cx="2368477" cy="77002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线形标注 1 1">
            <a:extLst>
              <a:ext uri="{FF2B5EF4-FFF2-40B4-BE49-F238E27FC236}">
                <a16:creationId xmlns:a16="http://schemas.microsoft.com/office/drawing/2014/main" id="{62E7E6CE-A98C-F0A3-CC11-2CCEB3D856DF}"/>
              </a:ext>
            </a:extLst>
          </p:cNvPr>
          <p:cNvSpPr/>
          <p:nvPr/>
        </p:nvSpPr>
        <p:spPr>
          <a:xfrm>
            <a:off x="4748462" y="5678310"/>
            <a:ext cx="1357355" cy="498133"/>
          </a:xfrm>
          <a:prstGeom prst="borderCallout1">
            <a:avLst>
              <a:gd name="adj1" fmla="val 1035"/>
              <a:gd name="adj2" fmla="val 275"/>
              <a:gd name="adj3" fmla="val -86896"/>
              <a:gd name="adj4" fmla="val -100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决定货源</a:t>
            </a:r>
          </a:p>
        </p:txBody>
      </p:sp>
      <p:sp>
        <p:nvSpPr>
          <p:cNvPr id="11" name="线形标注 1 1">
            <a:extLst>
              <a:ext uri="{FF2B5EF4-FFF2-40B4-BE49-F238E27FC236}">
                <a16:creationId xmlns:a16="http://schemas.microsoft.com/office/drawing/2014/main" id="{55C66316-0638-1F43-5C68-066B370D2530}"/>
              </a:ext>
            </a:extLst>
          </p:cNvPr>
          <p:cNvSpPr/>
          <p:nvPr/>
        </p:nvSpPr>
        <p:spPr>
          <a:xfrm>
            <a:off x="10377445" y="4109281"/>
            <a:ext cx="1541839" cy="498133"/>
          </a:xfrm>
          <a:prstGeom prst="borderCallout1">
            <a:avLst>
              <a:gd name="adj1" fmla="val -18288"/>
              <a:gd name="adj2" fmla="val 72369"/>
              <a:gd name="adj3" fmla="val -122321"/>
              <a:gd name="adj4" fmla="val 8333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拆解配送单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AB8724-2428-A473-8556-0B6CF57EC731}"/>
              </a:ext>
            </a:extLst>
          </p:cNvPr>
          <p:cNvSpPr/>
          <p:nvPr/>
        </p:nvSpPr>
        <p:spPr>
          <a:xfrm>
            <a:off x="8365956" y="2783306"/>
            <a:ext cx="2808000" cy="770021"/>
          </a:xfrm>
          <a:prstGeom prst="rect">
            <a:avLst/>
          </a:prstGeom>
          <a:noFill/>
          <a:ln w="571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线形标注 1 1">
            <a:extLst>
              <a:ext uri="{FF2B5EF4-FFF2-40B4-BE49-F238E27FC236}">
                <a16:creationId xmlns:a16="http://schemas.microsoft.com/office/drawing/2014/main" id="{53B6D787-CDBA-0D08-1B2F-327F0BB6DBF3}"/>
              </a:ext>
            </a:extLst>
          </p:cNvPr>
          <p:cNvSpPr/>
          <p:nvPr/>
        </p:nvSpPr>
        <p:spPr>
          <a:xfrm>
            <a:off x="7417677" y="3924799"/>
            <a:ext cx="1357355" cy="498133"/>
          </a:xfrm>
          <a:prstGeom prst="borderCallout1">
            <a:avLst>
              <a:gd name="adj1" fmla="val -18288"/>
              <a:gd name="adj2" fmla="val 72369"/>
              <a:gd name="adj3" fmla="val -86896"/>
              <a:gd name="adj4" fmla="val 916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合并任务</a:t>
            </a:r>
          </a:p>
        </p:txBody>
      </p:sp>
    </p:spTree>
    <p:extLst>
      <p:ext uri="{BB962C8B-B14F-4D97-AF65-F5344CB8AC3E}">
        <p14:creationId xmlns:p14="http://schemas.microsoft.com/office/powerpoint/2010/main" val="223555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00EAA-4D18-CBB4-6EDD-86A74E3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10AC2B9E-9FAE-B048-844F-1EE9A3FA8FF4}"/>
              </a:ext>
            </a:extLst>
          </p:cNvPr>
          <p:cNvSpPr/>
          <p:nvPr/>
        </p:nvSpPr>
        <p:spPr>
          <a:xfrm>
            <a:off x="51198" y="1662691"/>
            <a:ext cx="12096000" cy="38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02DD0B4-0EAE-BE7C-6730-C33CD953806E}"/>
              </a:ext>
            </a:extLst>
          </p:cNvPr>
          <p:cNvSpPr/>
          <p:nvPr/>
        </p:nvSpPr>
        <p:spPr>
          <a:xfrm>
            <a:off x="32661" y="0"/>
            <a:ext cx="12006963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界面二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 确认 仓储任务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)-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重点在资材库配送的拆单合理性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02FB8FF-1E10-977B-D9DD-623071858395}"/>
              </a:ext>
            </a:extLst>
          </p:cNvPr>
          <p:cNvSpPr/>
          <p:nvPr/>
        </p:nvSpPr>
        <p:spPr>
          <a:xfrm>
            <a:off x="200368" y="171972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配送需求日期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DCB7E8C-F51A-13B1-AD2D-7F8E5339EC9C}"/>
              </a:ext>
            </a:extLst>
          </p:cNvPr>
          <p:cNvSpPr/>
          <p:nvPr/>
        </p:nvSpPr>
        <p:spPr>
          <a:xfrm>
            <a:off x="1446000" y="171972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配送需求单号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F9F3D77-4C60-133D-0CC3-6B653F407840}"/>
              </a:ext>
            </a:extLst>
          </p:cNvPr>
          <p:cNvSpPr/>
          <p:nvPr/>
        </p:nvSpPr>
        <p:spPr>
          <a:xfrm>
            <a:off x="102369" y="2350509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配送需求总量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8ECBC04-90F4-B283-4C42-8EEEC0A938D6}"/>
              </a:ext>
            </a:extLst>
          </p:cNvPr>
          <p:cNvSpPr/>
          <p:nvPr/>
        </p:nvSpPr>
        <p:spPr>
          <a:xfrm>
            <a:off x="3910824" y="171972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1864EF2-FAFA-CE57-D7C3-74A99D761440}"/>
              </a:ext>
            </a:extLst>
          </p:cNvPr>
          <p:cNvSpPr/>
          <p:nvPr/>
        </p:nvSpPr>
        <p:spPr>
          <a:xfrm>
            <a:off x="2353925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任务号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E0FF0D3-4BAA-035C-43A5-2FF403D063A2}"/>
              </a:ext>
            </a:extLst>
          </p:cNvPr>
          <p:cNvSpPr/>
          <p:nvPr/>
        </p:nvSpPr>
        <p:spPr>
          <a:xfrm>
            <a:off x="4606011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2B73CD7-684E-E473-645D-82A1D6738C77}"/>
              </a:ext>
            </a:extLst>
          </p:cNvPr>
          <p:cNvSpPr/>
          <p:nvPr/>
        </p:nvSpPr>
        <p:spPr>
          <a:xfrm>
            <a:off x="347820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配送单号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4D85099-83C2-A08B-BC73-BBA5E68D387A}"/>
              </a:ext>
            </a:extLst>
          </p:cNvPr>
          <p:cNvSpPr/>
          <p:nvPr/>
        </p:nvSpPr>
        <p:spPr>
          <a:xfrm>
            <a:off x="9108495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配送任务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3F6B2A7-6963-9C9C-A67F-D366A57E18EC}"/>
              </a:ext>
            </a:extLst>
          </p:cNvPr>
          <p:cNvSpPr/>
          <p:nvPr/>
        </p:nvSpPr>
        <p:spPr>
          <a:xfrm>
            <a:off x="102369" y="2962464"/>
            <a:ext cx="1074657" cy="5750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6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dirty="0">
              <a:solidFill>
                <a:schemeClr val="accent6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282064-5C9C-D811-F098-7AA90ADB40C9}"/>
              </a:ext>
            </a:extLst>
          </p:cNvPr>
          <p:cNvSpPr/>
          <p:nvPr/>
        </p:nvSpPr>
        <p:spPr>
          <a:xfrm>
            <a:off x="235392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11641F4-79E7-46C1-F9EC-3C7D0C4155FD}"/>
              </a:ext>
            </a:extLst>
          </p:cNvPr>
          <p:cNvSpPr/>
          <p:nvPr/>
        </p:nvSpPr>
        <p:spPr>
          <a:xfrm>
            <a:off x="2353925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247B359-FC72-73A8-1325-4D55C8DE7980}"/>
              </a:ext>
            </a:extLst>
          </p:cNvPr>
          <p:cNvSpPr/>
          <p:nvPr/>
        </p:nvSpPr>
        <p:spPr>
          <a:xfrm>
            <a:off x="2353925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0003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2C0956A-802B-8FBF-9F97-3B9320D689A7}"/>
              </a:ext>
            </a:extLst>
          </p:cNvPr>
          <p:cNvSpPr/>
          <p:nvPr/>
        </p:nvSpPr>
        <p:spPr>
          <a:xfrm>
            <a:off x="4606011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1E6911D-98AC-71EE-46A9-7ACAEA4EBB9E}"/>
              </a:ext>
            </a:extLst>
          </p:cNvPr>
          <p:cNvSpPr/>
          <p:nvPr/>
        </p:nvSpPr>
        <p:spPr>
          <a:xfrm>
            <a:off x="4606011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码头仓库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D2AA8AE-DDB8-4BFC-058B-D7E4A7091FB9}"/>
              </a:ext>
            </a:extLst>
          </p:cNvPr>
          <p:cNvSpPr/>
          <p:nvPr/>
        </p:nvSpPr>
        <p:spPr>
          <a:xfrm>
            <a:off x="4606011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33CFBE5-2B71-1A03-8D79-6C9FF5721E42}"/>
              </a:ext>
            </a:extLst>
          </p:cNvPr>
          <p:cNvSpPr/>
          <p:nvPr/>
        </p:nvSpPr>
        <p:spPr>
          <a:xfrm>
            <a:off x="347820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CAD3A50-23D5-7533-243B-0F8FB043D09E}"/>
              </a:ext>
            </a:extLst>
          </p:cNvPr>
          <p:cNvSpPr/>
          <p:nvPr/>
        </p:nvSpPr>
        <p:spPr>
          <a:xfrm>
            <a:off x="347820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A25A8B6-DAEC-9A06-91C7-0EDBC26F2A83}"/>
              </a:ext>
            </a:extLst>
          </p:cNvPr>
          <p:cNvSpPr/>
          <p:nvPr/>
        </p:nvSpPr>
        <p:spPr>
          <a:xfrm>
            <a:off x="347820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PS0003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08AE5CA-7F17-1519-8CED-AE50ED2B3706}"/>
              </a:ext>
            </a:extLst>
          </p:cNvPr>
          <p:cNvSpPr/>
          <p:nvPr/>
        </p:nvSpPr>
        <p:spPr>
          <a:xfrm>
            <a:off x="91084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04440F-1C10-259F-384B-1C83B52A4D0B}"/>
              </a:ext>
            </a:extLst>
          </p:cNvPr>
          <p:cNvSpPr/>
          <p:nvPr/>
        </p:nvSpPr>
        <p:spPr>
          <a:xfrm>
            <a:off x="9108495" y="3569709"/>
            <a:ext cx="1080000" cy="576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436CA19-9821-6770-3C97-1AF2A3FDFC96}"/>
              </a:ext>
            </a:extLst>
          </p:cNvPr>
          <p:cNvSpPr/>
          <p:nvPr/>
        </p:nvSpPr>
        <p:spPr>
          <a:xfrm>
            <a:off x="9108495" y="4181664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30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EBA1E0CC-9456-B9E9-A505-0C8B92D3A420}"/>
              </a:ext>
            </a:extLst>
          </p:cNvPr>
          <p:cNvSpPr/>
          <p:nvPr/>
        </p:nvSpPr>
        <p:spPr>
          <a:xfrm>
            <a:off x="1225981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配送任务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总量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FABB54DC-5D91-1F1D-76D6-24586D928990}"/>
              </a:ext>
            </a:extLst>
          </p:cNvPr>
          <p:cNvSpPr/>
          <p:nvPr/>
        </p:nvSpPr>
        <p:spPr>
          <a:xfrm>
            <a:off x="1225981" y="2962464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56A6B97-66D4-DA54-AC49-3577F2C43F0F}"/>
              </a:ext>
            </a:extLst>
          </p:cNvPr>
          <p:cNvSpPr/>
          <p:nvPr/>
        </p:nvSpPr>
        <p:spPr>
          <a:xfrm>
            <a:off x="11366220" y="2350509"/>
            <a:ext cx="730193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确认执行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782CE0D1-9255-4613-0454-F439D2B5AFE5}"/>
              </a:ext>
            </a:extLst>
          </p:cNvPr>
          <p:cNvSpPr/>
          <p:nvPr/>
        </p:nvSpPr>
        <p:spPr>
          <a:xfrm>
            <a:off x="191383" y="5479768"/>
            <a:ext cx="11906887" cy="12934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考量最小配送单位数量，系统可设置配送需求数量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容差值，允许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配送任务总量 ≧ 配送需求总量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仓储任务号状态为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“进厂前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供应商送货、码头短驳进厂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“创建拣配行项目前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，可取消任务，其他状态则在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配送进度查询作业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仅可对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发货者，进行 配送任务数量 修改。 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1AAC496-1D1E-C405-9404-94B990F2746F}"/>
              </a:ext>
            </a:extLst>
          </p:cNvPr>
          <p:cNvSpPr/>
          <p:nvPr/>
        </p:nvSpPr>
        <p:spPr>
          <a:xfrm>
            <a:off x="135096" y="1501050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697B66C-9BA4-6D25-191E-134F804043DB}"/>
              </a:ext>
            </a:extLst>
          </p:cNvPr>
          <p:cNvSpPr/>
          <p:nvPr/>
        </p:nvSpPr>
        <p:spPr>
          <a:xfrm>
            <a:off x="179102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330CD86-4482-EAEF-54B5-5F9984970CEE}"/>
              </a:ext>
            </a:extLst>
          </p:cNvPr>
          <p:cNvSpPr/>
          <p:nvPr/>
        </p:nvSpPr>
        <p:spPr>
          <a:xfrm>
            <a:off x="2643926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9D5C4E3-440F-F437-D445-FE031427472A}"/>
              </a:ext>
            </a:extLst>
          </p:cNvPr>
          <p:cNvSpPr/>
          <p:nvPr/>
        </p:nvSpPr>
        <p:spPr>
          <a:xfrm>
            <a:off x="3852093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结单判断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336AFF1-B745-FE33-26E2-DAF6529D7EE8}"/>
              </a:ext>
            </a:extLst>
          </p:cNvPr>
          <p:cNvSpPr/>
          <p:nvPr/>
        </p:nvSpPr>
        <p:spPr>
          <a:xfrm>
            <a:off x="10120729" y="783690"/>
            <a:ext cx="1918895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3AB7BD6-8501-74F2-EA95-0E445C01C061}"/>
              </a:ext>
            </a:extLst>
          </p:cNvPr>
          <p:cNvSpPr/>
          <p:nvPr/>
        </p:nvSpPr>
        <p:spPr>
          <a:xfrm>
            <a:off x="5092618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开单日期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A2B0EC34-8270-3AAA-ECFF-5F4071F74235}"/>
              </a:ext>
            </a:extLst>
          </p:cNvPr>
          <p:cNvSpPr/>
          <p:nvPr/>
        </p:nvSpPr>
        <p:spPr>
          <a:xfrm>
            <a:off x="6355478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E8B873DA-CF1D-2726-F810-D215E4ED6802}"/>
              </a:ext>
            </a:extLst>
          </p:cNvPr>
          <p:cNvSpPr/>
          <p:nvPr/>
        </p:nvSpPr>
        <p:spPr>
          <a:xfrm>
            <a:off x="7525517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64B0E924-94CD-2EDE-3BF7-6AFF70096BF7}"/>
              </a:ext>
            </a:extLst>
          </p:cNvPr>
          <p:cNvSpPr/>
          <p:nvPr/>
        </p:nvSpPr>
        <p:spPr>
          <a:xfrm>
            <a:off x="8722275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到门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自提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18DE07-4E7C-3C9C-87AF-67AE0EF73417}"/>
              </a:ext>
            </a:extLst>
          </p:cNvPr>
          <p:cNvSpPr/>
          <p:nvPr/>
        </p:nvSpPr>
        <p:spPr>
          <a:xfrm>
            <a:off x="10226095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实际数量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DC77FF-D014-E873-F4F7-765BD59955D0}"/>
              </a:ext>
            </a:extLst>
          </p:cNvPr>
          <p:cNvSpPr/>
          <p:nvPr/>
        </p:nvSpPr>
        <p:spPr>
          <a:xfrm>
            <a:off x="102260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19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4890B8-BB22-2023-7AB0-5C33B8BD79AA}"/>
              </a:ext>
            </a:extLst>
          </p:cNvPr>
          <p:cNvSpPr/>
          <p:nvPr/>
        </p:nvSpPr>
        <p:spPr>
          <a:xfrm>
            <a:off x="10226095" y="3569709"/>
            <a:ext cx="1080000" cy="576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26C4EB-25CC-0685-D070-0BA90CC2C2C5}"/>
              </a:ext>
            </a:extLst>
          </p:cNvPr>
          <p:cNvSpPr/>
          <p:nvPr/>
        </p:nvSpPr>
        <p:spPr>
          <a:xfrm>
            <a:off x="10226095" y="4181664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14C573-8E3D-AEC0-30EC-E4B285F4942F}"/>
              </a:ext>
            </a:extLst>
          </p:cNvPr>
          <p:cNvSpPr/>
          <p:nvPr/>
        </p:nvSpPr>
        <p:spPr>
          <a:xfrm>
            <a:off x="5730295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E3CC2-B3D3-8F94-534B-47EDBDC836C9}"/>
              </a:ext>
            </a:extLst>
          </p:cNvPr>
          <p:cNvSpPr/>
          <p:nvPr/>
        </p:nvSpPr>
        <p:spPr>
          <a:xfrm>
            <a:off x="57302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320E7C-5BE4-B45A-A9D3-ECA60BFE4783}"/>
              </a:ext>
            </a:extLst>
          </p:cNvPr>
          <p:cNvSpPr/>
          <p:nvPr/>
        </p:nvSpPr>
        <p:spPr>
          <a:xfrm>
            <a:off x="5730295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进厂前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E5AC8C-7FDC-747F-E13D-26B7E593E65B}"/>
              </a:ext>
            </a:extLst>
          </p:cNvPr>
          <p:cNvSpPr/>
          <p:nvPr/>
        </p:nvSpPr>
        <p:spPr>
          <a:xfrm>
            <a:off x="5730295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作业中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62ED39-F32D-E8EF-5F7F-58558C87BE02}"/>
              </a:ext>
            </a:extLst>
          </p:cNvPr>
          <p:cNvSpPr/>
          <p:nvPr/>
        </p:nvSpPr>
        <p:spPr>
          <a:xfrm>
            <a:off x="1424734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04ED75-7BAB-0471-FC93-BB0AD237849A}"/>
              </a:ext>
            </a:extLst>
          </p:cNvPr>
          <p:cNvSpPr/>
          <p:nvPr/>
        </p:nvSpPr>
        <p:spPr>
          <a:xfrm>
            <a:off x="2665192" y="171972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00C21F9-C6C8-F846-1440-6816B6C17CAD}"/>
              </a:ext>
            </a:extLst>
          </p:cNvPr>
          <p:cNvSpPr/>
          <p:nvPr/>
        </p:nvSpPr>
        <p:spPr>
          <a:xfrm>
            <a:off x="797885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762F5D-CCC6-D391-43D7-81D8F5F38B61}"/>
              </a:ext>
            </a:extLst>
          </p:cNvPr>
          <p:cNvSpPr/>
          <p:nvPr/>
        </p:nvSpPr>
        <p:spPr>
          <a:xfrm>
            <a:off x="797885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68E1A0-88F8-D9CD-6739-532ABE9574FA}"/>
              </a:ext>
            </a:extLst>
          </p:cNvPr>
          <p:cNvSpPr/>
          <p:nvPr/>
        </p:nvSpPr>
        <p:spPr>
          <a:xfrm>
            <a:off x="797885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E769B9-BF31-0786-7E8A-840AC73FDCFB}"/>
              </a:ext>
            </a:extLst>
          </p:cNvPr>
          <p:cNvSpPr/>
          <p:nvPr/>
        </p:nvSpPr>
        <p:spPr>
          <a:xfrm>
            <a:off x="797885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AC8547D-ECF2-A08D-37B3-5DE698B5F0A2}"/>
              </a:ext>
            </a:extLst>
          </p:cNvPr>
          <p:cNvSpPr/>
          <p:nvPr/>
        </p:nvSpPr>
        <p:spPr>
          <a:xfrm>
            <a:off x="11131962" y="2962464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DF64212-E0E4-B299-CEBA-C581437FEEF6}"/>
              </a:ext>
            </a:extLst>
          </p:cNvPr>
          <p:cNvSpPr/>
          <p:nvPr/>
        </p:nvSpPr>
        <p:spPr>
          <a:xfrm>
            <a:off x="11131962" y="3569709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F01AC37-8E1E-4302-F917-3223B692D9D9}"/>
              </a:ext>
            </a:extLst>
          </p:cNvPr>
          <p:cNvSpPr/>
          <p:nvPr/>
        </p:nvSpPr>
        <p:spPr>
          <a:xfrm>
            <a:off x="11131962" y="4244493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2FB35DB-2B57-CB0B-8283-F5C2C0EFEE10}"/>
              </a:ext>
            </a:extLst>
          </p:cNvPr>
          <p:cNvSpPr/>
          <p:nvPr/>
        </p:nvSpPr>
        <p:spPr>
          <a:xfrm>
            <a:off x="684855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C9B20F7-85F3-D388-B950-A79F810D4251}"/>
              </a:ext>
            </a:extLst>
          </p:cNvPr>
          <p:cNvSpPr/>
          <p:nvPr/>
        </p:nvSpPr>
        <p:spPr>
          <a:xfrm>
            <a:off x="684855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早上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315B197-168B-A66B-17F8-D09FCAFF3C7A}"/>
              </a:ext>
            </a:extLst>
          </p:cNvPr>
          <p:cNvSpPr/>
          <p:nvPr/>
        </p:nvSpPr>
        <p:spPr>
          <a:xfrm>
            <a:off x="684855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晚上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21C3BF-9B7E-DEDD-1A9E-65FB56D32924}"/>
              </a:ext>
            </a:extLst>
          </p:cNvPr>
          <p:cNvSpPr/>
          <p:nvPr/>
        </p:nvSpPr>
        <p:spPr>
          <a:xfrm>
            <a:off x="684855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47D62FC-75FD-5987-3060-9192F2D1CCE9}"/>
              </a:ext>
            </a:extLst>
          </p:cNvPr>
          <p:cNvSpPr/>
          <p:nvPr/>
        </p:nvSpPr>
        <p:spPr>
          <a:xfrm>
            <a:off x="102369" y="3569709"/>
            <a:ext cx="1080000" cy="57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已完成配送数量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89386E2-A04D-F26D-E8D7-E7BE978ED077}"/>
              </a:ext>
            </a:extLst>
          </p:cNvPr>
          <p:cNvSpPr/>
          <p:nvPr/>
        </p:nvSpPr>
        <p:spPr>
          <a:xfrm>
            <a:off x="102369" y="4181664"/>
            <a:ext cx="1074657" cy="5750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5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19</a:t>
            </a:r>
            <a:endParaRPr lang="zh-CN" altLang="en-US" sz="2800" dirty="0">
              <a:solidFill>
                <a:schemeClr val="accent5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标注: 下箭头 21">
            <a:extLst>
              <a:ext uri="{FF2B5EF4-FFF2-40B4-BE49-F238E27FC236}">
                <a16:creationId xmlns:a16="http://schemas.microsoft.com/office/drawing/2014/main" id="{6BD05567-E9C7-10A1-BD62-AE73D89D31D1}"/>
              </a:ext>
            </a:extLst>
          </p:cNvPr>
          <p:cNvSpPr/>
          <p:nvPr/>
        </p:nvSpPr>
        <p:spPr>
          <a:xfrm>
            <a:off x="10783862" y="1472507"/>
            <a:ext cx="1364302" cy="90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决定是否执行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8515AB-5B35-7E58-8D19-0C0C7AD419CB}"/>
              </a:ext>
            </a:extLst>
          </p:cNvPr>
          <p:cNvSpPr/>
          <p:nvPr/>
        </p:nvSpPr>
        <p:spPr>
          <a:xfrm>
            <a:off x="2357464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0004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A55D94-5FF5-961F-A133-B36D66DEEA64}"/>
              </a:ext>
            </a:extLst>
          </p:cNvPr>
          <p:cNvSpPr/>
          <p:nvPr/>
        </p:nvSpPr>
        <p:spPr>
          <a:xfrm>
            <a:off x="4609550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FA5FAA-D326-0A32-A695-EEBFC1DA3C0E}"/>
              </a:ext>
            </a:extLst>
          </p:cNvPr>
          <p:cNvSpPr/>
          <p:nvPr/>
        </p:nvSpPr>
        <p:spPr>
          <a:xfrm>
            <a:off x="348174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PS0004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670B6D-D86F-79AB-1ACA-9EE707D4BE06}"/>
              </a:ext>
            </a:extLst>
          </p:cNvPr>
          <p:cNvSpPr/>
          <p:nvPr/>
        </p:nvSpPr>
        <p:spPr>
          <a:xfrm>
            <a:off x="9112034" y="4801900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85BDFCD-AA0C-A553-79BE-13C7AB910BA5}"/>
              </a:ext>
            </a:extLst>
          </p:cNvPr>
          <p:cNvSpPr/>
          <p:nvPr/>
        </p:nvSpPr>
        <p:spPr>
          <a:xfrm>
            <a:off x="11382851" y="3644357"/>
            <a:ext cx="684000" cy="169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3FEEEC-9CE2-B44F-73FF-EE803F30C97E}"/>
              </a:ext>
            </a:extLst>
          </p:cNvPr>
          <p:cNvSpPr/>
          <p:nvPr/>
        </p:nvSpPr>
        <p:spPr>
          <a:xfrm>
            <a:off x="10229634" y="4801900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C6EBE5F-1B17-2B35-F418-245840B5D43F}"/>
              </a:ext>
            </a:extLst>
          </p:cNvPr>
          <p:cNvSpPr/>
          <p:nvPr/>
        </p:nvSpPr>
        <p:spPr>
          <a:xfrm>
            <a:off x="5733834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创建拣配行项目前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3D1E379-4BAB-3618-777F-242B0A2E84C0}"/>
              </a:ext>
            </a:extLst>
          </p:cNvPr>
          <p:cNvSpPr/>
          <p:nvPr/>
        </p:nvSpPr>
        <p:spPr>
          <a:xfrm>
            <a:off x="798239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01BADD0-3FE2-1B1D-C929-C15FE888B3B7}"/>
              </a:ext>
            </a:extLst>
          </p:cNvPr>
          <p:cNvSpPr/>
          <p:nvPr/>
        </p:nvSpPr>
        <p:spPr>
          <a:xfrm>
            <a:off x="11135501" y="4864729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DA3A552-1815-E14B-6681-29349326F34B}"/>
              </a:ext>
            </a:extLst>
          </p:cNvPr>
          <p:cNvSpPr/>
          <p:nvPr/>
        </p:nvSpPr>
        <p:spPr>
          <a:xfrm>
            <a:off x="685209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13BFCC8-5763-AD0C-778C-F00EAA9585ED}"/>
              </a:ext>
            </a:extLst>
          </p:cNvPr>
          <p:cNvSpPr/>
          <p:nvPr/>
        </p:nvSpPr>
        <p:spPr>
          <a:xfrm>
            <a:off x="53927" y="2307956"/>
            <a:ext cx="2299998" cy="1296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C33B81D-A92C-3B0B-3234-BCA4A6EB8654}"/>
              </a:ext>
            </a:extLst>
          </p:cNvPr>
          <p:cNvSpPr/>
          <p:nvPr/>
        </p:nvSpPr>
        <p:spPr>
          <a:xfrm>
            <a:off x="9058858" y="4138853"/>
            <a:ext cx="1160001" cy="1218097"/>
          </a:xfrm>
          <a:prstGeom prst="round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585D0D6-CCB1-6A97-657B-AABCC68A54BC}"/>
              </a:ext>
            </a:extLst>
          </p:cNvPr>
          <p:cNvSpPr/>
          <p:nvPr/>
        </p:nvSpPr>
        <p:spPr>
          <a:xfrm>
            <a:off x="4575443" y="4153028"/>
            <a:ext cx="1160001" cy="1218097"/>
          </a:xfrm>
          <a:prstGeom prst="round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2D44154F-48A0-F33F-1D3B-5220FCA5AA16}"/>
              </a:ext>
            </a:extLst>
          </p:cNvPr>
          <p:cNvSpPr/>
          <p:nvPr/>
        </p:nvSpPr>
        <p:spPr>
          <a:xfrm>
            <a:off x="5719881" y="4764553"/>
            <a:ext cx="1116000" cy="61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F627EFE6-3BF9-7FB3-9AF5-9DC6FC69F513}"/>
              </a:ext>
            </a:extLst>
          </p:cNvPr>
          <p:cNvSpPr/>
          <p:nvPr/>
        </p:nvSpPr>
        <p:spPr>
          <a:xfrm>
            <a:off x="5699727" y="3543963"/>
            <a:ext cx="1116000" cy="61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标注: 下箭头 80">
            <a:extLst>
              <a:ext uri="{FF2B5EF4-FFF2-40B4-BE49-F238E27FC236}">
                <a16:creationId xmlns:a16="http://schemas.microsoft.com/office/drawing/2014/main" id="{E22BB712-A098-00DD-7345-F1B2AAAA33D3}"/>
              </a:ext>
            </a:extLst>
          </p:cNvPr>
          <p:cNvSpPr/>
          <p:nvPr/>
        </p:nvSpPr>
        <p:spPr>
          <a:xfrm>
            <a:off x="8894810" y="1433515"/>
            <a:ext cx="1364302" cy="90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决定是否修改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DDDDB04-6453-04EC-27DE-ADEAC5053C61}"/>
              </a:ext>
            </a:extLst>
          </p:cNvPr>
          <p:cNvSpPr/>
          <p:nvPr/>
        </p:nvSpPr>
        <p:spPr>
          <a:xfrm>
            <a:off x="5084368" y="171972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</p:spTree>
    <p:extLst>
      <p:ext uri="{BB962C8B-B14F-4D97-AF65-F5344CB8AC3E}">
        <p14:creationId xmlns:p14="http://schemas.microsoft.com/office/powerpoint/2010/main" val="353304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1" grpId="0" animBg="1"/>
      <p:bldP spid="2" grpId="0" animBg="1"/>
      <p:bldP spid="75" grpId="0" animBg="1"/>
      <p:bldP spid="79" grpId="0" animBg="1"/>
      <p:bldP spid="8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B42A-AE8F-5962-997B-2B24BD94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92A87BB-7470-6AA6-36AD-93CC8D06ACAA}"/>
              </a:ext>
            </a:extLst>
          </p:cNvPr>
          <p:cNvSpPr/>
          <p:nvPr/>
        </p:nvSpPr>
        <p:spPr>
          <a:xfrm>
            <a:off x="1112418" y="834066"/>
            <a:ext cx="742398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四、码头库存短驳计划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68F07FF7-F760-CE11-E245-54216CF3CF08}"/>
              </a:ext>
            </a:extLst>
          </p:cNvPr>
          <p:cNvSpPr/>
          <p:nvPr/>
        </p:nvSpPr>
        <p:spPr>
          <a:xfrm>
            <a:off x="2097372" y="1554066"/>
            <a:ext cx="8888128" cy="3310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智慧物流园制定短驳进厂时间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预约进厂模式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方案一 智慧物流园触发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预约号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方案二 车队依短驳计划自行预约</a:t>
            </a: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484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2CBB-EA14-2394-CB53-FA480BE2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3019BBEA-38CF-968D-FA5B-1BB29877C14D}"/>
              </a:ext>
            </a:extLst>
          </p:cNvPr>
          <p:cNvSpPr/>
          <p:nvPr/>
        </p:nvSpPr>
        <p:spPr>
          <a:xfrm>
            <a:off x="211631" y="703381"/>
            <a:ext cx="5112119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   二    阶    段    输    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4D47E2D-22CB-B856-7548-7FC7027646DF}"/>
              </a:ext>
            </a:extLst>
          </p:cNvPr>
          <p:cNvSpPr/>
          <p:nvPr/>
        </p:nvSpPr>
        <p:spPr>
          <a:xfrm>
            <a:off x="59085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29D5129-546E-E89F-48B8-9EAF58E8A049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4AD3896-9466-0082-E849-0FB656B8FB23}"/>
              </a:ext>
            </a:extLst>
          </p:cNvPr>
          <p:cNvCxnSpPr>
            <a:cxnSpLocks/>
          </p:cNvCxnSpPr>
          <p:nvPr/>
        </p:nvCxnSpPr>
        <p:spPr>
          <a:xfrm flipH="1">
            <a:off x="55476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5B9F1C16-59A5-D32D-E70D-D966FA971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第三阶段 触发 拣配计划 与 短驳计划</a:t>
            </a:r>
          </a:p>
        </p:txBody>
      </p:sp>
      <p:sp>
        <p:nvSpPr>
          <p:cNvPr id="2" name="圆角矩形 139">
            <a:extLst>
              <a:ext uri="{FF2B5EF4-FFF2-40B4-BE49-F238E27FC236}">
                <a16:creationId xmlns:a16="http://schemas.microsoft.com/office/drawing/2014/main" id="{BC02C9F2-A289-7888-58A3-ADB6D740C465}"/>
              </a:ext>
            </a:extLst>
          </p:cNvPr>
          <p:cNvSpPr/>
          <p:nvPr/>
        </p:nvSpPr>
        <p:spPr>
          <a:xfrm>
            <a:off x="213063" y="1771325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配送工具装载限制维护</a:t>
            </a:r>
          </a:p>
        </p:txBody>
      </p: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7E258422-90E8-4D53-7C56-B56E7EBAB9D0}"/>
              </a:ext>
            </a:extLst>
          </p:cNvPr>
          <p:cNvSpPr/>
          <p:nvPr/>
        </p:nvSpPr>
        <p:spPr>
          <a:xfrm>
            <a:off x="141063" y="268111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配送工具及装载限制表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9A1B923-F3AE-0A82-A435-178D22269CA5}"/>
              </a:ext>
            </a:extLst>
          </p:cNvPr>
          <p:cNvCxnSpPr>
            <a:cxnSpLocks/>
          </p:cNvCxnSpPr>
          <p:nvPr/>
        </p:nvCxnSpPr>
        <p:spPr>
          <a:xfrm>
            <a:off x="861063" y="2347325"/>
            <a:ext cx="0" cy="4353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8C8D5BD2-F5D3-8034-3187-CE19F01B6041}"/>
              </a:ext>
            </a:extLst>
          </p:cNvPr>
          <p:cNvSpPr/>
          <p:nvPr/>
        </p:nvSpPr>
        <p:spPr>
          <a:xfrm>
            <a:off x="2247900" y="3155925"/>
            <a:ext cx="1092200" cy="1609051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拆解配送单</a:t>
            </a: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634018C9-BF3D-F2C7-6DC7-A75553B7A4EF}"/>
              </a:ext>
            </a:extLst>
          </p:cNvPr>
          <p:cNvSpPr/>
          <p:nvPr/>
        </p:nvSpPr>
        <p:spPr>
          <a:xfrm>
            <a:off x="141063" y="36004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6FEC870-0B12-AB37-1F26-04E884620D53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1581063" y="3960450"/>
            <a:ext cx="66683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2909BC5D-1AAC-11E8-F202-8D506D31237F}"/>
              </a:ext>
            </a:extLst>
          </p:cNvPr>
          <p:cNvCxnSpPr>
            <a:stCxn id="3" idx="3"/>
            <a:endCxn id="15" idx="1"/>
          </p:cNvCxnSpPr>
          <p:nvPr/>
        </p:nvCxnSpPr>
        <p:spPr>
          <a:xfrm>
            <a:off x="1581063" y="3041113"/>
            <a:ext cx="666837" cy="919338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6787E3E1-0758-DAD9-BC01-9704ED476843}"/>
              </a:ext>
            </a:extLst>
          </p:cNvPr>
          <p:cNvSpPr/>
          <p:nvPr/>
        </p:nvSpPr>
        <p:spPr>
          <a:xfrm>
            <a:off x="3767593" y="36004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明细表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2DFBDBD-0D95-B42A-CEBC-F5D3B12E569A}"/>
              </a:ext>
            </a:extLst>
          </p:cNvPr>
          <p:cNvCxnSpPr>
            <a:cxnSpLocks/>
            <a:stCxn id="15" idx="4"/>
            <a:endCxn id="30" idx="1"/>
          </p:cNvCxnSpPr>
          <p:nvPr/>
        </p:nvCxnSpPr>
        <p:spPr>
          <a:xfrm flipV="1">
            <a:off x="3340100" y="3960450"/>
            <a:ext cx="42749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流程图: 数据 5">
            <a:extLst>
              <a:ext uri="{FF2B5EF4-FFF2-40B4-BE49-F238E27FC236}">
                <a16:creationId xmlns:a16="http://schemas.microsoft.com/office/drawing/2014/main" id="{FF53E42F-3BCF-290B-5D56-B41645368281}"/>
              </a:ext>
            </a:extLst>
          </p:cNvPr>
          <p:cNvSpPr/>
          <p:nvPr/>
        </p:nvSpPr>
        <p:spPr>
          <a:xfrm>
            <a:off x="5905500" y="2222499"/>
            <a:ext cx="1728000" cy="720000"/>
          </a:xfrm>
          <a:prstGeom prst="flowChartInputOutpu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创建资材库拣配行项目</a:t>
            </a:r>
          </a:p>
        </p:txBody>
      </p:sp>
      <p:sp>
        <p:nvSpPr>
          <p:cNvPr id="7" name="流程图: 数据 6">
            <a:extLst>
              <a:ext uri="{FF2B5EF4-FFF2-40B4-BE49-F238E27FC236}">
                <a16:creationId xmlns:a16="http://schemas.microsoft.com/office/drawing/2014/main" id="{798391D1-9BCB-24F8-CB37-A599B0F70CB9}"/>
              </a:ext>
            </a:extLst>
          </p:cNvPr>
          <p:cNvSpPr/>
          <p:nvPr/>
        </p:nvSpPr>
        <p:spPr>
          <a:xfrm>
            <a:off x="5775664" y="3602382"/>
            <a:ext cx="1728000" cy="720000"/>
          </a:xfrm>
          <a:prstGeom prst="flowChartInputOutpu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创建码头短驳计划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653607C-B38D-402C-DD0D-9A66B797D35F}"/>
              </a:ext>
            </a:extLst>
          </p:cNvPr>
          <p:cNvCxnSpPr>
            <a:cxnSpLocks/>
            <a:stCxn id="30" idx="3"/>
            <a:endCxn id="6" idx="2"/>
          </p:cNvCxnSpPr>
          <p:nvPr/>
        </p:nvCxnSpPr>
        <p:spPr>
          <a:xfrm flipV="1">
            <a:off x="5207593" y="2582499"/>
            <a:ext cx="870707" cy="137795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677334E-6F02-8EE3-E648-AA1D79E1B161}"/>
              </a:ext>
            </a:extLst>
          </p:cNvPr>
          <p:cNvCxnSpPr>
            <a:cxnSpLocks/>
            <a:stCxn id="30" idx="3"/>
            <a:endCxn id="7" idx="2"/>
          </p:cNvCxnSpPr>
          <p:nvPr/>
        </p:nvCxnSpPr>
        <p:spPr>
          <a:xfrm>
            <a:off x="5207593" y="3960450"/>
            <a:ext cx="740871" cy="1932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流程图: 数据 22">
            <a:extLst>
              <a:ext uri="{FF2B5EF4-FFF2-40B4-BE49-F238E27FC236}">
                <a16:creationId xmlns:a16="http://schemas.microsoft.com/office/drawing/2014/main" id="{2708AB39-621D-EECA-6B82-C2D23B8C6C6D}"/>
              </a:ext>
            </a:extLst>
          </p:cNvPr>
          <p:cNvSpPr/>
          <p:nvPr/>
        </p:nvSpPr>
        <p:spPr>
          <a:xfrm>
            <a:off x="7387070" y="3602382"/>
            <a:ext cx="1728000" cy="720000"/>
          </a:xfrm>
          <a:prstGeom prst="flowChartInputOutp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短驳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计划传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车队预约</a:t>
            </a:r>
          </a:p>
        </p:txBody>
      </p:sp>
      <p:sp>
        <p:nvSpPr>
          <p:cNvPr id="26" name="圆角矩形 139">
            <a:extLst>
              <a:ext uri="{FF2B5EF4-FFF2-40B4-BE49-F238E27FC236}">
                <a16:creationId xmlns:a16="http://schemas.microsoft.com/office/drawing/2014/main" id="{3E14A3A5-772A-0494-1389-EC51A6290333}"/>
              </a:ext>
            </a:extLst>
          </p:cNvPr>
          <p:cNvSpPr/>
          <p:nvPr/>
        </p:nvSpPr>
        <p:spPr>
          <a:xfrm>
            <a:off x="7425270" y="4742937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短驳预约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19E3741-36E6-D646-2594-1294AFCF57C8}"/>
              </a:ext>
            </a:extLst>
          </p:cNvPr>
          <p:cNvCxnSpPr>
            <a:cxnSpLocks/>
            <a:stCxn id="23" idx="3"/>
            <a:endCxn id="26" idx="0"/>
          </p:cNvCxnSpPr>
          <p:nvPr/>
        </p:nvCxnSpPr>
        <p:spPr>
          <a:xfrm flipH="1">
            <a:off x="8073270" y="4322382"/>
            <a:ext cx="5000" cy="42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271A9612-74C0-2231-EC0C-E414AB99640D}"/>
              </a:ext>
            </a:extLst>
          </p:cNvPr>
          <p:cNvSpPr/>
          <p:nvPr/>
        </p:nvSpPr>
        <p:spPr>
          <a:xfrm>
            <a:off x="6882260" y="4506506"/>
            <a:ext cx="126000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配送货单号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DB56504-2088-2264-5BDD-F88329606267}"/>
              </a:ext>
            </a:extLst>
          </p:cNvPr>
          <p:cNvCxnSpPr>
            <a:cxnSpLocks/>
            <a:stCxn id="6" idx="5"/>
            <a:endCxn id="5" idx="1"/>
          </p:cNvCxnSpPr>
          <p:nvPr/>
        </p:nvCxnSpPr>
        <p:spPr>
          <a:xfrm>
            <a:off x="7460700" y="2582499"/>
            <a:ext cx="2676876" cy="1461605"/>
          </a:xfrm>
          <a:prstGeom prst="bentConnector3">
            <a:avLst>
              <a:gd name="adj1" fmla="val 73453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F77DC460-F8E1-3554-6781-37814CE35DC4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8721270" y="4044104"/>
            <a:ext cx="1416306" cy="9868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DB6F8EB7-A7BB-3F9B-EEEE-3D575EFBA02C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6050605" y="2709837"/>
            <a:ext cx="1811856" cy="4937881"/>
          </a:xfrm>
          <a:prstGeom prst="bentConnector2">
            <a:avLst/>
          </a:prstGeom>
          <a:ln w="571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F2B607FD-F2A9-8986-0E91-9C9BB8A39FC9}"/>
              </a:ext>
            </a:extLst>
          </p:cNvPr>
          <p:cNvSpPr/>
          <p:nvPr/>
        </p:nvSpPr>
        <p:spPr>
          <a:xfrm>
            <a:off x="5080000" y="5784663"/>
            <a:ext cx="4289070" cy="36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供应商预约号 关联 配送货单号 在第一阶段匹配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3678E035-C58C-1A58-B6CC-1E5F154014C2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8765117" y="4712247"/>
            <a:ext cx="2040602" cy="70431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圆角矩形 139">
            <a:extLst>
              <a:ext uri="{FF2B5EF4-FFF2-40B4-BE49-F238E27FC236}">
                <a16:creationId xmlns:a16="http://schemas.microsoft.com/office/drawing/2014/main" id="{0B234ED0-8885-F356-8414-2BA682F23037}"/>
              </a:ext>
            </a:extLst>
          </p:cNvPr>
          <p:cNvSpPr/>
          <p:nvPr/>
        </p:nvSpPr>
        <p:spPr>
          <a:xfrm>
            <a:off x="3821223" y="5730376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</a:t>
            </a: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9057F49E-9560-090D-E215-09073F4B320D}"/>
              </a:ext>
            </a:extLst>
          </p:cNvPr>
          <p:cNvSpPr/>
          <p:nvPr/>
        </p:nvSpPr>
        <p:spPr>
          <a:xfrm>
            <a:off x="10137576" y="368410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系统单据关联对照表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68ADCC42-F9C6-8964-0933-753B7776CD09}"/>
              </a:ext>
            </a:extLst>
          </p:cNvPr>
          <p:cNvSpPr/>
          <p:nvPr/>
        </p:nvSpPr>
        <p:spPr>
          <a:xfrm>
            <a:off x="10137576" y="5030937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仓储任务与配送单关联总表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A8E0CB6-B040-93CC-9EA5-61C90137C8C7}"/>
              </a:ext>
            </a:extLst>
          </p:cNvPr>
          <p:cNvCxnSpPr>
            <a:stCxn id="5" idx="2"/>
            <a:endCxn id="24" idx="0"/>
          </p:cNvCxnSpPr>
          <p:nvPr/>
        </p:nvCxnSpPr>
        <p:spPr>
          <a:xfrm>
            <a:off x="10857576" y="4356504"/>
            <a:ext cx="0" cy="6744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201203E7-EC42-DED8-EC84-540CF941343E}"/>
              </a:ext>
            </a:extLst>
          </p:cNvPr>
          <p:cNvSpPr/>
          <p:nvPr/>
        </p:nvSpPr>
        <p:spPr>
          <a:xfrm>
            <a:off x="5547640" y="3429000"/>
            <a:ext cx="3821430" cy="986833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56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6C9B-A65B-A475-899B-1C11C809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A9834FC-9D7F-6A16-43DC-BA3C93E7DF59}"/>
              </a:ext>
            </a:extLst>
          </p:cNvPr>
          <p:cNvSpPr/>
          <p:nvPr/>
        </p:nvSpPr>
        <p:spPr>
          <a:xfrm>
            <a:off x="3460949" y="1796523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规划供应商送货时间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03B3347-7E10-2BCF-567B-0728BDCF11F3}"/>
              </a:ext>
            </a:extLst>
          </p:cNvPr>
          <p:cNvSpPr/>
          <p:nvPr/>
        </p:nvSpPr>
        <p:spPr>
          <a:xfrm>
            <a:off x="3460949" y="2462001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规划码头短驳进厂时间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9BF8B52-5BF0-16B1-BACF-D2C747FFFF63}"/>
              </a:ext>
            </a:extLst>
          </p:cNvPr>
          <p:cNvSpPr/>
          <p:nvPr/>
        </p:nvSpPr>
        <p:spPr>
          <a:xfrm>
            <a:off x="3460949" y="3128172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AE32D33-CE09-23A2-79F1-B827E83C71BD}"/>
              </a:ext>
            </a:extLst>
          </p:cNvPr>
          <p:cNvSpPr/>
          <p:nvPr/>
        </p:nvSpPr>
        <p:spPr>
          <a:xfrm>
            <a:off x="315460" y="1796523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资材采购收货计划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083C280-E772-79DD-981A-5795BEEA3831}"/>
              </a:ext>
            </a:extLst>
          </p:cNvPr>
          <p:cNvSpPr/>
          <p:nvPr/>
        </p:nvSpPr>
        <p:spPr>
          <a:xfrm>
            <a:off x="315460" y="2462001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资材码头短驳计划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7E089F4-ABA4-6583-A564-C9581E4F0D0F}"/>
              </a:ext>
            </a:extLst>
          </p:cNvPr>
          <p:cNvSpPr/>
          <p:nvPr/>
        </p:nvSpPr>
        <p:spPr>
          <a:xfrm>
            <a:off x="315460" y="3128172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资材让售发货计划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12C338C-83D0-1B86-7856-35FF9614CB6A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>
            <a:off x="3159460" y="3416172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AC13860-DC43-182A-EBE9-726321B86303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3159460" y="2084523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D2512A2-7A40-973D-F6F9-40F2CB55B7E4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>
            <a:off x="3159460" y="2750001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79BC52-14F6-20DB-533F-F458CB8AF2A2}"/>
              </a:ext>
            </a:extLst>
          </p:cNvPr>
          <p:cNvSpPr/>
          <p:nvPr/>
        </p:nvSpPr>
        <p:spPr>
          <a:xfrm>
            <a:off x="3460949" y="3806860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F52418A-11BD-84B2-3187-DCA081A6723A}"/>
              </a:ext>
            </a:extLst>
          </p:cNvPr>
          <p:cNvSpPr/>
          <p:nvPr/>
        </p:nvSpPr>
        <p:spPr>
          <a:xfrm>
            <a:off x="315460" y="3806860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资材固废发货计划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A20C752-25F6-C05B-3D26-6233AFBA8564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3159460" y="4094860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图: 预定义过程 13">
            <a:extLst>
              <a:ext uri="{FF2B5EF4-FFF2-40B4-BE49-F238E27FC236}">
                <a16:creationId xmlns:a16="http://schemas.microsoft.com/office/drawing/2014/main" id="{E56EB09D-54EC-20BD-D4A6-24EBA3658767}"/>
              </a:ext>
            </a:extLst>
          </p:cNvPr>
          <p:cNvSpPr/>
          <p:nvPr/>
        </p:nvSpPr>
        <p:spPr>
          <a:xfrm>
            <a:off x="7568474" y="1832525"/>
            <a:ext cx="1584000" cy="2556000"/>
          </a:xfrm>
          <a:prstGeom prst="flowChartPredefined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通知外部供应商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D9642F-801F-083F-43ED-E5BC6097A99D}"/>
              </a:ext>
            </a:extLst>
          </p:cNvPr>
          <p:cNvSpPr/>
          <p:nvPr/>
        </p:nvSpPr>
        <p:spPr>
          <a:xfrm>
            <a:off x="101746" y="172496"/>
            <a:ext cx="9461354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协同外部联动</a:t>
            </a:r>
          </a:p>
        </p:txBody>
      </p:sp>
      <p:sp>
        <p:nvSpPr>
          <p:cNvPr id="16" name="流程图: 预定义过程 15">
            <a:extLst>
              <a:ext uri="{FF2B5EF4-FFF2-40B4-BE49-F238E27FC236}">
                <a16:creationId xmlns:a16="http://schemas.microsoft.com/office/drawing/2014/main" id="{E00C64D1-8BD6-3C1F-E1D9-9A644E3B8738}"/>
              </a:ext>
            </a:extLst>
          </p:cNvPr>
          <p:cNvSpPr/>
          <p:nvPr/>
        </p:nvSpPr>
        <p:spPr>
          <a:xfrm>
            <a:off x="9943879" y="1832525"/>
            <a:ext cx="1584000" cy="2556000"/>
          </a:xfrm>
          <a:prstGeom prst="flowChartPredefined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FD1E1D-63BA-ACE8-5AD9-68536B4CBFA7}"/>
              </a:ext>
            </a:extLst>
          </p:cNvPr>
          <p:cNvSpPr/>
          <p:nvPr/>
        </p:nvSpPr>
        <p:spPr>
          <a:xfrm>
            <a:off x="315460" y="4485548"/>
            <a:ext cx="2844000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。。。。。。。。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F5E43EE-D497-C039-3173-E37F465D327C}"/>
              </a:ext>
            </a:extLst>
          </p:cNvPr>
          <p:cNvCxnSpPr>
            <a:stCxn id="2" idx="3"/>
            <a:endCxn id="14" idx="1"/>
          </p:cNvCxnSpPr>
          <p:nvPr/>
        </p:nvCxnSpPr>
        <p:spPr>
          <a:xfrm>
            <a:off x="6880949" y="2084523"/>
            <a:ext cx="687525" cy="10260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7D7E25A-BE02-2004-9C3A-787B071D5F63}"/>
              </a:ext>
            </a:extLst>
          </p:cNvPr>
          <p:cNvCxnSpPr>
            <a:cxnSpLocks/>
          </p:cNvCxnSpPr>
          <p:nvPr/>
        </p:nvCxnSpPr>
        <p:spPr>
          <a:xfrm>
            <a:off x="9152474" y="3110525"/>
            <a:ext cx="79140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3CB9995-2A73-BF7A-0DF4-F985F448D4F8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6880949" y="2750001"/>
            <a:ext cx="687525" cy="3605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E2EF67E-06CC-FE8A-3ED9-2A205699A433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6880949" y="3110525"/>
            <a:ext cx="687525" cy="3056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D326BAE-BF35-4E45-995F-05A24864530E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6880949" y="3110525"/>
            <a:ext cx="687525" cy="9843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DE6D1316-0D05-9C52-0181-7588592D28D7}"/>
              </a:ext>
            </a:extLst>
          </p:cNvPr>
          <p:cNvSpPr/>
          <p:nvPr/>
        </p:nvSpPr>
        <p:spPr>
          <a:xfrm>
            <a:off x="912144" y="982641"/>
            <a:ext cx="11229293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伴随业务自动化推展，与外部第三方联系如何从线下改为线上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A579178-AFDA-240D-CBA7-A17782BFDA35}"/>
              </a:ext>
            </a:extLst>
          </p:cNvPr>
          <p:cNvSpPr/>
          <p:nvPr/>
        </p:nvSpPr>
        <p:spPr>
          <a:xfrm>
            <a:off x="292246" y="2372523"/>
            <a:ext cx="6660000" cy="72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894C1E4-500B-F1E4-A522-83D11CAD72F3}"/>
              </a:ext>
            </a:extLst>
          </p:cNvPr>
          <p:cNvSpPr/>
          <p:nvPr/>
        </p:nvSpPr>
        <p:spPr>
          <a:xfrm>
            <a:off x="509345" y="4876237"/>
            <a:ext cx="10331146" cy="14800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智慧园可以计算码头短驳进厂最慢时间，后续是进行方案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 自动创建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预约号，通知车队按时间执行 ？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 通知车队，车队再去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预约进厂 ？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其他场景需与外部联动者，可提出讨论。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18D46F-0B93-763E-0507-4B2C61E1EF40}"/>
              </a:ext>
            </a:extLst>
          </p:cNvPr>
          <p:cNvSpPr/>
          <p:nvPr/>
        </p:nvSpPr>
        <p:spPr>
          <a:xfrm>
            <a:off x="6262577" y="4625785"/>
            <a:ext cx="5878860" cy="159671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如果我们不对码头短驳计划进行任务拆解，物流园负责把 短驳计划提给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ATMS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；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车队再依据短驳计划预约进厂；</a:t>
            </a:r>
          </a:p>
        </p:txBody>
      </p:sp>
    </p:spTree>
    <p:extLst>
      <p:ext uri="{BB962C8B-B14F-4D97-AF65-F5344CB8AC3E}">
        <p14:creationId xmlns:p14="http://schemas.microsoft.com/office/powerpoint/2010/main" val="18290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CBE0-320F-7BA5-0B9B-C443CF24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6462986-E17B-BB1A-E338-CFC1499A441D}"/>
              </a:ext>
            </a:extLst>
          </p:cNvPr>
          <p:cNvSpPr/>
          <p:nvPr/>
        </p:nvSpPr>
        <p:spPr>
          <a:xfrm>
            <a:off x="508790" y="174839"/>
            <a:ext cx="742398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五、资材库拣配计划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D3D7EBC6-7941-0007-9E9C-26EA031AA7C7}"/>
              </a:ext>
            </a:extLst>
          </p:cNvPr>
          <p:cNvSpPr/>
          <p:nvPr/>
        </p:nvSpPr>
        <p:spPr>
          <a:xfrm>
            <a:off x="1105787" y="862940"/>
            <a:ext cx="9879714" cy="26989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按配载限制拆解多笔仓储任务，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创拣配单多行项目；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一个配送需求量视同一个仓储任务，开一个拣配单；    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615C6D-6B4A-6B74-2830-9112FE365722}"/>
              </a:ext>
            </a:extLst>
          </p:cNvPr>
          <p:cNvSpPr/>
          <p:nvPr/>
        </p:nvSpPr>
        <p:spPr>
          <a:xfrm>
            <a:off x="508790" y="3833632"/>
            <a:ext cx="4756297" cy="27750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假设有一个 化学品领料，开了 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 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吨， 配送车辆一次只能载运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吨；智慧物流园根据配送车辆限制，安排 如下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第一车次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 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吨；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第二车次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 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吨；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第三车次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 30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吨；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第四车次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 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 B 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吨。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D633A4A9-D824-5A8D-9017-F05C2ACDEE87}"/>
              </a:ext>
            </a:extLst>
          </p:cNvPr>
          <p:cNvSpPr/>
          <p:nvPr/>
        </p:nvSpPr>
        <p:spPr>
          <a:xfrm>
            <a:off x="5436781" y="4848447"/>
            <a:ext cx="1318438" cy="7851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A03E3E-4CCC-82E0-A3B1-630787378223}"/>
              </a:ext>
            </a:extLst>
          </p:cNvPr>
          <p:cNvSpPr/>
          <p:nvPr/>
        </p:nvSpPr>
        <p:spPr>
          <a:xfrm>
            <a:off x="7004885" y="3375835"/>
            <a:ext cx="4882315" cy="342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如果两个料号提在一个领料单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 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料号，行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 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生成拣配单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，生成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30+30+30+10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的拣配行；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生成拣配单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，生成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的拣配行；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这五个拣配行生成任务发送给司机，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20+10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的两条任务同时拼车。</a:t>
            </a:r>
          </a:p>
        </p:txBody>
      </p:sp>
    </p:spTree>
    <p:extLst>
      <p:ext uri="{BB962C8B-B14F-4D97-AF65-F5344CB8AC3E}">
        <p14:creationId xmlns:p14="http://schemas.microsoft.com/office/powerpoint/2010/main" val="1319848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DD30-B1F5-B66D-31E6-0D31C740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C708136B-5A38-BE11-3CD9-338B881500CD}"/>
              </a:ext>
            </a:extLst>
          </p:cNvPr>
          <p:cNvSpPr/>
          <p:nvPr/>
        </p:nvSpPr>
        <p:spPr>
          <a:xfrm>
            <a:off x="211631" y="703381"/>
            <a:ext cx="5112119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   二    阶    段    输    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F9252F5-82E6-155C-88F7-2A3B929DDE97}"/>
              </a:ext>
            </a:extLst>
          </p:cNvPr>
          <p:cNvSpPr/>
          <p:nvPr/>
        </p:nvSpPr>
        <p:spPr>
          <a:xfrm>
            <a:off x="59085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82B1BD1-57E2-58C9-89D5-106EB05F0734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E50A14D-6B10-FC8D-5FFC-D02034A95376}"/>
              </a:ext>
            </a:extLst>
          </p:cNvPr>
          <p:cNvCxnSpPr>
            <a:cxnSpLocks/>
          </p:cNvCxnSpPr>
          <p:nvPr/>
        </p:nvCxnSpPr>
        <p:spPr>
          <a:xfrm flipH="1">
            <a:off x="55476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BAF371C0-D880-C86D-0DFD-5F4A7E03D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第三阶段 触发 拣配计划 与 短驳计划</a:t>
            </a:r>
          </a:p>
        </p:txBody>
      </p:sp>
      <p:sp>
        <p:nvSpPr>
          <p:cNvPr id="2" name="圆角矩形 139">
            <a:extLst>
              <a:ext uri="{FF2B5EF4-FFF2-40B4-BE49-F238E27FC236}">
                <a16:creationId xmlns:a16="http://schemas.microsoft.com/office/drawing/2014/main" id="{07AA0E48-B756-4C91-0CCB-27F2C2782AA7}"/>
              </a:ext>
            </a:extLst>
          </p:cNvPr>
          <p:cNvSpPr/>
          <p:nvPr/>
        </p:nvSpPr>
        <p:spPr>
          <a:xfrm>
            <a:off x="213063" y="1771325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配送工具装载限制维护</a:t>
            </a:r>
          </a:p>
        </p:txBody>
      </p: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D3D2D8EA-3E65-FB36-2158-557196BAC3B1}"/>
              </a:ext>
            </a:extLst>
          </p:cNvPr>
          <p:cNvSpPr/>
          <p:nvPr/>
        </p:nvSpPr>
        <p:spPr>
          <a:xfrm>
            <a:off x="141063" y="268111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配送工具及装载限制表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96AFD12-8D73-926F-F577-18EB34D938CE}"/>
              </a:ext>
            </a:extLst>
          </p:cNvPr>
          <p:cNvCxnSpPr>
            <a:cxnSpLocks/>
          </p:cNvCxnSpPr>
          <p:nvPr/>
        </p:nvCxnSpPr>
        <p:spPr>
          <a:xfrm>
            <a:off x="861063" y="2347325"/>
            <a:ext cx="0" cy="4353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07B4A80D-3875-66BB-EBD9-A79D95A6D24E}"/>
              </a:ext>
            </a:extLst>
          </p:cNvPr>
          <p:cNvSpPr/>
          <p:nvPr/>
        </p:nvSpPr>
        <p:spPr>
          <a:xfrm>
            <a:off x="2247900" y="3155925"/>
            <a:ext cx="1092200" cy="1609051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拆解配送单</a:t>
            </a: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1AA8A03A-0266-EF6A-7833-DB7DF6AAB5FF}"/>
              </a:ext>
            </a:extLst>
          </p:cNvPr>
          <p:cNvSpPr/>
          <p:nvPr/>
        </p:nvSpPr>
        <p:spPr>
          <a:xfrm>
            <a:off x="141063" y="36004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7DD3DD-04D8-D649-8DC3-A33E47C7E06A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1581063" y="3960450"/>
            <a:ext cx="66683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E6B6131-2661-5483-D1EC-DD5096EE8714}"/>
              </a:ext>
            </a:extLst>
          </p:cNvPr>
          <p:cNvCxnSpPr>
            <a:stCxn id="3" idx="3"/>
            <a:endCxn id="15" idx="1"/>
          </p:cNvCxnSpPr>
          <p:nvPr/>
        </p:nvCxnSpPr>
        <p:spPr>
          <a:xfrm>
            <a:off x="1581063" y="3041113"/>
            <a:ext cx="666837" cy="919338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CCEEF6D5-A45C-E7A4-72ED-6B363DAC10D1}"/>
              </a:ext>
            </a:extLst>
          </p:cNvPr>
          <p:cNvSpPr/>
          <p:nvPr/>
        </p:nvSpPr>
        <p:spPr>
          <a:xfrm>
            <a:off x="3767593" y="36004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明细表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3334427-F996-C160-AA4F-427222F89B78}"/>
              </a:ext>
            </a:extLst>
          </p:cNvPr>
          <p:cNvCxnSpPr>
            <a:cxnSpLocks/>
            <a:stCxn id="15" idx="4"/>
            <a:endCxn id="30" idx="1"/>
          </p:cNvCxnSpPr>
          <p:nvPr/>
        </p:nvCxnSpPr>
        <p:spPr>
          <a:xfrm flipV="1">
            <a:off x="3340100" y="3960450"/>
            <a:ext cx="42749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流程图: 数据 5">
            <a:extLst>
              <a:ext uri="{FF2B5EF4-FFF2-40B4-BE49-F238E27FC236}">
                <a16:creationId xmlns:a16="http://schemas.microsoft.com/office/drawing/2014/main" id="{E449E458-7785-04F9-477E-D157CEF77420}"/>
              </a:ext>
            </a:extLst>
          </p:cNvPr>
          <p:cNvSpPr/>
          <p:nvPr/>
        </p:nvSpPr>
        <p:spPr>
          <a:xfrm>
            <a:off x="5905500" y="2222499"/>
            <a:ext cx="1728000" cy="720000"/>
          </a:xfrm>
          <a:prstGeom prst="flowChartInputOutpu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创建资材库拣配行项目</a:t>
            </a:r>
          </a:p>
        </p:txBody>
      </p:sp>
      <p:sp>
        <p:nvSpPr>
          <p:cNvPr id="7" name="流程图: 数据 6">
            <a:extLst>
              <a:ext uri="{FF2B5EF4-FFF2-40B4-BE49-F238E27FC236}">
                <a16:creationId xmlns:a16="http://schemas.microsoft.com/office/drawing/2014/main" id="{F8AFA09F-8F46-26B4-886D-A9C6D6955A10}"/>
              </a:ext>
            </a:extLst>
          </p:cNvPr>
          <p:cNvSpPr/>
          <p:nvPr/>
        </p:nvSpPr>
        <p:spPr>
          <a:xfrm>
            <a:off x="5775664" y="3602382"/>
            <a:ext cx="1728000" cy="720000"/>
          </a:xfrm>
          <a:prstGeom prst="flowChartInputOutpu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创建码头短驳计划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E82A8FC8-F54B-B82B-9AE1-3FDBD56A2A88}"/>
              </a:ext>
            </a:extLst>
          </p:cNvPr>
          <p:cNvCxnSpPr>
            <a:cxnSpLocks/>
            <a:stCxn id="30" idx="3"/>
            <a:endCxn id="6" idx="2"/>
          </p:cNvCxnSpPr>
          <p:nvPr/>
        </p:nvCxnSpPr>
        <p:spPr>
          <a:xfrm flipV="1">
            <a:off x="5207593" y="2582499"/>
            <a:ext cx="870707" cy="137795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7753DAE0-ED0E-D095-F852-ECFE77B6F4BA}"/>
              </a:ext>
            </a:extLst>
          </p:cNvPr>
          <p:cNvCxnSpPr>
            <a:cxnSpLocks/>
            <a:stCxn id="30" idx="3"/>
            <a:endCxn id="7" idx="2"/>
          </p:cNvCxnSpPr>
          <p:nvPr/>
        </p:nvCxnSpPr>
        <p:spPr>
          <a:xfrm>
            <a:off x="5207593" y="3960450"/>
            <a:ext cx="740871" cy="1932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流程图: 数据 22">
            <a:extLst>
              <a:ext uri="{FF2B5EF4-FFF2-40B4-BE49-F238E27FC236}">
                <a16:creationId xmlns:a16="http://schemas.microsoft.com/office/drawing/2014/main" id="{91409B74-7BEA-EF38-5D22-7159E0842851}"/>
              </a:ext>
            </a:extLst>
          </p:cNvPr>
          <p:cNvSpPr/>
          <p:nvPr/>
        </p:nvSpPr>
        <p:spPr>
          <a:xfrm>
            <a:off x="7387070" y="3602382"/>
            <a:ext cx="1728000" cy="720000"/>
          </a:xfrm>
          <a:prstGeom prst="flowChartInputOutp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短驳计划传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车队预约</a:t>
            </a:r>
          </a:p>
        </p:txBody>
      </p:sp>
      <p:sp>
        <p:nvSpPr>
          <p:cNvPr id="26" name="圆角矩形 139">
            <a:extLst>
              <a:ext uri="{FF2B5EF4-FFF2-40B4-BE49-F238E27FC236}">
                <a16:creationId xmlns:a16="http://schemas.microsoft.com/office/drawing/2014/main" id="{DF209007-0368-372A-FF79-BACDA6384ADE}"/>
              </a:ext>
            </a:extLst>
          </p:cNvPr>
          <p:cNvSpPr/>
          <p:nvPr/>
        </p:nvSpPr>
        <p:spPr>
          <a:xfrm>
            <a:off x="7425270" y="4742937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短驳预约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D15B903-5AA4-71AE-FCBA-B715D7EACED0}"/>
              </a:ext>
            </a:extLst>
          </p:cNvPr>
          <p:cNvCxnSpPr>
            <a:cxnSpLocks/>
            <a:stCxn id="23" idx="3"/>
            <a:endCxn id="26" idx="0"/>
          </p:cNvCxnSpPr>
          <p:nvPr/>
        </p:nvCxnSpPr>
        <p:spPr>
          <a:xfrm flipH="1">
            <a:off x="8073270" y="4322382"/>
            <a:ext cx="5000" cy="42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35002AD0-88CD-C966-211C-115F8A53EEA6}"/>
              </a:ext>
            </a:extLst>
          </p:cNvPr>
          <p:cNvSpPr/>
          <p:nvPr/>
        </p:nvSpPr>
        <p:spPr>
          <a:xfrm>
            <a:off x="6882260" y="4506506"/>
            <a:ext cx="126000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配送货单号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472F8240-E506-3315-B7E5-CB0BC3775C2C}"/>
              </a:ext>
            </a:extLst>
          </p:cNvPr>
          <p:cNvCxnSpPr>
            <a:cxnSpLocks/>
            <a:stCxn id="6" idx="5"/>
            <a:endCxn id="5" idx="1"/>
          </p:cNvCxnSpPr>
          <p:nvPr/>
        </p:nvCxnSpPr>
        <p:spPr>
          <a:xfrm>
            <a:off x="7460700" y="2582499"/>
            <a:ext cx="2676876" cy="1461605"/>
          </a:xfrm>
          <a:prstGeom prst="bentConnector3">
            <a:avLst>
              <a:gd name="adj1" fmla="val 73453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88CFE870-095A-A97E-F5B6-E102191859E4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8721270" y="4044104"/>
            <a:ext cx="1416306" cy="9868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DC48FA0C-3E0C-4F1E-FB3E-3597ED4C1243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6050605" y="2709837"/>
            <a:ext cx="1811856" cy="4937881"/>
          </a:xfrm>
          <a:prstGeom prst="bentConnector2">
            <a:avLst/>
          </a:prstGeom>
          <a:ln w="571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B6082A2-059B-671B-E020-A586480D0B27}"/>
              </a:ext>
            </a:extLst>
          </p:cNvPr>
          <p:cNvSpPr/>
          <p:nvPr/>
        </p:nvSpPr>
        <p:spPr>
          <a:xfrm>
            <a:off x="5080000" y="5784663"/>
            <a:ext cx="4289070" cy="36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供应商预约号 关联 配送货单号 在第一阶段匹配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C5B0FE32-2559-C566-8886-AE8F388C0E07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8765117" y="4712247"/>
            <a:ext cx="2040602" cy="70431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圆角矩形 139">
            <a:extLst>
              <a:ext uri="{FF2B5EF4-FFF2-40B4-BE49-F238E27FC236}">
                <a16:creationId xmlns:a16="http://schemas.microsoft.com/office/drawing/2014/main" id="{1AB22DBC-6860-2F22-E630-B0AAE7590405}"/>
              </a:ext>
            </a:extLst>
          </p:cNvPr>
          <p:cNvSpPr/>
          <p:nvPr/>
        </p:nvSpPr>
        <p:spPr>
          <a:xfrm>
            <a:off x="3821223" y="5730376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</a:t>
            </a: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77B968CF-6EE1-E493-6061-BDA643B9F23E}"/>
              </a:ext>
            </a:extLst>
          </p:cNvPr>
          <p:cNvSpPr/>
          <p:nvPr/>
        </p:nvSpPr>
        <p:spPr>
          <a:xfrm>
            <a:off x="10137576" y="368410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系统单据关联对照表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56A388FA-638B-66A8-6AA0-CD1F71BD1E1A}"/>
              </a:ext>
            </a:extLst>
          </p:cNvPr>
          <p:cNvSpPr/>
          <p:nvPr/>
        </p:nvSpPr>
        <p:spPr>
          <a:xfrm>
            <a:off x="10137576" y="5030937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仓储任务与配送单关联总表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112D4E8-D75C-C60F-7164-9DD9B454B38E}"/>
              </a:ext>
            </a:extLst>
          </p:cNvPr>
          <p:cNvCxnSpPr>
            <a:stCxn id="5" idx="2"/>
            <a:endCxn id="24" idx="0"/>
          </p:cNvCxnSpPr>
          <p:nvPr/>
        </p:nvCxnSpPr>
        <p:spPr>
          <a:xfrm>
            <a:off x="10857576" y="4356504"/>
            <a:ext cx="0" cy="6744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0FCAFF2-D7AF-2555-1800-66536EA9CFC2}"/>
              </a:ext>
            </a:extLst>
          </p:cNvPr>
          <p:cNvSpPr/>
          <p:nvPr/>
        </p:nvSpPr>
        <p:spPr>
          <a:xfrm>
            <a:off x="5547640" y="2099928"/>
            <a:ext cx="2299188" cy="986833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57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A301-AB9A-28AE-70A6-6F8D3F66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1D5CCE2-9883-688A-DE45-BB0C9C7E6B31}"/>
              </a:ext>
            </a:extLst>
          </p:cNvPr>
          <p:cNvSpPr/>
          <p:nvPr/>
        </p:nvSpPr>
        <p:spPr>
          <a:xfrm>
            <a:off x="26780" y="284479"/>
            <a:ext cx="576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六、其他讨论事项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BE5665D7-EEAB-084E-5C3E-F7055426E901}"/>
              </a:ext>
            </a:extLst>
          </p:cNvPr>
          <p:cNvSpPr/>
          <p:nvPr/>
        </p:nvSpPr>
        <p:spPr>
          <a:xfrm>
            <a:off x="1244600" y="955042"/>
            <a:ext cx="10947399" cy="52679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新增配送需求输入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决定叉车类型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包装方式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配送方式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自行领料、配送到厂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配送时段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早上、下午、晚上、整天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新增紧急叫料选项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送货进厂之库存可使用时间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60482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5B88-5F37-4711-67F7-9A0405E8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A1977A8-0A6C-33A8-544E-481F3BF8D6A6}"/>
              </a:ext>
            </a:extLst>
          </p:cNvPr>
          <p:cNvSpPr/>
          <p:nvPr/>
        </p:nvSpPr>
        <p:spPr>
          <a:xfrm>
            <a:off x="181979" y="144255"/>
            <a:ext cx="742398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新增线上配送需求输入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C8D7D35-4AA7-08B3-76E2-5C79D070E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747821"/>
              </p:ext>
            </p:extLst>
          </p:nvPr>
        </p:nvGraphicFramePr>
        <p:xfrm>
          <a:off x="296525" y="1053234"/>
          <a:ext cx="8940800" cy="1727200"/>
        </p:xfrm>
        <a:graphic>
          <a:graphicData uri="http://schemas.openxmlformats.org/drawingml/2006/table">
            <a:tbl>
              <a:tblPr/>
              <a:tblGrid>
                <a:gridCol w="127000">
                  <a:extLst>
                    <a:ext uri="{9D8B030D-6E8A-4147-A177-3AD203B41FA5}">
                      <a16:colId xmlns:a16="http://schemas.microsoft.com/office/drawing/2014/main" val="346830209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58619721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32574276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113303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66711093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1885093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5600110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60666051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62397342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140401266"/>
                    </a:ext>
                  </a:extLst>
                </a:gridCol>
                <a:gridCol w="127000">
                  <a:extLst>
                    <a:ext uri="{9D8B030D-6E8A-4147-A177-3AD203B41FA5}">
                      <a16:colId xmlns:a16="http://schemas.microsoft.com/office/drawing/2014/main" val="17945024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领用配送需求申请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0843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56965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开单部门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领料需求单号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开单人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发货方式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工厂代码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配送现场地点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指定收货批次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指定认证种类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53265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demand_dept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req_order_no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total_req_qty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issue_method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storage_loc_dest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material_no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batch_no_required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cert_type_required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54133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45946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生产一部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13000000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86063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760497"/>
                  </a:ext>
                </a:extLst>
              </a:tr>
            </a:tbl>
          </a:graphicData>
        </a:graphic>
      </p:graphicFrame>
      <p:sp>
        <p:nvSpPr>
          <p:cNvPr id="3" name="圆角矩形 25">
            <a:extLst>
              <a:ext uri="{FF2B5EF4-FFF2-40B4-BE49-F238E27FC236}">
                <a16:creationId xmlns:a16="http://schemas.microsoft.com/office/drawing/2014/main" id="{6AFA47B5-862E-47A5-BA05-B8B6EAF563AD}"/>
              </a:ext>
            </a:extLst>
          </p:cNvPr>
          <p:cNvSpPr/>
          <p:nvPr/>
        </p:nvSpPr>
        <p:spPr>
          <a:xfrm>
            <a:off x="8063314" y="1157687"/>
            <a:ext cx="933450" cy="28733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查询</a:t>
            </a:r>
            <a:r>
              <a:rPr lang="zh-CN" altLang="zh-CN" sz="14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条件</a:t>
            </a:r>
            <a:endParaRPr lang="zh-CN" altLang="en-US" sz="1400" b="1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BE61B91-A7F6-C070-C815-C30E16A38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317549"/>
              </p:ext>
            </p:extLst>
          </p:nvPr>
        </p:nvGraphicFramePr>
        <p:xfrm>
          <a:off x="296525" y="2969413"/>
          <a:ext cx="10399831" cy="1613219"/>
        </p:xfrm>
        <a:graphic>
          <a:graphicData uri="http://schemas.openxmlformats.org/drawingml/2006/table">
            <a:tbl>
              <a:tblPr/>
              <a:tblGrid>
                <a:gridCol w="1188552">
                  <a:extLst>
                    <a:ext uri="{9D8B030D-6E8A-4147-A177-3AD203B41FA5}">
                      <a16:colId xmlns:a16="http://schemas.microsoft.com/office/drawing/2014/main" val="3903147257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2158811346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2759627823"/>
                    </a:ext>
                  </a:extLst>
                </a:gridCol>
                <a:gridCol w="891415">
                  <a:extLst>
                    <a:ext uri="{9D8B030D-6E8A-4147-A177-3AD203B41FA5}">
                      <a16:colId xmlns:a16="http://schemas.microsoft.com/office/drawing/2014/main" val="2994564683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2168685640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3564096406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3318717952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1430393186"/>
                    </a:ext>
                  </a:extLst>
                </a:gridCol>
                <a:gridCol w="1188552">
                  <a:extLst>
                    <a:ext uri="{9D8B030D-6E8A-4147-A177-3AD203B41FA5}">
                      <a16:colId xmlns:a16="http://schemas.microsoft.com/office/drawing/2014/main" val="4050036833"/>
                    </a:ext>
                  </a:extLst>
                </a:gridCol>
              </a:tblGrid>
              <a:tr h="4875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配送现场地点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配送需求单号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配送需求日期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指定收货批次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指定认证种类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配送需求数量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配送时段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最后配送日期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断料成本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674313"/>
                  </a:ext>
                </a:extLst>
              </a:tr>
              <a:tr h="4005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storage_loc_dest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delivery_req_no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delivery_date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batch_no_required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cert_type_required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req_qty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delivery_time_slot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last_delivery_date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stockout_cost_per_day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704222"/>
                  </a:ext>
                </a:extLst>
              </a:tr>
              <a:tr h="3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系统自动生成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系统显示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2215"/>
                  </a:ext>
                </a:extLst>
              </a:tr>
              <a:tr h="3625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1411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5856C82-9B90-8666-5478-43D4B94F7E82}"/>
              </a:ext>
            </a:extLst>
          </p:cNvPr>
          <p:cNvSpPr/>
          <p:nvPr/>
        </p:nvSpPr>
        <p:spPr>
          <a:xfrm>
            <a:off x="8304027" y="2969414"/>
            <a:ext cx="1201479" cy="161321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046ECD-1DF0-7B21-1B08-7D0FE18823B3}"/>
              </a:ext>
            </a:extLst>
          </p:cNvPr>
          <p:cNvSpPr/>
          <p:nvPr/>
        </p:nvSpPr>
        <p:spPr>
          <a:xfrm>
            <a:off x="7113177" y="2969412"/>
            <a:ext cx="1201479" cy="161321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E94FB5-64E2-C954-B5B8-AC3F265DA408}"/>
              </a:ext>
            </a:extLst>
          </p:cNvPr>
          <p:cNvSpPr/>
          <p:nvPr/>
        </p:nvSpPr>
        <p:spPr>
          <a:xfrm>
            <a:off x="786809" y="5262189"/>
            <a:ext cx="11227981" cy="8617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457200" indent="-457200" defTabSz="914377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最后配送日期：作为配送需求单关闭使用，默认 配送需求日期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+1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天；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457200" indent="-457200" defTabSz="914377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配送时段：用户可以选择最佳配送时段，如果不选默认为早上配送。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51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F24F-72C4-79D2-8987-6BAED72C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0BEEBEC-B215-84A1-2B80-EBC79D35994C}"/>
              </a:ext>
            </a:extLst>
          </p:cNvPr>
          <p:cNvSpPr/>
          <p:nvPr/>
        </p:nvSpPr>
        <p:spPr>
          <a:xfrm>
            <a:off x="181979" y="144255"/>
            <a:ext cx="742398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决定叉车类型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物料组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5D2EB9-AD8B-8754-62A6-B03B1E7C21C2}"/>
              </a:ext>
            </a:extLst>
          </p:cNvPr>
          <p:cNvSpPr/>
          <p:nvPr/>
        </p:nvSpPr>
        <p:spPr>
          <a:xfrm>
            <a:off x="1350335" y="1371599"/>
            <a:ext cx="9218427" cy="41785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使用物料号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物料组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 叉车类型？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化学品：平叉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木浆：抱夹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……………………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147887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FC63-EFBA-65FA-AA36-3A2773CB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0B9053D-1811-7497-3B8B-D1D0EB7E4138}"/>
              </a:ext>
            </a:extLst>
          </p:cNvPr>
          <p:cNvSpPr/>
          <p:nvPr/>
        </p:nvSpPr>
        <p:spPr>
          <a:xfrm>
            <a:off x="181979" y="144254"/>
            <a:ext cx="7423984" cy="83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配送方式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–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自行领料、配送到厂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743418-83BA-DF87-F835-9CD67A3B9727}"/>
              </a:ext>
            </a:extLst>
          </p:cNvPr>
          <p:cNvSpPr/>
          <p:nvPr/>
        </p:nvSpPr>
        <p:spPr>
          <a:xfrm>
            <a:off x="1158948" y="1233377"/>
            <a:ext cx="10185992" cy="3848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用户选择  配送方式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配送方式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【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配送到厂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则由仓储部门配送到现场；此方式会触发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配送作业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配送方式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【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自行领料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自行领料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：资材先行下架，放资材暂存区（如智能柜）；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【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自行领料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：等用户到现场领料；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42A751-F021-80EE-8C7A-FB4AFA03CE96}"/>
              </a:ext>
            </a:extLst>
          </p:cNvPr>
          <p:cNvSpPr/>
          <p:nvPr/>
        </p:nvSpPr>
        <p:spPr>
          <a:xfrm>
            <a:off x="1280417" y="5337173"/>
            <a:ext cx="10185992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如各厂有搭配智能柜计划，此部分对接再另行开展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5474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3B4A-C6C2-6EE9-FD97-C2739F878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A0287AD-D45C-1C9C-6030-4F6C68B54094}"/>
              </a:ext>
            </a:extLst>
          </p:cNvPr>
          <p:cNvSpPr/>
          <p:nvPr/>
        </p:nvSpPr>
        <p:spPr>
          <a:xfrm>
            <a:off x="171103" y="22927"/>
            <a:ext cx="11921655" cy="80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资材业务简图 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智能交接模式  提高无人值守率</a:t>
            </a:r>
            <a:endParaRPr lang="zh-CN" altLang="en-US" sz="3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图片包含 建筑, 小, 大, 电脑&#10;&#10;AI 生成的内容可能不正确。">
            <a:extLst>
              <a:ext uri="{FF2B5EF4-FFF2-40B4-BE49-F238E27FC236}">
                <a16:creationId xmlns:a16="http://schemas.microsoft.com/office/drawing/2014/main" id="{2208A6EF-1E22-052B-9AF0-4ED16F89C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" y="1104900"/>
            <a:ext cx="5290700" cy="4320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A57D8A0-71D5-21FE-DB86-045B5E8A94BE}"/>
              </a:ext>
            </a:extLst>
          </p:cNvPr>
          <p:cNvSpPr/>
          <p:nvPr/>
        </p:nvSpPr>
        <p:spPr>
          <a:xfrm>
            <a:off x="1371601" y="5464991"/>
            <a:ext cx="2273300" cy="57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小件智能柜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2D258D-2628-3669-5D8B-66A1340480CF}"/>
              </a:ext>
            </a:extLst>
          </p:cNvPr>
          <p:cNvSpPr/>
          <p:nvPr/>
        </p:nvSpPr>
        <p:spPr>
          <a:xfrm>
            <a:off x="6769768" y="5464991"/>
            <a:ext cx="3192379" cy="79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大件划交接区域</a:t>
            </a:r>
          </a:p>
        </p:txBody>
      </p:sp>
      <p:pic>
        <p:nvPicPr>
          <p:cNvPr id="11" name="图片 10" descr="图片包含 室内, 运动, 建筑, 体育&#10;&#10;AI 生成的内容可能不正确。">
            <a:extLst>
              <a:ext uri="{FF2B5EF4-FFF2-40B4-BE49-F238E27FC236}">
                <a16:creationId xmlns:a16="http://schemas.microsoft.com/office/drawing/2014/main" id="{C1421E9E-01AE-EFD9-3930-7587CC141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768" y="1104900"/>
            <a:ext cx="6268932" cy="43200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5A4E71-A64D-B6A5-57BE-C69B9D30D46A}"/>
              </a:ext>
            </a:extLst>
          </p:cNvPr>
          <p:cNvGrpSpPr/>
          <p:nvPr/>
        </p:nvGrpSpPr>
        <p:grpSpPr>
          <a:xfrm>
            <a:off x="6238650" y="3645814"/>
            <a:ext cx="1080000" cy="1656000"/>
            <a:chOff x="6286500" y="3801947"/>
            <a:chExt cx="744537" cy="1254654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8A77A9E-FA92-5302-ABF9-DA9491C40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0" y="3801947"/>
              <a:ext cx="744537" cy="1254654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A3726DA-FB11-F4F9-F11A-C5EC2359938F}"/>
                </a:ext>
              </a:extLst>
            </p:cNvPr>
            <p:cNvSpPr/>
            <p:nvPr/>
          </p:nvSpPr>
          <p:spPr>
            <a:xfrm>
              <a:off x="6373276" y="3847208"/>
              <a:ext cx="599406" cy="3241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50840E1-4AED-17F4-182B-0FE938D453CA}"/>
              </a:ext>
            </a:extLst>
          </p:cNvPr>
          <p:cNvGrpSpPr/>
          <p:nvPr/>
        </p:nvGrpSpPr>
        <p:grpSpPr>
          <a:xfrm>
            <a:off x="8649663" y="3531139"/>
            <a:ext cx="1080000" cy="1656000"/>
            <a:chOff x="6286500" y="3801947"/>
            <a:chExt cx="744537" cy="1254654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A4D0E88-6CD8-7931-1B8F-C3207402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0" y="3801947"/>
              <a:ext cx="744537" cy="1254654"/>
            </a:xfrm>
            <a:prstGeom prst="rect">
              <a:avLst/>
            </a:prstGeom>
          </p:spPr>
        </p:pic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933A7F3F-F3AA-8BDA-76AC-8CB3C252581E}"/>
                </a:ext>
              </a:extLst>
            </p:cNvPr>
            <p:cNvSpPr/>
            <p:nvPr/>
          </p:nvSpPr>
          <p:spPr>
            <a:xfrm>
              <a:off x="6373276" y="3847208"/>
              <a:ext cx="599406" cy="3241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89B22B-40F0-3801-3F6F-4957D0C718CF}"/>
              </a:ext>
            </a:extLst>
          </p:cNvPr>
          <p:cNvGrpSpPr/>
          <p:nvPr/>
        </p:nvGrpSpPr>
        <p:grpSpPr>
          <a:xfrm>
            <a:off x="10520676" y="3029018"/>
            <a:ext cx="1080000" cy="1656000"/>
            <a:chOff x="6286500" y="3801947"/>
            <a:chExt cx="744537" cy="1254654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559AB55B-E052-DA0F-8D15-5045E2C82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0" y="3801947"/>
              <a:ext cx="744537" cy="1254654"/>
            </a:xfrm>
            <a:prstGeom prst="rect">
              <a:avLst/>
            </a:prstGeom>
          </p:spPr>
        </p:pic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852C3799-24B3-5EB0-61F2-B843B84DC6C1}"/>
                </a:ext>
              </a:extLst>
            </p:cNvPr>
            <p:cNvSpPr/>
            <p:nvPr/>
          </p:nvSpPr>
          <p:spPr>
            <a:xfrm>
              <a:off x="6373276" y="3847208"/>
              <a:ext cx="599406" cy="3241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9889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B2FA-7B19-FF64-14C9-0B5C44AE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AF50F64-E237-BE0B-2293-2BE736D9391C}"/>
              </a:ext>
            </a:extLst>
          </p:cNvPr>
          <p:cNvSpPr/>
          <p:nvPr/>
        </p:nvSpPr>
        <p:spPr>
          <a:xfrm>
            <a:off x="181979" y="144255"/>
            <a:ext cx="1149667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配送时段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早上、下午、晚上、整天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6C60561D-9027-BD4B-2A7C-303136776757}"/>
              </a:ext>
            </a:extLst>
          </p:cNvPr>
          <p:cNvSpPr/>
          <p:nvPr/>
        </p:nvSpPr>
        <p:spPr>
          <a:xfrm>
            <a:off x="1127054" y="1499187"/>
            <a:ext cx="36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58528209-5FB4-68CF-F01B-8C3128E1C7F3}"/>
              </a:ext>
            </a:extLst>
          </p:cNvPr>
          <p:cNvSpPr/>
          <p:nvPr/>
        </p:nvSpPr>
        <p:spPr>
          <a:xfrm>
            <a:off x="4795050" y="1499187"/>
            <a:ext cx="36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中班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50FF985D-6E57-63C6-A3BD-D96DFD27D492}"/>
              </a:ext>
            </a:extLst>
          </p:cNvPr>
          <p:cNvSpPr/>
          <p:nvPr/>
        </p:nvSpPr>
        <p:spPr>
          <a:xfrm>
            <a:off x="8470606" y="1499187"/>
            <a:ext cx="36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晚班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9DBC0FF-10E9-176A-577A-D03075EF44C0}"/>
              </a:ext>
            </a:extLst>
          </p:cNvPr>
          <p:cNvSpPr/>
          <p:nvPr/>
        </p:nvSpPr>
        <p:spPr>
          <a:xfrm>
            <a:off x="1127054" y="2597885"/>
            <a:ext cx="18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早上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0D3B89-ACC3-E59D-91D0-64386CF7254A}"/>
              </a:ext>
            </a:extLst>
          </p:cNvPr>
          <p:cNvSpPr/>
          <p:nvPr/>
        </p:nvSpPr>
        <p:spPr>
          <a:xfrm>
            <a:off x="2927054" y="3427225"/>
            <a:ext cx="18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12-16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9438A28-FBCD-01EC-A02B-58AFC7C621F6}"/>
              </a:ext>
            </a:extLst>
          </p:cNvPr>
          <p:cNvSpPr/>
          <p:nvPr/>
        </p:nvSpPr>
        <p:spPr>
          <a:xfrm>
            <a:off x="5695050" y="3948223"/>
            <a:ext cx="27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晚上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18-24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B06E02A-4568-2E1F-4D20-5E0EFD58FA59}"/>
              </a:ext>
            </a:extLst>
          </p:cNvPr>
          <p:cNvSpPr/>
          <p:nvPr/>
        </p:nvSpPr>
        <p:spPr>
          <a:xfrm>
            <a:off x="1127054" y="4828947"/>
            <a:ext cx="10800000" cy="8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整天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0-24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59FBF3F-D1B1-E88E-DCAD-1BC858629327}"/>
              </a:ext>
            </a:extLst>
          </p:cNvPr>
          <p:cNvSpPr/>
          <p:nvPr/>
        </p:nvSpPr>
        <p:spPr>
          <a:xfrm>
            <a:off x="95692" y="2509282"/>
            <a:ext cx="11974913" cy="328546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527815-462A-A1DF-839C-FEAE712B8448}"/>
              </a:ext>
            </a:extLst>
          </p:cNvPr>
          <p:cNvSpPr/>
          <p:nvPr/>
        </p:nvSpPr>
        <p:spPr>
          <a:xfrm>
            <a:off x="246935" y="2875569"/>
            <a:ext cx="728876" cy="2373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2408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4CCF-6634-FBD4-1C11-3A445B7B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93CB6F7-730C-A2F8-AC95-5944AC76DA47}"/>
              </a:ext>
            </a:extLst>
          </p:cNvPr>
          <p:cNvSpPr/>
          <p:nvPr/>
        </p:nvSpPr>
        <p:spPr>
          <a:xfrm>
            <a:off x="181979" y="144255"/>
            <a:ext cx="7423984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新增新增紧急叫料选项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F6555C1-4BC8-D0E1-1DE1-46051730A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752858"/>
              </p:ext>
            </p:extLst>
          </p:nvPr>
        </p:nvGraphicFramePr>
        <p:xfrm>
          <a:off x="335220" y="1210883"/>
          <a:ext cx="6607840" cy="5163079"/>
        </p:xfrm>
        <a:graphic>
          <a:graphicData uri="http://schemas.openxmlformats.org/drawingml/2006/table">
            <a:tbl>
              <a:tblPr/>
              <a:tblGrid>
                <a:gridCol w="153671">
                  <a:extLst>
                    <a:ext uri="{9D8B030D-6E8A-4147-A177-3AD203B41FA5}">
                      <a16:colId xmlns:a16="http://schemas.microsoft.com/office/drawing/2014/main" val="2974780450"/>
                    </a:ext>
                  </a:extLst>
                </a:gridCol>
                <a:gridCol w="1167897">
                  <a:extLst>
                    <a:ext uri="{9D8B030D-6E8A-4147-A177-3AD203B41FA5}">
                      <a16:colId xmlns:a16="http://schemas.microsoft.com/office/drawing/2014/main" val="1786534602"/>
                    </a:ext>
                  </a:extLst>
                </a:gridCol>
                <a:gridCol w="1167897">
                  <a:extLst>
                    <a:ext uri="{9D8B030D-6E8A-4147-A177-3AD203B41FA5}">
                      <a16:colId xmlns:a16="http://schemas.microsoft.com/office/drawing/2014/main" val="3165683444"/>
                    </a:ext>
                  </a:extLst>
                </a:gridCol>
                <a:gridCol w="1167897">
                  <a:extLst>
                    <a:ext uri="{9D8B030D-6E8A-4147-A177-3AD203B41FA5}">
                      <a16:colId xmlns:a16="http://schemas.microsoft.com/office/drawing/2014/main" val="2012469509"/>
                    </a:ext>
                  </a:extLst>
                </a:gridCol>
                <a:gridCol w="1167897">
                  <a:extLst>
                    <a:ext uri="{9D8B030D-6E8A-4147-A177-3AD203B41FA5}">
                      <a16:colId xmlns:a16="http://schemas.microsoft.com/office/drawing/2014/main" val="2614638082"/>
                    </a:ext>
                  </a:extLst>
                </a:gridCol>
                <a:gridCol w="1167897">
                  <a:extLst>
                    <a:ext uri="{9D8B030D-6E8A-4147-A177-3AD203B41FA5}">
                      <a16:colId xmlns:a16="http://schemas.microsoft.com/office/drawing/2014/main" val="4193911449"/>
                    </a:ext>
                  </a:extLst>
                </a:gridCol>
                <a:gridCol w="153671">
                  <a:extLst>
                    <a:ext uri="{9D8B030D-6E8A-4147-A177-3AD203B41FA5}">
                      <a16:colId xmlns:a16="http://schemas.microsoft.com/office/drawing/2014/main" val="565686871"/>
                    </a:ext>
                  </a:extLst>
                </a:gridCol>
                <a:gridCol w="153671">
                  <a:extLst>
                    <a:ext uri="{9D8B030D-6E8A-4147-A177-3AD203B41FA5}">
                      <a16:colId xmlns:a16="http://schemas.microsoft.com/office/drawing/2014/main" val="1610073546"/>
                    </a:ext>
                  </a:extLst>
                </a:gridCol>
                <a:gridCol w="153671">
                  <a:extLst>
                    <a:ext uri="{9D8B030D-6E8A-4147-A177-3AD203B41FA5}">
                      <a16:colId xmlns:a16="http://schemas.microsoft.com/office/drawing/2014/main" val="2529995178"/>
                    </a:ext>
                  </a:extLst>
                </a:gridCol>
                <a:gridCol w="153671">
                  <a:extLst>
                    <a:ext uri="{9D8B030D-6E8A-4147-A177-3AD203B41FA5}">
                      <a16:colId xmlns:a16="http://schemas.microsoft.com/office/drawing/2014/main" val="4181589135"/>
                    </a:ext>
                  </a:extLst>
                </a:gridCol>
              </a:tblGrid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紧急叫料维护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35069"/>
                  </a:ext>
                </a:extLst>
              </a:tr>
              <a:tr h="2327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07218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工厂代码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领料部门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物料号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紧急可供数量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是否紧急叫料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01721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04963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必填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452758"/>
                  </a:ext>
                </a:extLst>
              </a:tr>
              <a:tr h="2327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116416"/>
                  </a:ext>
                </a:extLst>
              </a:tr>
              <a:tr h="33978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一、表单类别：输入界面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9030"/>
                  </a:ext>
                </a:extLst>
              </a:tr>
              <a:tr h="339788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二、使用时机：当需求部门能接受 紧急叫料，则可维护紧急叫料讯息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95142"/>
                  </a:ext>
                </a:extLst>
              </a:tr>
              <a:tr h="339788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三、使用部门：仓储部门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043522"/>
                  </a:ext>
                </a:extLst>
              </a:tr>
              <a:tr h="339788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四、使用方法： 作为系统计算，当库存＜需求，触发紧急叫料计划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119585"/>
                  </a:ext>
                </a:extLst>
              </a:tr>
              <a:tr h="339788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五、栏位说明：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1565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、工厂代码：维护可紧急叫料工厂；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28977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、领料部门：维护可紧急叫料之部门；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361554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、物料号：维护可紧急叫料之物料号；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417805"/>
                  </a:ext>
                </a:extLst>
              </a:tr>
              <a:tr h="280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、紧急可供数量：维护紧急可供数量，默认 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999999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348646"/>
                  </a:ext>
                </a:extLst>
              </a:tr>
              <a:tr h="339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、是否紧急叫料：当不想紧急叫料就维护 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 想紧急叫料就维护 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4864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BD83B30-573B-BEC0-9C91-B05C73DD45D9}"/>
              </a:ext>
            </a:extLst>
          </p:cNvPr>
          <p:cNvSpPr/>
          <p:nvPr/>
        </p:nvSpPr>
        <p:spPr>
          <a:xfrm>
            <a:off x="6741042" y="864255"/>
            <a:ext cx="5115738" cy="250921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如果想要启动紧急叫料机制，则可维护此讯息；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  <a:p>
            <a:pPr marL="457200" indent="-457200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当 需求量 ＞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在库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+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在途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，则触发紧急叫料机制；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6153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5132-3688-F873-B066-A7CE5CD8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2CEE1CA-00F0-3841-76E8-C971E8A95672}"/>
              </a:ext>
            </a:extLst>
          </p:cNvPr>
          <p:cNvSpPr/>
          <p:nvPr/>
        </p:nvSpPr>
        <p:spPr>
          <a:xfrm>
            <a:off x="181979" y="144254"/>
            <a:ext cx="11865642" cy="1555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06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送货进厂之库存可使用时间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</a:t>
            </a:r>
          </a:p>
          <a:p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预计进厂时间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迟到时间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卸货时间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检验时间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6CF97D2-4ACA-23E5-9B9A-E729F47BE961}"/>
              </a:ext>
            </a:extLst>
          </p:cNvPr>
          <p:cNvCxnSpPr>
            <a:cxnSpLocks/>
          </p:cNvCxnSpPr>
          <p:nvPr/>
        </p:nvCxnSpPr>
        <p:spPr>
          <a:xfrm>
            <a:off x="417094" y="3221196"/>
            <a:ext cx="11357811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A797F4C-0679-BD9A-3DD4-CFB33EE03482}"/>
              </a:ext>
            </a:extLst>
          </p:cNvPr>
          <p:cNvSpPr/>
          <p:nvPr/>
        </p:nvSpPr>
        <p:spPr>
          <a:xfrm>
            <a:off x="1106906" y="2683786"/>
            <a:ext cx="256673" cy="10748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BA9B88-15B7-35A4-1799-332F65BC8907}"/>
              </a:ext>
            </a:extLst>
          </p:cNvPr>
          <p:cNvSpPr/>
          <p:nvPr/>
        </p:nvSpPr>
        <p:spPr>
          <a:xfrm>
            <a:off x="206905" y="1578949"/>
            <a:ext cx="2071073" cy="786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预计进厂时间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3061D913-09BD-3037-5582-A3D964912149}"/>
              </a:ext>
            </a:extLst>
          </p:cNvPr>
          <p:cNvSpPr/>
          <p:nvPr/>
        </p:nvSpPr>
        <p:spPr>
          <a:xfrm>
            <a:off x="1467856" y="2683786"/>
            <a:ext cx="1828800" cy="107482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迟到时间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EFA1910-2683-39C9-045C-C4FF85688E7B}"/>
              </a:ext>
            </a:extLst>
          </p:cNvPr>
          <p:cNvSpPr/>
          <p:nvPr/>
        </p:nvSpPr>
        <p:spPr>
          <a:xfrm>
            <a:off x="3298299" y="2683786"/>
            <a:ext cx="1828800" cy="107482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卸货时间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4E72D27-2859-5490-010F-C239EC8D0337}"/>
              </a:ext>
            </a:extLst>
          </p:cNvPr>
          <p:cNvSpPr/>
          <p:nvPr/>
        </p:nvSpPr>
        <p:spPr>
          <a:xfrm>
            <a:off x="5151163" y="2683786"/>
            <a:ext cx="1828800" cy="107482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检验时间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7F30E2-1D1C-115D-B48E-AD54DCB4C118}"/>
              </a:ext>
            </a:extLst>
          </p:cNvPr>
          <p:cNvSpPr/>
          <p:nvPr/>
        </p:nvSpPr>
        <p:spPr>
          <a:xfrm>
            <a:off x="7020069" y="2683786"/>
            <a:ext cx="256673" cy="10748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B92B7A-EC31-A5E8-F149-B4D97487CF78}"/>
              </a:ext>
            </a:extLst>
          </p:cNvPr>
          <p:cNvSpPr/>
          <p:nvPr/>
        </p:nvSpPr>
        <p:spPr>
          <a:xfrm>
            <a:off x="6169014" y="1578949"/>
            <a:ext cx="2071073" cy="786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库存可用时间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221BAF5-4E03-106E-2D9B-4912AF1D04D8}"/>
              </a:ext>
            </a:extLst>
          </p:cNvPr>
          <p:cNvGrpSpPr/>
          <p:nvPr/>
        </p:nvGrpSpPr>
        <p:grpSpPr>
          <a:xfrm>
            <a:off x="9240253" y="2165424"/>
            <a:ext cx="396000" cy="1054769"/>
            <a:chOff x="9240253" y="2374231"/>
            <a:chExt cx="396000" cy="1054769"/>
          </a:xfrm>
        </p:grpSpPr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5A1B2766-D130-0790-C74C-320070B356C8}"/>
                </a:ext>
              </a:extLst>
            </p:cNvPr>
            <p:cNvSpPr/>
            <p:nvPr/>
          </p:nvSpPr>
          <p:spPr>
            <a:xfrm rot="5400000">
              <a:off x="9240253" y="2374231"/>
              <a:ext cx="396000" cy="396000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15E5810-B1EC-1F55-F979-4B7980BEE5DE}"/>
                </a:ext>
              </a:extLst>
            </p:cNvPr>
            <p:cNvCxnSpPr>
              <a:stCxn id="11" idx="2"/>
            </p:cNvCxnSpPr>
            <p:nvPr/>
          </p:nvCxnSpPr>
          <p:spPr>
            <a:xfrm>
              <a:off x="9240253" y="2374231"/>
              <a:ext cx="0" cy="105476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4A1BED18-E6E1-0869-3F74-E88C7B3A7757}"/>
              </a:ext>
            </a:extLst>
          </p:cNvPr>
          <p:cNvSpPr/>
          <p:nvPr/>
        </p:nvSpPr>
        <p:spPr>
          <a:xfrm>
            <a:off x="8490287" y="1578949"/>
            <a:ext cx="2071073" cy="786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需求时间</a:t>
            </a:r>
          </a:p>
        </p:txBody>
      </p:sp>
      <p:sp>
        <p:nvSpPr>
          <p:cNvPr id="17" name="标注: 线形 16">
            <a:extLst>
              <a:ext uri="{FF2B5EF4-FFF2-40B4-BE49-F238E27FC236}">
                <a16:creationId xmlns:a16="http://schemas.microsoft.com/office/drawing/2014/main" id="{74AEB05E-A0C3-9A79-B91C-7ACDA926FCBE}"/>
              </a:ext>
            </a:extLst>
          </p:cNvPr>
          <p:cNvSpPr/>
          <p:nvPr/>
        </p:nvSpPr>
        <p:spPr>
          <a:xfrm>
            <a:off x="838199" y="4135765"/>
            <a:ext cx="2340000" cy="1440000"/>
          </a:xfrm>
          <a:prstGeom prst="borderCallout1">
            <a:avLst>
              <a:gd name="adj1" fmla="val 1769"/>
              <a:gd name="adj2" fmla="val 36431"/>
              <a:gd name="adj3" fmla="val -46725"/>
              <a:gd name="adj4" fmla="val 5730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供应商准时率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依准时率 制定不同 延迟时间；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初期设定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小时；</a:t>
            </a:r>
          </a:p>
        </p:txBody>
      </p:sp>
      <p:sp>
        <p:nvSpPr>
          <p:cNvPr id="18" name="标注: 线形 17">
            <a:extLst>
              <a:ext uri="{FF2B5EF4-FFF2-40B4-BE49-F238E27FC236}">
                <a16:creationId xmlns:a16="http://schemas.microsoft.com/office/drawing/2014/main" id="{E3B7BE1A-9299-714D-D82E-25FAFBD4ED37}"/>
              </a:ext>
            </a:extLst>
          </p:cNvPr>
          <p:cNvSpPr/>
          <p:nvPr/>
        </p:nvSpPr>
        <p:spPr>
          <a:xfrm>
            <a:off x="3570861" y="4135765"/>
            <a:ext cx="2340000" cy="1440000"/>
          </a:xfrm>
          <a:prstGeom prst="borderCallout1">
            <a:avLst>
              <a:gd name="adj1" fmla="val 1769"/>
              <a:gd name="adj2" fmla="val 36431"/>
              <a:gd name="adj3" fmla="val -52057"/>
              <a:gd name="adj4" fmla="val 23069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初期统一设定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后续依不同物料实际作业时间计算；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标注: 线形 18">
            <a:extLst>
              <a:ext uri="{FF2B5EF4-FFF2-40B4-BE49-F238E27FC236}">
                <a16:creationId xmlns:a16="http://schemas.microsoft.com/office/drawing/2014/main" id="{B1EF756B-6096-F29C-87E1-1DB7C7C3CA26}"/>
              </a:ext>
            </a:extLst>
          </p:cNvPr>
          <p:cNvSpPr/>
          <p:nvPr/>
        </p:nvSpPr>
        <p:spPr>
          <a:xfrm>
            <a:off x="6174361" y="4135765"/>
            <a:ext cx="2340000" cy="1440000"/>
          </a:xfrm>
          <a:prstGeom prst="borderCallout1">
            <a:avLst>
              <a:gd name="adj1" fmla="val 1769"/>
              <a:gd name="adj2" fmla="val 36431"/>
              <a:gd name="adj3" fmla="val -45658"/>
              <a:gd name="adj4" fmla="val 1234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初期统一设定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QM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有相关数据，则依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备品要另外配置否？</a:t>
            </a: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07F0E45A-1DF8-2CEC-CB01-07C8F18BD94C}"/>
              </a:ext>
            </a:extLst>
          </p:cNvPr>
          <p:cNvSpPr/>
          <p:nvPr/>
        </p:nvSpPr>
        <p:spPr>
          <a:xfrm rot="5400000">
            <a:off x="4307026" y="2264917"/>
            <a:ext cx="742599" cy="7378997"/>
          </a:xfrm>
          <a:prstGeom prst="rightBrace">
            <a:avLst>
              <a:gd name="adj1" fmla="val 1433"/>
              <a:gd name="adj2" fmla="val 507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3711C2-82DE-828C-AA4E-2FEA1568634D}"/>
              </a:ext>
            </a:extLst>
          </p:cNvPr>
          <p:cNvSpPr/>
          <p:nvPr/>
        </p:nvSpPr>
        <p:spPr>
          <a:xfrm>
            <a:off x="3758505" y="5452424"/>
            <a:ext cx="1859578" cy="527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颗粒度拆分 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84177B6-083A-7303-5687-B3983AE92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861" y="4922492"/>
            <a:ext cx="2782103" cy="1786268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38C64B2-2FBF-12CD-FE9F-17FC79EDB561}"/>
              </a:ext>
            </a:extLst>
          </p:cNvPr>
          <p:cNvSpPr/>
          <p:nvPr/>
        </p:nvSpPr>
        <p:spPr>
          <a:xfrm>
            <a:off x="5297471" y="6226468"/>
            <a:ext cx="2753539" cy="527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要分物料号设定吗？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A75B912-F18F-BB01-7A1D-CCF77D77DFEF}"/>
              </a:ext>
            </a:extLst>
          </p:cNvPr>
          <p:cNvSpPr/>
          <p:nvPr/>
        </p:nvSpPr>
        <p:spPr>
          <a:xfrm>
            <a:off x="698503" y="6181030"/>
            <a:ext cx="2872358" cy="527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要细到不同供应商？ </a:t>
            </a:r>
          </a:p>
        </p:txBody>
      </p:sp>
    </p:spTree>
    <p:extLst>
      <p:ext uri="{BB962C8B-B14F-4D97-AF65-F5344CB8AC3E}">
        <p14:creationId xmlns:p14="http://schemas.microsoft.com/office/powerpoint/2010/main" val="2017820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13130</TotalTime>
  <Words>5955</Words>
  <Application>Microsoft Office PowerPoint</Application>
  <PresentationFormat>宽屏</PresentationFormat>
  <Paragraphs>1436</Paragraphs>
  <Slides>36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等线</vt:lpstr>
      <vt:lpstr>等线 Light</vt:lpstr>
      <vt:lpstr>宋体</vt:lpstr>
      <vt:lpstr>微软雅黑</vt:lpstr>
      <vt:lpstr>微软雅黑</vt:lpstr>
      <vt:lpstr>Aptos Black</vt:lpstr>
      <vt:lpstr>Arial</vt:lpstr>
      <vt:lpstr>Arial Black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01 资材业务简图 – 采购收货、码头转储、部门领用 前段业务</vt:lpstr>
      <vt:lpstr>02 资材业务简图 – 采购收货、码头转储、部门领用  后段业务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第一阶段决定配送货源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第二阶段  拆解配送单  合并仓储任务</vt:lpstr>
      <vt:lpstr>PowerPoint 演示文稿</vt:lpstr>
      <vt:lpstr>PowerPoint 演示文稿</vt:lpstr>
      <vt:lpstr>PowerPoint 演示文稿</vt:lpstr>
      <vt:lpstr>PowerPoint 演示文稿</vt:lpstr>
      <vt:lpstr>第三阶段 触发 拣配计划 与 短驳计划</vt:lpstr>
      <vt:lpstr>PowerPoint 演示文稿</vt:lpstr>
      <vt:lpstr>PowerPoint 演示文稿</vt:lpstr>
      <vt:lpstr>第三阶段 触发 拣配计划 与 短驳计划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Guangxiong</dc:creator>
  <cp:lastModifiedBy>Zheng Guangxiong</cp:lastModifiedBy>
  <cp:revision>267</cp:revision>
  <dcterms:created xsi:type="dcterms:W3CDTF">2026-02-10T00:07:17Z</dcterms:created>
  <dcterms:modified xsi:type="dcterms:W3CDTF">2026-03-17T00:42:34Z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_IPGFID">
    <vt:lpwstr>[DocID]=3639ADD1-7A72-4364-B055-95DCD2BC5377</vt:lpwstr>
  </op:property>
  <op:property fmtid="{D5CDD505-2E9C-101B-9397-08002B2CF9AE}" pid="3" name="_IPGFLOW_P-71F2_E-0_CV-88520CEC_CN-EE015C4A">
    <vt:lpwstr>DPFPMK|3|50|1|0</vt:lpwstr>
  </op:property>
  <op:property fmtid="{D5CDD505-2E9C-101B-9397-08002B2CF9AE}" pid="4" name="_IPGFLOW_P-71F2_E-1_FP-1_SP-1_CV-91ECA7C9_CN-A0D857DF">
    <vt:lpwstr>7pcIkYpFUTfoCClDCbAAM3J2WB5jHwovE0GAL8LG5ocwLdxRayAGfFNkGEEufARVJAHUd1u3IfZHeo7bC46bcMOEDE1SdWQQ/Jmw/Lzzj80N68VDFTEMUDckl+4B9s1qplVqvKgucUlmgx4nK7G+jFELmi0WoKqCz0L3UoXAOzKaw0yrF5kWo8rkC+WlIIo3wryPLyLW1RIwOJB+8YLeZ2BajNfp/umFmDPKDZxYLqGeWRgN+K+kcF8xmSgBlAE</vt:lpwstr>
  </op:property>
  <op:property fmtid="{D5CDD505-2E9C-101B-9397-08002B2CF9AE}" pid="5" name="_IPGFLOW_P-71F2_E-1_FP-1_SP-2_CV-A3B36A04_CN-CDD8AA25">
    <vt:lpwstr>D</vt:lpwstr>
  </op:property>
  <op:property fmtid="{D5CDD505-2E9C-101B-9397-08002B2CF9AE}" pid="6" name="_IPGFLOW_P-71F2_E-0_FP-1_CV-7761BE89_CN-1FF814EF">
    <vt:lpwstr>DPSPMK|3|256|2|0</vt:lpwstr>
  </op:property>
</op:Properties>
</file>